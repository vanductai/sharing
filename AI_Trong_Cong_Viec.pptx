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9A7"/>
          </a:solidFill>
          <a:ln w="12700">
            <a:solidFill>
              <a:srgbClr val="00C9A7"/>
            </a:solidFill>
            <a:prstDash val="solid"/>
          </a:ln>
        </p:spPr>
      </p:sp>
      <p:sp>
        <p:nvSpPr>
          <p:cNvPr id="3" name="Text 1"/>
          <p:cNvSpPr/>
          <p:nvPr/>
        </p:nvSpPr>
        <p:spPr>
          <a:xfrm>
            <a:off x="457200" y="777240"/>
            <a:ext cx="8229600" cy="822960"/>
          </a:xfrm>
          <a:prstGeom prst="rect">
            <a:avLst/>
          </a:prstGeom>
          <a:noFill/>
          <a:ln/>
        </p:spPr>
        <p:txBody>
          <a:bodyPr wrap="square" lIns="0" tIns="0" rIns="0" bIns="0" rtlCol="0" anchor="ctr"/>
          <a:lstStyle/>
          <a:p>
            <a:pPr algn="l" indent="0" marL="0">
              <a:buNone/>
            </a:pPr>
            <a:r>
              <a:rPr lang="en-US" sz="5800" b="1" dirty="0">
                <a:solidFill>
                  <a:srgbClr val="00C9A7"/>
                </a:solidFill>
                <a:latin typeface="Arial Black" pitchFamily="34" charset="0"/>
                <a:ea typeface="Arial Black" pitchFamily="34" charset="-122"/>
                <a:cs typeface="Arial Black" pitchFamily="34" charset="-120"/>
              </a:rPr>
              <a:t>AI TRONG</a:t>
            </a:r>
            <a:endParaRPr lang="en-US" sz="5800" dirty="0"/>
          </a:p>
        </p:txBody>
      </p:sp>
      <p:sp>
        <p:nvSpPr>
          <p:cNvPr id="4" name="Text 2"/>
          <p:cNvSpPr/>
          <p:nvPr/>
        </p:nvSpPr>
        <p:spPr>
          <a:xfrm>
            <a:off x="457200" y="1508760"/>
            <a:ext cx="8229600" cy="822960"/>
          </a:xfrm>
          <a:prstGeom prst="rect">
            <a:avLst/>
          </a:prstGeom>
          <a:noFill/>
          <a:ln/>
        </p:spPr>
        <p:txBody>
          <a:bodyPr wrap="square" lIns="0" tIns="0" rIns="0" bIns="0" rtlCol="0" anchor="ctr"/>
          <a:lstStyle/>
          <a:p>
            <a:pPr algn="l" indent="0" marL="0">
              <a:buNone/>
            </a:pPr>
            <a:r>
              <a:rPr lang="en-US" sz="5800" b="1" dirty="0">
                <a:solidFill>
                  <a:srgbClr val="FFFFFF"/>
                </a:solidFill>
                <a:latin typeface="Arial Black" pitchFamily="34" charset="0"/>
                <a:ea typeface="Arial Black" pitchFamily="34" charset="-122"/>
                <a:cs typeface="Arial Black" pitchFamily="34" charset="-120"/>
              </a:rPr>
              <a:t>CÔNG VIỆC</a:t>
            </a:r>
            <a:endParaRPr lang="en-US" sz="5800" dirty="0"/>
          </a:p>
        </p:txBody>
      </p:sp>
      <p:sp>
        <p:nvSpPr>
          <p:cNvPr id="5" name="Text 3"/>
          <p:cNvSpPr/>
          <p:nvPr/>
        </p:nvSpPr>
        <p:spPr>
          <a:xfrm>
            <a:off x="457200" y="2514600"/>
            <a:ext cx="7315200" cy="411480"/>
          </a:xfrm>
          <a:prstGeom prst="rect">
            <a:avLst/>
          </a:prstGeom>
          <a:noFill/>
          <a:ln/>
        </p:spPr>
        <p:txBody>
          <a:bodyPr wrap="square" lIns="0" tIns="0" rIns="0" bIns="0" rtlCol="0" anchor="ctr"/>
          <a:lstStyle/>
          <a:p>
            <a:pPr algn="l" indent="0" marL="0">
              <a:buNone/>
            </a:pPr>
            <a:r>
              <a:rPr lang="en-US" sz="2000" dirty="0">
                <a:solidFill>
                  <a:srgbClr val="A8BFCF"/>
                </a:solidFill>
                <a:latin typeface="Calibri" pitchFamily="34" charset="0"/>
                <a:ea typeface="Calibri" pitchFamily="34" charset="-122"/>
                <a:cs typeface="Calibri" pitchFamily="34" charset="-120"/>
              </a:rPr>
              <a:t>Hướng dẫn thực chiến cho Team Quản lý</a:t>
            </a:r>
            <a:endParaRPr lang="en-US" sz="2000" dirty="0"/>
          </a:p>
        </p:txBody>
      </p:sp>
      <p:sp>
        <p:nvSpPr>
          <p:cNvPr id="6" name="Shape 4"/>
          <p:cNvSpPr/>
          <p:nvPr/>
        </p:nvSpPr>
        <p:spPr>
          <a:xfrm>
            <a:off x="457200" y="3063240"/>
            <a:ext cx="2926080" cy="365760"/>
          </a:xfrm>
          <a:prstGeom prst="rect">
            <a:avLst/>
          </a:prstGeom>
          <a:solidFill>
            <a:srgbClr val="00C9A7">
              <a:alpha val="18000"/>
            </a:srgbClr>
          </a:solidFill>
          <a:ln w="12700">
            <a:solidFill>
              <a:srgbClr val="00C9A7"/>
            </a:solidFill>
            <a:prstDash val="solid"/>
          </a:ln>
        </p:spPr>
      </p:sp>
      <p:sp>
        <p:nvSpPr>
          <p:cNvPr id="7" name="Text 5"/>
          <p:cNvSpPr/>
          <p:nvPr/>
        </p:nvSpPr>
        <p:spPr>
          <a:xfrm>
            <a:off x="457200" y="3063240"/>
            <a:ext cx="2926080" cy="365760"/>
          </a:xfrm>
          <a:prstGeom prst="rect">
            <a:avLst/>
          </a:prstGeom>
          <a:noFill/>
          <a:ln/>
        </p:spPr>
        <p:txBody>
          <a:bodyPr wrap="square" rtlCol="0" anchor="ctr"/>
          <a:lstStyle/>
          <a:p>
            <a:pPr algn="ctr" indent="0" marL="0">
              <a:buNone/>
            </a:pPr>
            <a:r>
              <a:rPr lang="en-US" sz="1300" dirty="0">
                <a:solidFill>
                  <a:srgbClr val="00C9A7"/>
                </a:solidFill>
              </a:rPr>
              <a:t>Ky nguyen Agentic AI  •  2026</a:t>
            </a:r>
            <a:endParaRPr lang="en-US" sz="1300" dirty="0"/>
          </a:p>
        </p:txBody>
      </p:sp>
      <p:sp>
        <p:nvSpPr>
          <p:cNvPr id="8" name="Shape 6"/>
          <p:cNvSpPr/>
          <p:nvPr/>
        </p:nvSpPr>
        <p:spPr>
          <a:xfrm>
            <a:off x="457200" y="3703320"/>
            <a:ext cx="1874520" cy="475488"/>
          </a:xfrm>
          <a:prstGeom prst="rect">
            <a:avLst/>
          </a:prstGeom>
          <a:solidFill>
            <a:srgbClr val="10A37F"/>
          </a:solidFill>
          <a:ln w="12700">
            <a:solidFill>
              <a:srgbClr val="10A37F"/>
            </a:solidFill>
            <a:prstDash val="solid"/>
          </a:ln>
        </p:spPr>
      </p:sp>
      <p:sp>
        <p:nvSpPr>
          <p:cNvPr id="9" name="Text 7"/>
          <p:cNvSpPr/>
          <p:nvPr/>
        </p:nvSpPr>
        <p:spPr>
          <a:xfrm>
            <a:off x="457200" y="3703320"/>
            <a:ext cx="1874520" cy="475488"/>
          </a:xfrm>
          <a:prstGeom prst="rect">
            <a:avLst/>
          </a:prstGeom>
          <a:noFill/>
          <a:ln/>
        </p:spPr>
        <p:txBody>
          <a:bodyPr wrap="square" rtlCol="0" anchor="ctr"/>
          <a:lstStyle/>
          <a:p>
            <a:pPr algn="ctr" indent="0" marL="0">
              <a:buNone/>
            </a:pPr>
            <a:r>
              <a:rPr lang="en-US" sz="1600" b="1" dirty="0">
                <a:solidFill>
                  <a:srgbClr val="FFFFFF"/>
                </a:solidFill>
              </a:rPr>
              <a:t>OpenAI</a:t>
            </a:r>
            <a:endParaRPr lang="en-US" sz="1600" dirty="0"/>
          </a:p>
        </p:txBody>
      </p:sp>
      <p:sp>
        <p:nvSpPr>
          <p:cNvPr id="10" name="Shape 8"/>
          <p:cNvSpPr/>
          <p:nvPr/>
        </p:nvSpPr>
        <p:spPr>
          <a:xfrm>
            <a:off x="2560320" y="3703320"/>
            <a:ext cx="1874520" cy="475488"/>
          </a:xfrm>
          <a:prstGeom prst="rect">
            <a:avLst/>
          </a:prstGeom>
          <a:solidFill>
            <a:srgbClr val="1A73E8"/>
          </a:solidFill>
          <a:ln w="12700">
            <a:solidFill>
              <a:srgbClr val="1A73E8"/>
            </a:solidFill>
            <a:prstDash val="solid"/>
          </a:ln>
        </p:spPr>
      </p:sp>
      <p:sp>
        <p:nvSpPr>
          <p:cNvPr id="11" name="Text 9"/>
          <p:cNvSpPr/>
          <p:nvPr/>
        </p:nvSpPr>
        <p:spPr>
          <a:xfrm>
            <a:off x="2560320" y="3703320"/>
            <a:ext cx="1874520" cy="475488"/>
          </a:xfrm>
          <a:prstGeom prst="rect">
            <a:avLst/>
          </a:prstGeom>
          <a:noFill/>
          <a:ln/>
        </p:spPr>
        <p:txBody>
          <a:bodyPr wrap="square" rtlCol="0" anchor="ctr"/>
          <a:lstStyle/>
          <a:p>
            <a:pPr algn="ctr" indent="0" marL="0">
              <a:buNone/>
            </a:pPr>
            <a:r>
              <a:rPr lang="en-US" sz="1600" b="1" dirty="0">
                <a:solidFill>
                  <a:srgbClr val="FFFFFF"/>
                </a:solidFill>
              </a:rPr>
              <a:t>Google</a:t>
            </a:r>
            <a:endParaRPr lang="en-US" sz="1600" dirty="0"/>
          </a:p>
        </p:txBody>
      </p:sp>
      <p:sp>
        <p:nvSpPr>
          <p:cNvPr id="12" name="Shape 10"/>
          <p:cNvSpPr/>
          <p:nvPr/>
        </p:nvSpPr>
        <p:spPr>
          <a:xfrm>
            <a:off x="4663440" y="3703320"/>
            <a:ext cx="1874520" cy="475488"/>
          </a:xfrm>
          <a:prstGeom prst="rect">
            <a:avLst/>
          </a:prstGeom>
          <a:solidFill>
            <a:srgbClr val="CF4500"/>
          </a:solidFill>
          <a:ln w="12700">
            <a:solidFill>
              <a:srgbClr val="CF4500"/>
            </a:solidFill>
            <a:prstDash val="solid"/>
          </a:ln>
        </p:spPr>
      </p:sp>
      <p:sp>
        <p:nvSpPr>
          <p:cNvPr id="13" name="Text 11"/>
          <p:cNvSpPr/>
          <p:nvPr/>
        </p:nvSpPr>
        <p:spPr>
          <a:xfrm>
            <a:off x="4663440" y="3703320"/>
            <a:ext cx="1874520" cy="475488"/>
          </a:xfrm>
          <a:prstGeom prst="rect">
            <a:avLst/>
          </a:prstGeom>
          <a:noFill/>
          <a:ln/>
        </p:spPr>
        <p:txBody>
          <a:bodyPr wrap="square" rtlCol="0" anchor="ctr"/>
          <a:lstStyle/>
          <a:p>
            <a:pPr algn="ctr" indent="0" marL="0">
              <a:buNone/>
            </a:pPr>
            <a:r>
              <a:rPr lang="en-US" sz="1600" b="1" dirty="0">
                <a:solidFill>
                  <a:srgbClr val="FFFFFF"/>
                </a:solidFill>
              </a:rPr>
              <a:t>Anthropic</a:t>
            </a:r>
            <a:endParaRPr lang="en-US" sz="1600" dirty="0"/>
          </a:p>
        </p:txBody>
      </p:sp>
      <p:sp>
        <p:nvSpPr>
          <p:cNvPr id="14" name="Shape 12"/>
          <p:cNvSpPr/>
          <p:nvPr/>
        </p:nvSpPr>
        <p:spPr>
          <a:xfrm>
            <a:off x="0" y="4828032"/>
            <a:ext cx="9144000" cy="315468"/>
          </a:xfrm>
          <a:prstGeom prst="rect">
            <a:avLst/>
          </a:prstGeom>
          <a:solidFill>
            <a:srgbClr val="1A3050"/>
          </a:solidFill>
          <a:ln w="12700">
            <a:solidFill>
              <a:srgbClr val="1A3050"/>
            </a:solidFill>
            <a:prstDash val="solid"/>
          </a:ln>
        </p:spPr>
      </p:sp>
      <p:sp>
        <p:nvSpPr>
          <p:cNvPr id="15" name="Text 13"/>
          <p:cNvSpPr/>
          <p:nvPr/>
        </p:nvSpPr>
        <p:spPr>
          <a:xfrm>
            <a:off x="457200" y="4828032"/>
            <a:ext cx="8229600" cy="315468"/>
          </a:xfrm>
          <a:prstGeom prst="rect">
            <a:avLst/>
          </a:prstGeom>
          <a:noFill/>
          <a:ln/>
        </p:spPr>
        <p:txBody>
          <a:bodyPr wrap="square" lIns="0" tIns="0" rIns="0" bIns="0" rtlCol="0" anchor="ctr"/>
          <a:lstStyle/>
          <a:p>
            <a:pPr algn="l" indent="0" marL="0">
              <a:buNone/>
            </a:pPr>
            <a:r>
              <a:rPr lang="en-US" sz="1100" dirty="0">
                <a:solidFill>
                  <a:srgbClr val="5A7A9A"/>
                </a:solidFill>
              </a:rPr>
              <a:t>Internal Sharing Session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A1628"/>
          </a:solidFill>
          <a:ln w="12700">
            <a:solidFill>
              <a:srgbClr val="0A1628"/>
            </a:solidFill>
            <a:prstDash val="solid"/>
          </a:ln>
        </p:spPr>
      </p:sp>
      <p:sp>
        <p:nvSpPr>
          <p:cNvPr id="3" name="Text 1"/>
          <p:cNvSpPr/>
          <p:nvPr/>
        </p:nvSpPr>
        <p:spPr>
          <a:xfrm>
            <a:off x="457200" y="0"/>
            <a:ext cx="5486400" cy="713232"/>
          </a:xfrm>
          <a:prstGeom prst="rect">
            <a:avLst/>
          </a:prstGeom>
          <a:noFill/>
          <a:ln/>
        </p:spPr>
        <p:txBody>
          <a:bodyPr wrap="square" lIns="0" tIns="0" rIns="0" bIns="0" rtlCol="0" anchor="ctr"/>
          <a:lstStyle/>
          <a:p>
            <a:pPr algn="l" indent="0" marL="0">
              <a:buNone/>
            </a:pPr>
            <a:r>
              <a:rPr lang="en-US" sz="2200" b="1" dirty="0">
                <a:solidFill>
                  <a:srgbClr val="FFFFFF"/>
                </a:solidFill>
              </a:rPr>
              <a:t>CHUONG TRINH 30 PHUT</a:t>
            </a:r>
            <a:endParaRPr lang="en-US" sz="2200" dirty="0"/>
          </a:p>
        </p:txBody>
      </p:sp>
      <p:sp>
        <p:nvSpPr>
          <p:cNvPr id="4" name="Text 2"/>
          <p:cNvSpPr/>
          <p:nvPr/>
        </p:nvSpPr>
        <p:spPr>
          <a:xfrm>
            <a:off x="5943600" y="0"/>
            <a:ext cx="2743200" cy="713232"/>
          </a:xfrm>
          <a:prstGeom prst="rect">
            <a:avLst/>
          </a:prstGeom>
          <a:noFill/>
          <a:ln/>
        </p:spPr>
        <p:txBody>
          <a:bodyPr wrap="square" lIns="0" tIns="0" rIns="0" bIns="0" rtlCol="0" anchor="ctr"/>
          <a:lstStyle/>
          <a:p>
            <a:pPr algn="r" indent="0" marL="0">
              <a:buNone/>
            </a:pPr>
            <a:r>
              <a:rPr lang="en-US" sz="1400" dirty="0">
                <a:solidFill>
                  <a:srgbClr val="00C9A7"/>
                </a:solidFill>
              </a:rPr>
              <a:t>Timeline chi tiet</a:t>
            </a:r>
            <a:endParaRPr lang="en-US" sz="1400" dirty="0"/>
          </a:p>
        </p:txBody>
      </p:sp>
      <p:sp>
        <p:nvSpPr>
          <p:cNvPr id="5" name="Shape 3"/>
          <p:cNvSpPr/>
          <p:nvPr/>
        </p:nvSpPr>
        <p:spPr>
          <a:xfrm>
            <a:off x="320040" y="896112"/>
            <a:ext cx="8503920" cy="804672"/>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6" name="Shape 4"/>
          <p:cNvSpPr/>
          <p:nvPr/>
        </p:nvSpPr>
        <p:spPr>
          <a:xfrm>
            <a:off x="320040" y="896112"/>
            <a:ext cx="91440" cy="804672"/>
          </a:xfrm>
          <a:prstGeom prst="rect">
            <a:avLst/>
          </a:prstGeom>
          <a:solidFill>
            <a:srgbClr val="00C9A7"/>
          </a:solidFill>
          <a:ln w="12700">
            <a:solidFill>
              <a:srgbClr val="00C9A7"/>
            </a:solidFill>
            <a:prstDash val="solid"/>
          </a:ln>
        </p:spPr>
      </p:sp>
      <p:sp>
        <p:nvSpPr>
          <p:cNvPr id="7" name="Shape 5"/>
          <p:cNvSpPr/>
          <p:nvPr/>
        </p:nvSpPr>
        <p:spPr>
          <a:xfrm>
            <a:off x="502920" y="1051560"/>
            <a:ext cx="713232" cy="475488"/>
          </a:xfrm>
          <a:prstGeom prst="rect">
            <a:avLst/>
          </a:prstGeom>
          <a:solidFill>
            <a:srgbClr val="00C9A7">
              <a:alpha val="88000"/>
            </a:srgbClr>
          </a:solidFill>
          <a:ln w="12700">
            <a:solidFill>
              <a:srgbClr val="00C9A7"/>
            </a:solidFill>
            <a:prstDash val="solid"/>
          </a:ln>
        </p:spPr>
      </p:sp>
      <p:sp>
        <p:nvSpPr>
          <p:cNvPr id="8" name="Text 6"/>
          <p:cNvSpPr/>
          <p:nvPr/>
        </p:nvSpPr>
        <p:spPr>
          <a:xfrm>
            <a:off x="502920" y="1051560"/>
            <a:ext cx="713232" cy="475488"/>
          </a:xfrm>
          <a:prstGeom prst="rect">
            <a:avLst/>
          </a:prstGeom>
          <a:noFill/>
          <a:ln/>
        </p:spPr>
        <p:txBody>
          <a:bodyPr wrap="square" rtlCol="0" anchor="ctr"/>
          <a:lstStyle/>
          <a:p>
            <a:pPr algn="ctr" indent="0" marL="0">
              <a:buNone/>
            </a:pPr>
            <a:r>
              <a:rPr lang="en-US" sz="2000" b="1" dirty="0">
                <a:solidFill>
                  <a:srgbClr val="00C9A7"/>
                </a:solidFill>
              </a:rPr>
              <a:t>5'</a:t>
            </a:r>
            <a:endParaRPr lang="en-US" sz="2000" dirty="0"/>
          </a:p>
        </p:txBody>
      </p:sp>
      <p:sp>
        <p:nvSpPr>
          <p:cNvPr id="9" name="Text 7"/>
          <p:cNvSpPr/>
          <p:nvPr/>
        </p:nvSpPr>
        <p:spPr>
          <a:xfrm>
            <a:off x="1353312" y="987552"/>
            <a:ext cx="7223760" cy="347472"/>
          </a:xfrm>
          <a:prstGeom prst="rect">
            <a:avLst/>
          </a:prstGeom>
          <a:noFill/>
          <a:ln/>
        </p:spPr>
        <p:txBody>
          <a:bodyPr wrap="square" lIns="0" tIns="0" rIns="0" bIns="0" rtlCol="0" anchor="ctr"/>
          <a:lstStyle/>
          <a:p>
            <a:pPr algn="l" indent="0" marL="0">
              <a:buNone/>
            </a:pPr>
            <a:r>
              <a:rPr lang="en-US" sz="1600" b="1" dirty="0">
                <a:solidFill>
                  <a:srgbClr val="1E293B"/>
                </a:solidFill>
                <a:latin typeface="Calibri" pitchFamily="34" charset="0"/>
                <a:ea typeface="Calibri" pitchFamily="34" charset="-122"/>
                <a:cs typeface="Calibri" pitchFamily="34" charset="-120"/>
              </a:rPr>
              <a:t>Tu Duy Dung Ve AI (Mindset)</a:t>
            </a:r>
            <a:endParaRPr lang="en-US" sz="1600" dirty="0"/>
          </a:p>
        </p:txBody>
      </p:sp>
      <p:sp>
        <p:nvSpPr>
          <p:cNvPr id="10" name="Text 8"/>
          <p:cNvSpPr/>
          <p:nvPr/>
        </p:nvSpPr>
        <p:spPr>
          <a:xfrm>
            <a:off x="1353312" y="1335024"/>
            <a:ext cx="7223760" cy="27432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Xoa bo noi so bi thay the — AI la Cong su, khong phai doi thu</a:t>
            </a:r>
            <a:endParaRPr lang="en-US" sz="1200" dirty="0"/>
          </a:p>
        </p:txBody>
      </p:sp>
      <p:sp>
        <p:nvSpPr>
          <p:cNvPr id="11" name="Shape 9"/>
          <p:cNvSpPr/>
          <p:nvPr/>
        </p:nvSpPr>
        <p:spPr>
          <a:xfrm>
            <a:off x="320040" y="1901952"/>
            <a:ext cx="8503920" cy="804672"/>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2" name="Shape 10"/>
          <p:cNvSpPr/>
          <p:nvPr/>
        </p:nvSpPr>
        <p:spPr>
          <a:xfrm>
            <a:off x="320040" y="1901952"/>
            <a:ext cx="91440" cy="804672"/>
          </a:xfrm>
          <a:prstGeom prst="rect">
            <a:avLst/>
          </a:prstGeom>
          <a:solidFill>
            <a:srgbClr val="1A73E8"/>
          </a:solidFill>
          <a:ln w="12700">
            <a:solidFill>
              <a:srgbClr val="1A73E8"/>
            </a:solidFill>
            <a:prstDash val="solid"/>
          </a:ln>
        </p:spPr>
      </p:sp>
      <p:sp>
        <p:nvSpPr>
          <p:cNvPr id="13" name="Shape 11"/>
          <p:cNvSpPr/>
          <p:nvPr/>
        </p:nvSpPr>
        <p:spPr>
          <a:xfrm>
            <a:off x="502920" y="2057400"/>
            <a:ext cx="713232" cy="475488"/>
          </a:xfrm>
          <a:prstGeom prst="rect">
            <a:avLst/>
          </a:prstGeom>
          <a:solidFill>
            <a:srgbClr val="1A73E8">
              <a:alpha val="88000"/>
            </a:srgbClr>
          </a:solidFill>
          <a:ln w="12700">
            <a:solidFill>
              <a:srgbClr val="1A73E8"/>
            </a:solidFill>
            <a:prstDash val="solid"/>
          </a:ln>
        </p:spPr>
      </p:sp>
      <p:sp>
        <p:nvSpPr>
          <p:cNvPr id="14" name="Text 12"/>
          <p:cNvSpPr/>
          <p:nvPr/>
        </p:nvSpPr>
        <p:spPr>
          <a:xfrm>
            <a:off x="502920" y="2057400"/>
            <a:ext cx="713232" cy="475488"/>
          </a:xfrm>
          <a:prstGeom prst="rect">
            <a:avLst/>
          </a:prstGeom>
          <a:noFill/>
          <a:ln/>
        </p:spPr>
        <p:txBody>
          <a:bodyPr wrap="square" rtlCol="0" anchor="ctr"/>
          <a:lstStyle/>
          <a:p>
            <a:pPr algn="ctr" indent="0" marL="0">
              <a:buNone/>
            </a:pPr>
            <a:r>
              <a:rPr lang="en-US" sz="2000" b="1" dirty="0">
                <a:solidFill>
                  <a:srgbClr val="1A73E8"/>
                </a:solidFill>
              </a:rPr>
              <a:t>15'</a:t>
            </a:r>
            <a:endParaRPr lang="en-US" sz="2000" dirty="0"/>
          </a:p>
        </p:txBody>
      </p:sp>
      <p:sp>
        <p:nvSpPr>
          <p:cNvPr id="15" name="Text 13"/>
          <p:cNvSpPr/>
          <p:nvPr/>
        </p:nvSpPr>
        <p:spPr>
          <a:xfrm>
            <a:off x="1353312" y="1993392"/>
            <a:ext cx="7223760" cy="347472"/>
          </a:xfrm>
          <a:prstGeom prst="rect">
            <a:avLst/>
          </a:prstGeom>
          <a:noFill/>
          <a:ln/>
        </p:spPr>
        <p:txBody>
          <a:bodyPr wrap="square" lIns="0" tIns="0" rIns="0" bIns="0" rtlCol="0" anchor="ctr"/>
          <a:lstStyle/>
          <a:p>
            <a:pPr algn="l" indent="0" marL="0">
              <a:buNone/>
            </a:pPr>
            <a:r>
              <a:rPr lang="en-US" sz="1600" b="1" dirty="0">
                <a:solidFill>
                  <a:srgbClr val="1E293B"/>
                </a:solidFill>
                <a:latin typeface="Calibri" pitchFamily="34" charset="0"/>
                <a:ea typeface="Calibri" pitchFamily="34" charset="-122"/>
                <a:cs typeface="Calibri" pitchFamily="34" charset="-120"/>
              </a:rPr>
              <a:t>3 Nhom Ung Dung Thuc Chien</a:t>
            </a:r>
            <a:endParaRPr lang="en-US" sz="1600" dirty="0"/>
          </a:p>
        </p:txBody>
      </p:sp>
      <p:sp>
        <p:nvSpPr>
          <p:cNvPr id="16" name="Text 14"/>
          <p:cNvSpPr/>
          <p:nvPr/>
        </p:nvSpPr>
        <p:spPr>
          <a:xfrm>
            <a:off x="1353312" y="2340864"/>
            <a:ext cx="7223760" cy="27432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Demo case study thuc te trong cong viec van phong hang ngay</a:t>
            </a:r>
            <a:endParaRPr lang="en-US" sz="1200" dirty="0"/>
          </a:p>
        </p:txBody>
      </p:sp>
      <p:sp>
        <p:nvSpPr>
          <p:cNvPr id="17" name="Shape 15"/>
          <p:cNvSpPr/>
          <p:nvPr/>
        </p:nvSpPr>
        <p:spPr>
          <a:xfrm>
            <a:off x="320040" y="2907792"/>
            <a:ext cx="8503920" cy="804672"/>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8" name="Shape 16"/>
          <p:cNvSpPr/>
          <p:nvPr/>
        </p:nvSpPr>
        <p:spPr>
          <a:xfrm>
            <a:off x="320040" y="2907792"/>
            <a:ext cx="91440" cy="804672"/>
          </a:xfrm>
          <a:prstGeom prst="rect">
            <a:avLst/>
          </a:prstGeom>
          <a:solidFill>
            <a:srgbClr val="10A37F"/>
          </a:solidFill>
          <a:ln w="12700">
            <a:solidFill>
              <a:srgbClr val="10A37F"/>
            </a:solidFill>
            <a:prstDash val="solid"/>
          </a:ln>
        </p:spPr>
      </p:sp>
      <p:sp>
        <p:nvSpPr>
          <p:cNvPr id="19" name="Shape 17"/>
          <p:cNvSpPr/>
          <p:nvPr/>
        </p:nvSpPr>
        <p:spPr>
          <a:xfrm>
            <a:off x="502920" y="3063240"/>
            <a:ext cx="713232" cy="475488"/>
          </a:xfrm>
          <a:prstGeom prst="rect">
            <a:avLst/>
          </a:prstGeom>
          <a:solidFill>
            <a:srgbClr val="10A37F">
              <a:alpha val="88000"/>
            </a:srgbClr>
          </a:solidFill>
          <a:ln w="12700">
            <a:solidFill>
              <a:srgbClr val="10A37F"/>
            </a:solidFill>
            <a:prstDash val="solid"/>
          </a:ln>
        </p:spPr>
      </p:sp>
      <p:sp>
        <p:nvSpPr>
          <p:cNvPr id="20" name="Text 18"/>
          <p:cNvSpPr/>
          <p:nvPr/>
        </p:nvSpPr>
        <p:spPr>
          <a:xfrm>
            <a:off x="502920" y="3063240"/>
            <a:ext cx="713232" cy="475488"/>
          </a:xfrm>
          <a:prstGeom prst="rect">
            <a:avLst/>
          </a:prstGeom>
          <a:noFill/>
          <a:ln/>
        </p:spPr>
        <p:txBody>
          <a:bodyPr wrap="square" rtlCol="0" anchor="ctr"/>
          <a:lstStyle/>
          <a:p>
            <a:pPr algn="ctr" indent="0" marL="0">
              <a:buNone/>
            </a:pPr>
            <a:r>
              <a:rPr lang="en-US" sz="2000" b="1" dirty="0">
                <a:solidFill>
                  <a:srgbClr val="10A37F"/>
                </a:solidFill>
              </a:rPr>
              <a:t>7'</a:t>
            </a:r>
            <a:endParaRPr lang="en-US" sz="2000" dirty="0"/>
          </a:p>
        </p:txBody>
      </p:sp>
      <p:sp>
        <p:nvSpPr>
          <p:cNvPr id="21" name="Text 19"/>
          <p:cNvSpPr/>
          <p:nvPr/>
        </p:nvSpPr>
        <p:spPr>
          <a:xfrm>
            <a:off x="1353312" y="2999232"/>
            <a:ext cx="7223760" cy="347472"/>
          </a:xfrm>
          <a:prstGeom prst="rect">
            <a:avLst/>
          </a:prstGeom>
          <a:noFill/>
          <a:ln/>
        </p:spPr>
        <p:txBody>
          <a:bodyPr wrap="square" lIns="0" tIns="0" rIns="0" bIns="0" rtlCol="0" anchor="ctr"/>
          <a:lstStyle/>
          <a:p>
            <a:pPr algn="l" indent="0" marL="0">
              <a:buNone/>
            </a:pPr>
            <a:r>
              <a:rPr lang="en-US" sz="1600" b="1" dirty="0">
                <a:solidFill>
                  <a:srgbClr val="1E293B"/>
                </a:solidFill>
                <a:latin typeface="Calibri" pitchFamily="34" charset="0"/>
                <a:ea typeface="Calibri" pitchFamily="34" charset="-122"/>
                <a:cs typeface="Calibri" pitchFamily="34" charset="-120"/>
              </a:rPr>
              <a:t>Nghe Thuat Dat Cau Hoi (CREO)</a:t>
            </a:r>
            <a:endParaRPr lang="en-US" sz="1600" dirty="0"/>
          </a:p>
        </p:txBody>
      </p:sp>
      <p:sp>
        <p:nvSpPr>
          <p:cNvPr id="22" name="Text 20"/>
          <p:cNvSpPr/>
          <p:nvPr/>
        </p:nvSpPr>
        <p:spPr>
          <a:xfrm>
            <a:off x="1353312" y="3346704"/>
            <a:ext cx="7223760" cy="27432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Cong thuc de AI hieu dung y ngay lan dau — ap dung duoc ngay</a:t>
            </a:r>
            <a:endParaRPr lang="en-US" sz="1200" dirty="0"/>
          </a:p>
        </p:txBody>
      </p:sp>
      <p:sp>
        <p:nvSpPr>
          <p:cNvPr id="23" name="Shape 21"/>
          <p:cNvSpPr/>
          <p:nvPr/>
        </p:nvSpPr>
        <p:spPr>
          <a:xfrm>
            <a:off x="320040" y="3913632"/>
            <a:ext cx="8503920" cy="804672"/>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24" name="Shape 22"/>
          <p:cNvSpPr/>
          <p:nvPr/>
        </p:nvSpPr>
        <p:spPr>
          <a:xfrm>
            <a:off x="320040" y="3913632"/>
            <a:ext cx="91440" cy="804672"/>
          </a:xfrm>
          <a:prstGeom prst="rect">
            <a:avLst/>
          </a:prstGeom>
          <a:solidFill>
            <a:srgbClr val="CF4500"/>
          </a:solidFill>
          <a:ln w="12700">
            <a:solidFill>
              <a:srgbClr val="CF4500"/>
            </a:solidFill>
            <a:prstDash val="solid"/>
          </a:ln>
        </p:spPr>
      </p:sp>
      <p:sp>
        <p:nvSpPr>
          <p:cNvPr id="25" name="Shape 23"/>
          <p:cNvSpPr/>
          <p:nvPr/>
        </p:nvSpPr>
        <p:spPr>
          <a:xfrm>
            <a:off x="502920" y="4069080"/>
            <a:ext cx="713232" cy="475488"/>
          </a:xfrm>
          <a:prstGeom prst="rect">
            <a:avLst/>
          </a:prstGeom>
          <a:solidFill>
            <a:srgbClr val="CF4500">
              <a:alpha val="88000"/>
            </a:srgbClr>
          </a:solidFill>
          <a:ln w="12700">
            <a:solidFill>
              <a:srgbClr val="CF4500"/>
            </a:solidFill>
            <a:prstDash val="solid"/>
          </a:ln>
        </p:spPr>
      </p:sp>
      <p:sp>
        <p:nvSpPr>
          <p:cNvPr id="26" name="Text 24"/>
          <p:cNvSpPr/>
          <p:nvPr/>
        </p:nvSpPr>
        <p:spPr>
          <a:xfrm>
            <a:off x="502920" y="4069080"/>
            <a:ext cx="713232" cy="475488"/>
          </a:xfrm>
          <a:prstGeom prst="rect">
            <a:avLst/>
          </a:prstGeom>
          <a:noFill/>
          <a:ln/>
        </p:spPr>
        <p:txBody>
          <a:bodyPr wrap="square" rtlCol="0" anchor="ctr"/>
          <a:lstStyle/>
          <a:p>
            <a:pPr algn="ctr" indent="0" marL="0">
              <a:buNone/>
            </a:pPr>
            <a:r>
              <a:rPr lang="en-US" sz="2000" b="1" dirty="0">
                <a:solidFill>
                  <a:srgbClr val="CF4500"/>
                </a:solidFill>
              </a:rPr>
              <a:t>3'</a:t>
            </a:r>
            <a:endParaRPr lang="en-US" sz="2000" dirty="0"/>
          </a:p>
        </p:txBody>
      </p:sp>
      <p:sp>
        <p:nvSpPr>
          <p:cNvPr id="27" name="Text 25"/>
          <p:cNvSpPr/>
          <p:nvPr/>
        </p:nvSpPr>
        <p:spPr>
          <a:xfrm>
            <a:off x="1353312" y="4005072"/>
            <a:ext cx="7223760" cy="347472"/>
          </a:xfrm>
          <a:prstGeom prst="rect">
            <a:avLst/>
          </a:prstGeom>
          <a:noFill/>
          <a:ln/>
        </p:spPr>
        <p:txBody>
          <a:bodyPr wrap="square" lIns="0" tIns="0" rIns="0" bIns="0" rtlCol="0" anchor="ctr"/>
          <a:lstStyle/>
          <a:p>
            <a:pPr algn="l" indent="0" marL="0">
              <a:buNone/>
            </a:pPr>
            <a:r>
              <a:rPr lang="en-US" sz="1600" b="1" dirty="0">
                <a:solidFill>
                  <a:srgbClr val="1E293B"/>
                </a:solidFill>
                <a:latin typeface="Calibri" pitchFamily="34" charset="0"/>
                <a:ea typeface="Calibri" pitchFamily="34" charset="-122"/>
                <a:cs typeface="Calibri" pitchFamily="34" charset="-120"/>
              </a:rPr>
              <a:t>Ket Luan &amp; Q&amp;A</a:t>
            </a:r>
            <a:endParaRPr lang="en-US" sz="1600" dirty="0"/>
          </a:p>
        </p:txBody>
      </p:sp>
      <p:sp>
        <p:nvSpPr>
          <p:cNvPr id="28" name="Text 26"/>
          <p:cNvSpPr/>
          <p:nvPr/>
        </p:nvSpPr>
        <p:spPr>
          <a:xfrm>
            <a:off x="1353312" y="4352544"/>
            <a:ext cx="7223760" cy="27432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Goi gon thong diep va giai dap thac mac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3050"/>
          </a:solidFill>
          <a:ln w="12700">
            <a:solidFill>
              <a:srgbClr val="1A3050"/>
            </a:solidFill>
            <a:prstDash val="solid"/>
          </a:ln>
        </p:spPr>
      </p:sp>
      <p:sp>
        <p:nvSpPr>
          <p:cNvPr id="3" name="Text 1"/>
          <p:cNvSpPr/>
          <p:nvPr/>
        </p:nvSpPr>
        <p:spPr>
          <a:xfrm>
            <a:off x="457200" y="0"/>
            <a:ext cx="6400800" cy="713232"/>
          </a:xfrm>
          <a:prstGeom prst="rect">
            <a:avLst/>
          </a:prstGeom>
          <a:noFill/>
          <a:ln/>
        </p:spPr>
        <p:txBody>
          <a:bodyPr wrap="square" lIns="0" tIns="0" rIns="0" bIns="0" rtlCol="0" anchor="ctr"/>
          <a:lstStyle/>
          <a:p>
            <a:pPr algn="l" indent="0" marL="0">
              <a:buNone/>
            </a:pPr>
            <a:r>
              <a:rPr lang="en-US" sz="2400" b="1" dirty="0">
                <a:solidFill>
                  <a:srgbClr val="00C9A7"/>
                </a:solidFill>
              </a:rPr>
              <a:t>TU DUY DUNG VE AI</a:t>
            </a:r>
            <a:endParaRPr lang="en-US" sz="2400" dirty="0"/>
          </a:p>
        </p:txBody>
      </p:sp>
      <p:sp>
        <p:nvSpPr>
          <p:cNvPr id="4" name="Text 2"/>
          <p:cNvSpPr/>
          <p:nvPr/>
        </p:nvSpPr>
        <p:spPr>
          <a:xfrm>
            <a:off x="6858000" y="0"/>
            <a:ext cx="1828800" cy="713232"/>
          </a:xfrm>
          <a:prstGeom prst="rect">
            <a:avLst/>
          </a:prstGeom>
          <a:noFill/>
          <a:ln/>
        </p:spPr>
        <p:txBody>
          <a:bodyPr wrap="square" lIns="0" tIns="0" rIns="0" bIns="0" rtlCol="0" anchor="ctr"/>
          <a:lstStyle/>
          <a:p>
            <a:pPr algn="r" indent="0" marL="0">
              <a:buNone/>
            </a:pPr>
            <a:r>
              <a:rPr lang="en-US" sz="1300" dirty="0">
                <a:solidFill>
                  <a:srgbClr val="7A9BB5"/>
                </a:solidFill>
              </a:rPr>
              <a:t>5 phut dau tien</a:t>
            </a:r>
            <a:endParaRPr lang="en-US" sz="1300" dirty="0"/>
          </a:p>
        </p:txBody>
      </p:sp>
      <p:sp>
        <p:nvSpPr>
          <p:cNvPr id="5" name="Shape 3"/>
          <p:cNvSpPr/>
          <p:nvPr/>
        </p:nvSpPr>
        <p:spPr>
          <a:xfrm>
            <a:off x="365760" y="914400"/>
            <a:ext cx="3931920" cy="3931920"/>
          </a:xfrm>
          <a:prstGeom prst="rect">
            <a:avLst/>
          </a:prstGeom>
          <a:solidFill>
            <a:srgbClr val="1A3050"/>
          </a:solidFill>
          <a:ln w="12700">
            <a:solidFill>
              <a:srgbClr val="E74C3C"/>
            </a:solidFill>
            <a:prstDash val="solid"/>
          </a:ln>
        </p:spPr>
      </p:sp>
      <p:sp>
        <p:nvSpPr>
          <p:cNvPr id="6" name="Shape 4"/>
          <p:cNvSpPr/>
          <p:nvPr/>
        </p:nvSpPr>
        <p:spPr>
          <a:xfrm>
            <a:off x="365760" y="914400"/>
            <a:ext cx="3931920" cy="502920"/>
          </a:xfrm>
          <a:prstGeom prst="rect">
            <a:avLst/>
          </a:prstGeom>
          <a:solidFill>
            <a:srgbClr val="E74C3C"/>
          </a:solidFill>
          <a:ln w="12700">
            <a:solidFill>
              <a:srgbClr val="E74C3C"/>
            </a:solidFill>
            <a:prstDash val="solid"/>
          </a:ln>
        </p:spPr>
      </p:sp>
      <p:sp>
        <p:nvSpPr>
          <p:cNvPr id="7" name="Text 5"/>
          <p:cNvSpPr/>
          <p:nvPr/>
        </p:nvSpPr>
        <p:spPr>
          <a:xfrm>
            <a:off x="365760" y="914400"/>
            <a:ext cx="3931920" cy="502920"/>
          </a:xfrm>
          <a:prstGeom prst="rect">
            <a:avLst/>
          </a:prstGeom>
          <a:noFill/>
          <a:ln/>
        </p:spPr>
        <p:txBody>
          <a:bodyPr wrap="square" rtlCol="0" anchor="ctr"/>
          <a:lstStyle/>
          <a:p>
            <a:pPr algn="ctr" indent="0" marL="0">
              <a:buNone/>
            </a:pPr>
            <a:r>
              <a:rPr lang="en-US" sz="1400" b="1" dirty="0">
                <a:solidFill>
                  <a:srgbClr val="FFFFFF"/>
                </a:solidFill>
              </a:rPr>
              <a:t>SAI LAM — Dung AI nhu Google</a:t>
            </a:r>
            <a:endParaRPr lang="en-US" sz="1400" dirty="0"/>
          </a:p>
        </p:txBody>
      </p:sp>
      <p:sp>
        <p:nvSpPr>
          <p:cNvPr id="8" name="Text 6"/>
          <p:cNvSpPr/>
          <p:nvPr/>
        </p:nvSpPr>
        <p:spPr>
          <a:xfrm>
            <a:off x="548640" y="1508760"/>
            <a:ext cx="3566160" cy="2468880"/>
          </a:xfrm>
          <a:prstGeom prst="rect">
            <a:avLst/>
          </a:prstGeom>
          <a:noFill/>
          <a:ln/>
        </p:spPr>
        <p:txBody>
          <a:bodyPr wrap="square" rtlCol="0" anchor="t"/>
          <a:lstStyle/>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Hoi mot cau, nhan mot cau tra loi</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Khong cung cap nguon goc, ngu canh</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Dung xong bo di, khong tiep tuc chat</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Tin 100% ket qua ma AI tra ve</a:t>
            </a:r>
            <a:endParaRPr lang="en-US" sz="1300" dirty="0"/>
          </a:p>
        </p:txBody>
      </p:sp>
      <p:sp>
        <p:nvSpPr>
          <p:cNvPr id="9" name="Shape 7"/>
          <p:cNvSpPr/>
          <p:nvPr/>
        </p:nvSpPr>
        <p:spPr>
          <a:xfrm>
            <a:off x="4846320" y="914400"/>
            <a:ext cx="3931920" cy="3931920"/>
          </a:xfrm>
          <a:prstGeom prst="rect">
            <a:avLst/>
          </a:prstGeom>
          <a:solidFill>
            <a:srgbClr val="1A3050"/>
          </a:solidFill>
          <a:ln w="12700">
            <a:solidFill>
              <a:srgbClr val="00C9A7"/>
            </a:solidFill>
            <a:prstDash val="solid"/>
          </a:ln>
        </p:spPr>
      </p:sp>
      <p:sp>
        <p:nvSpPr>
          <p:cNvPr id="10" name="Shape 8"/>
          <p:cNvSpPr/>
          <p:nvPr/>
        </p:nvSpPr>
        <p:spPr>
          <a:xfrm>
            <a:off x="4846320" y="914400"/>
            <a:ext cx="3931920" cy="502920"/>
          </a:xfrm>
          <a:prstGeom prst="rect">
            <a:avLst/>
          </a:prstGeom>
          <a:solidFill>
            <a:srgbClr val="00C9A7"/>
          </a:solidFill>
          <a:ln w="12700">
            <a:solidFill>
              <a:srgbClr val="00C9A7"/>
            </a:solidFill>
            <a:prstDash val="solid"/>
          </a:ln>
        </p:spPr>
      </p:sp>
      <p:sp>
        <p:nvSpPr>
          <p:cNvPr id="11" name="Text 9"/>
          <p:cNvSpPr/>
          <p:nvPr/>
        </p:nvSpPr>
        <p:spPr>
          <a:xfrm>
            <a:off x="4846320" y="914400"/>
            <a:ext cx="3931920" cy="502920"/>
          </a:xfrm>
          <a:prstGeom prst="rect">
            <a:avLst/>
          </a:prstGeom>
          <a:noFill/>
          <a:ln/>
        </p:spPr>
        <p:txBody>
          <a:bodyPr wrap="square" rtlCol="0" anchor="ctr"/>
          <a:lstStyle/>
          <a:p>
            <a:pPr algn="ctr" indent="0" marL="0">
              <a:buNone/>
            </a:pPr>
            <a:r>
              <a:rPr lang="en-US" sz="1400" b="1" dirty="0">
                <a:solidFill>
                  <a:srgbClr val="0A1628"/>
                </a:solidFill>
              </a:rPr>
              <a:t>DUNG DAN — AI la Cong su</a:t>
            </a:r>
            <a:endParaRPr lang="en-US" sz="1400" dirty="0"/>
          </a:p>
        </p:txBody>
      </p:sp>
      <p:sp>
        <p:nvSpPr>
          <p:cNvPr id="12" name="Text 10"/>
          <p:cNvSpPr/>
          <p:nvPr/>
        </p:nvSpPr>
        <p:spPr>
          <a:xfrm>
            <a:off x="5029200" y="1508760"/>
            <a:ext cx="3566160" cy="2468880"/>
          </a:xfrm>
          <a:prstGeom prst="rect">
            <a:avLst/>
          </a:prstGeom>
          <a:noFill/>
          <a:ln/>
        </p:spPr>
        <p:txBody>
          <a:bodyPr wrap="square" rtlCol="0" anchor="t"/>
          <a:lstStyle/>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Ban la nguoi quyet dinh cuoi cung (QC)</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AI la nguoi thuc thi nhanh, 24/7, moi luc</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Cung cap ngu canh ro rang -&gt; ket qua tot</a:t>
            </a:r>
            <a:endParaRPr lang="en-US" sz="1300" dirty="0"/>
          </a:p>
          <a:p>
            <a:pPr marL="342900" indent="-342900">
              <a:buSzPct val="100000"/>
              <a:buChar char="•"/>
            </a:pPr>
            <a:r>
              <a:rPr lang="en-US" sz="1300" dirty="0">
                <a:solidFill>
                  <a:srgbClr val="C8D5E0"/>
                </a:solidFill>
                <a:latin typeface="Calibri" pitchFamily="34" charset="0"/>
                <a:ea typeface="Calibri" pitchFamily="34" charset="-122"/>
                <a:cs typeface="Calibri" pitchFamily="34" charset="-120"/>
              </a:rPr>
              <a:t>Kiem tra lai thong tin quan trong truoc dung</a:t>
            </a:r>
            <a:endParaRPr lang="en-US" sz="1300" dirty="0"/>
          </a:p>
        </p:txBody>
      </p:sp>
      <p:sp>
        <p:nvSpPr>
          <p:cNvPr id="13" name="Shape 11"/>
          <p:cNvSpPr/>
          <p:nvPr/>
        </p:nvSpPr>
        <p:spPr>
          <a:xfrm>
            <a:off x="0" y="4636008"/>
            <a:ext cx="9144000" cy="507492"/>
          </a:xfrm>
          <a:prstGeom prst="rect">
            <a:avLst/>
          </a:prstGeom>
          <a:solidFill>
            <a:srgbClr val="00C9A7">
              <a:alpha val="15000"/>
            </a:srgbClr>
          </a:solidFill>
          <a:ln w="12700">
            <a:solidFill>
              <a:srgbClr val="00C9A7"/>
            </a:solidFill>
            <a:prstDash val="solid"/>
          </a:ln>
        </p:spPr>
      </p:sp>
      <p:sp>
        <p:nvSpPr>
          <p:cNvPr id="14" name="Text 12"/>
          <p:cNvSpPr/>
          <p:nvPr/>
        </p:nvSpPr>
        <p:spPr>
          <a:xfrm>
            <a:off x="457200" y="4636008"/>
            <a:ext cx="8229600" cy="507492"/>
          </a:xfrm>
          <a:prstGeom prst="rect">
            <a:avLst/>
          </a:prstGeom>
          <a:noFill/>
          <a:ln/>
        </p:spPr>
        <p:txBody>
          <a:bodyPr wrap="square" rtlCol="0" anchor="ctr"/>
          <a:lstStyle/>
          <a:p>
            <a:pPr algn="ctr" indent="0" marL="0">
              <a:buNone/>
            </a:pPr>
            <a:r>
              <a:rPr lang="en-US" sz="1700" b="1" dirty="0">
                <a:solidFill>
                  <a:srgbClr val="00C9A7"/>
                </a:solidFill>
              </a:rPr>
              <a:t>Nang luc con nguoi  +  Suc manh AI  =  Hieu suat x10</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1A3050">
              <a:alpha val="45000"/>
            </a:srgbClr>
          </a:solidFill>
          <a:ln w="12700">
            <a:solidFill>
              <a:srgbClr val="1A3050"/>
            </a:solidFill>
            <a:prstDash val="solid"/>
          </a:ln>
        </p:spPr>
      </p:sp>
      <p:sp>
        <p:nvSpPr>
          <p:cNvPr id="3" name="Shape 1"/>
          <p:cNvSpPr/>
          <p:nvPr/>
        </p:nvSpPr>
        <p:spPr>
          <a:xfrm>
            <a:off x="5943600" y="1828800"/>
            <a:ext cx="4572000" cy="4572000"/>
          </a:xfrm>
          <a:prstGeom prst="ellipse">
            <a:avLst/>
          </a:prstGeom>
          <a:solidFill>
            <a:srgbClr val="1A3050">
              <a:alpha val="45000"/>
            </a:srgbClr>
          </a:solidFill>
          <a:ln w="12700">
            <a:solidFill>
              <a:srgbClr val="1A3050"/>
            </a:solidFill>
            <a:prstDash val="solid"/>
          </a:ln>
        </p:spPr>
      </p:sp>
      <p:sp>
        <p:nvSpPr>
          <p:cNvPr id="4" name="Text 2"/>
          <p:cNvSpPr/>
          <p:nvPr/>
        </p:nvSpPr>
        <p:spPr>
          <a:xfrm>
            <a:off x="457200" y="1005840"/>
            <a:ext cx="8229600" cy="731520"/>
          </a:xfrm>
          <a:prstGeom prst="rect">
            <a:avLst/>
          </a:prstGeom>
          <a:noFill/>
          <a:ln/>
        </p:spPr>
        <p:txBody>
          <a:bodyPr wrap="square" rtlCol="0" anchor="ctr"/>
          <a:lstStyle/>
          <a:p>
            <a:pPr algn="ctr" indent="0" marL="0">
              <a:buNone/>
            </a:pPr>
            <a:r>
              <a:rPr lang="en-US" sz="5600" b="1" dirty="0">
                <a:solidFill>
                  <a:srgbClr val="00C9A7"/>
                </a:solidFill>
                <a:latin typeface="Arial Black" pitchFamily="34" charset="0"/>
                <a:ea typeface="Arial Black" pitchFamily="34" charset="-122"/>
                <a:cs typeface="Arial Black" pitchFamily="34" charset="-120"/>
              </a:rPr>
              <a:t>THE</a:t>
            </a:r>
            <a:endParaRPr lang="en-US" sz="5600" dirty="0"/>
          </a:p>
        </p:txBody>
      </p:sp>
      <p:sp>
        <p:nvSpPr>
          <p:cNvPr id="5" name="Text 3"/>
          <p:cNvSpPr/>
          <p:nvPr/>
        </p:nvSpPr>
        <p:spPr>
          <a:xfrm>
            <a:off x="457200" y="1645920"/>
            <a:ext cx="8229600" cy="1005840"/>
          </a:xfrm>
          <a:prstGeom prst="rect">
            <a:avLst/>
          </a:prstGeom>
          <a:noFill/>
          <a:ln/>
        </p:spPr>
        <p:txBody>
          <a:bodyPr wrap="square" rtlCol="0" anchor="ctr"/>
          <a:lstStyle/>
          <a:p>
            <a:pPr algn="ctr" indent="0" marL="0">
              <a:buNone/>
            </a:pPr>
            <a:r>
              <a:rPr lang="en-US" sz="6600" b="1" dirty="0">
                <a:solidFill>
                  <a:srgbClr val="FFFFFF"/>
                </a:solidFill>
                <a:latin typeface="Arial Black" pitchFamily="34" charset="0"/>
                <a:ea typeface="Arial Black" pitchFamily="34" charset="-122"/>
                <a:cs typeface="Arial Black" pitchFamily="34" charset="-120"/>
              </a:rPr>
              <a:t>BIG THREE</a:t>
            </a:r>
            <a:endParaRPr lang="en-US" sz="6600" dirty="0"/>
          </a:p>
        </p:txBody>
      </p:sp>
      <p:sp>
        <p:nvSpPr>
          <p:cNvPr id="6" name="Text 4"/>
          <p:cNvSpPr/>
          <p:nvPr/>
        </p:nvSpPr>
        <p:spPr>
          <a:xfrm>
            <a:off x="457200" y="2834640"/>
            <a:ext cx="8229600" cy="457200"/>
          </a:xfrm>
          <a:prstGeom prst="rect">
            <a:avLst/>
          </a:prstGeom>
          <a:noFill/>
          <a:ln/>
        </p:spPr>
        <p:txBody>
          <a:bodyPr wrap="square" rtlCol="0" anchor="ctr"/>
          <a:lstStyle/>
          <a:p>
            <a:pPr algn="ctr" indent="0" marL="0">
              <a:buNone/>
            </a:pPr>
            <a:r>
              <a:rPr lang="en-US" sz="2200" dirty="0">
                <a:solidFill>
                  <a:srgbClr val="A8BFCF"/>
                </a:solidFill>
                <a:latin typeface="Calibri" pitchFamily="34" charset="0"/>
                <a:ea typeface="Calibri" pitchFamily="34" charset="-122"/>
                <a:cs typeface="Calibri" pitchFamily="34" charset="-120"/>
              </a:rPr>
              <a:t>OpenAI  ·  Google  ·  Anthropic</a:t>
            </a:r>
            <a:endParaRPr lang="en-US" sz="2200" dirty="0"/>
          </a:p>
        </p:txBody>
      </p:sp>
      <p:sp>
        <p:nvSpPr>
          <p:cNvPr id="7" name="Shape 5"/>
          <p:cNvSpPr/>
          <p:nvPr/>
        </p:nvSpPr>
        <p:spPr>
          <a:xfrm>
            <a:off x="3200400" y="3447288"/>
            <a:ext cx="2743200" cy="45720"/>
          </a:xfrm>
          <a:prstGeom prst="rect">
            <a:avLst/>
          </a:prstGeom>
          <a:solidFill>
            <a:srgbClr val="00C9A7"/>
          </a:solidFill>
          <a:ln w="12700">
            <a:solidFill>
              <a:srgbClr val="00C9A7"/>
            </a:solidFill>
            <a:prstDash val="solid"/>
          </a:ln>
        </p:spPr>
      </p:sp>
      <p:sp>
        <p:nvSpPr>
          <p:cNvPr id="8" name="Text 6"/>
          <p:cNvSpPr/>
          <p:nvPr/>
        </p:nvSpPr>
        <p:spPr>
          <a:xfrm>
            <a:off x="457200" y="3657600"/>
            <a:ext cx="8229600" cy="365760"/>
          </a:xfrm>
          <a:prstGeom prst="rect">
            <a:avLst/>
          </a:prstGeom>
          <a:noFill/>
          <a:ln/>
        </p:spPr>
        <p:txBody>
          <a:bodyPr wrap="square" rtlCol="0" anchor="ctr"/>
          <a:lstStyle/>
          <a:p>
            <a:pPr algn="ctr" indent="0" marL="0">
              <a:buNone/>
            </a:pPr>
            <a:r>
              <a:rPr lang="en-US" sz="1500" dirty="0">
                <a:solidFill>
                  <a:srgbClr val="7A9BB5"/>
                </a:solidFill>
              </a:rPr>
              <a:t>Cac nen tang AI dan dau thi truong 2026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a:ln w="12700">
            <a:solidFill>
              <a:srgbClr val="0A1628"/>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algn="l" indent="0" marL="0">
              <a:buNone/>
            </a:pPr>
            <a:r>
              <a:rPr lang="en-US" sz="2100" b="1" dirty="0">
                <a:solidFill>
                  <a:srgbClr val="FFFFFF"/>
                </a:solidFill>
              </a:rPr>
              <a:t>SO SANH 3 NEN TANG AI HANG DAU</a:t>
            </a:r>
            <a:endParaRPr lang="en-US" sz="2100" dirty="0"/>
          </a:p>
        </p:txBody>
      </p:sp>
      <p:sp>
        <p:nvSpPr>
          <p:cNvPr id="4" name="Shape 2"/>
          <p:cNvSpPr/>
          <p:nvPr/>
        </p:nvSpPr>
        <p:spPr>
          <a:xfrm>
            <a:off x="228600" y="777240"/>
            <a:ext cx="278892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5" name="Shape 3"/>
          <p:cNvSpPr/>
          <p:nvPr/>
        </p:nvSpPr>
        <p:spPr>
          <a:xfrm>
            <a:off x="228600" y="777240"/>
            <a:ext cx="2788920" cy="1005840"/>
          </a:xfrm>
          <a:prstGeom prst="rect">
            <a:avLst/>
          </a:prstGeom>
          <a:solidFill>
            <a:srgbClr val="10A37F"/>
          </a:solidFill>
          <a:ln w="12700">
            <a:solidFill>
              <a:srgbClr val="10A37F"/>
            </a:solidFill>
            <a:prstDash val="solid"/>
          </a:ln>
        </p:spPr>
      </p:sp>
      <p:sp>
        <p:nvSpPr>
          <p:cNvPr id="6" name="Text 4"/>
          <p:cNvSpPr/>
          <p:nvPr/>
        </p:nvSpPr>
        <p:spPr>
          <a:xfrm>
            <a:off x="320040" y="804672"/>
            <a:ext cx="260604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ChatGPT</a:t>
            </a:r>
            <a:endParaRPr lang="en-US" sz="2400" dirty="0"/>
          </a:p>
        </p:txBody>
      </p:sp>
      <p:sp>
        <p:nvSpPr>
          <p:cNvPr id="7" name="Text 5"/>
          <p:cNvSpPr/>
          <p:nvPr/>
        </p:nvSpPr>
        <p:spPr>
          <a:xfrm>
            <a:off x="320040" y="1353312"/>
            <a:ext cx="2606040" cy="320040"/>
          </a:xfrm>
          <a:prstGeom prst="rect">
            <a:avLst/>
          </a:prstGeom>
          <a:noFill/>
          <a:ln/>
        </p:spPr>
        <p:txBody>
          <a:bodyPr wrap="square" lIns="0" tIns="0" rIns="0" bIns="0" rtlCol="0" anchor="ctr"/>
          <a:lstStyle/>
          <a:p>
            <a:pPr algn="ctr" indent="0" marL="0">
              <a:buNone/>
            </a:pPr>
            <a:r>
              <a:rPr lang="en-US" sz="1100" dirty="0">
                <a:solidFill>
                  <a:srgbClr val="DDEEDD"/>
                </a:solidFill>
              </a:rPr>
              <a:t>OpenAI  •  GPT-5.4</a:t>
            </a:r>
            <a:endParaRPr lang="en-US" sz="1100" dirty="0"/>
          </a:p>
        </p:txBody>
      </p:sp>
      <p:sp>
        <p:nvSpPr>
          <p:cNvPr id="8" name="Text 6"/>
          <p:cNvSpPr/>
          <p:nvPr/>
        </p:nvSpPr>
        <p:spPr>
          <a:xfrm>
            <a:off x="365760" y="1920240"/>
            <a:ext cx="2514600" cy="274320"/>
          </a:xfrm>
          <a:prstGeom prst="rect">
            <a:avLst/>
          </a:prstGeom>
          <a:noFill/>
          <a:ln/>
        </p:spPr>
        <p:txBody>
          <a:bodyPr wrap="square" lIns="0" tIns="0" rIns="0" bIns="0" rtlCol="0" anchor="ctr"/>
          <a:lstStyle/>
          <a:p>
            <a:pPr algn="l" indent="0" marL="0">
              <a:buNone/>
            </a:pPr>
            <a:r>
              <a:rPr lang="en-US" sz="1200" b="1" dirty="0">
                <a:solidFill>
                  <a:srgbClr val="10A37F"/>
                </a:solidFill>
              </a:rPr>
              <a:t>Diem manh:</a:t>
            </a:r>
            <a:endParaRPr lang="en-US" sz="1200" dirty="0"/>
          </a:p>
        </p:txBody>
      </p:sp>
      <p:sp>
        <p:nvSpPr>
          <p:cNvPr id="9" name="Shape 7"/>
          <p:cNvSpPr/>
          <p:nvPr/>
        </p:nvSpPr>
        <p:spPr>
          <a:xfrm>
            <a:off x="393192" y="2304288"/>
            <a:ext cx="118872" cy="118872"/>
          </a:xfrm>
          <a:prstGeom prst="ellipse">
            <a:avLst/>
          </a:prstGeom>
          <a:solidFill>
            <a:srgbClr val="10A37F"/>
          </a:solidFill>
          <a:ln w="12700">
            <a:solidFill>
              <a:srgbClr val="10A37F"/>
            </a:solidFill>
            <a:prstDash val="solid"/>
          </a:ln>
        </p:spPr>
      </p:sp>
      <p:sp>
        <p:nvSpPr>
          <p:cNvPr id="10" name="Text 8"/>
          <p:cNvSpPr/>
          <p:nvPr/>
        </p:nvSpPr>
        <p:spPr>
          <a:xfrm>
            <a:off x="576072" y="224028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Suy luan logic, lap ke hoach phuc tap</a:t>
            </a:r>
            <a:endParaRPr lang="en-US" sz="1100" dirty="0"/>
          </a:p>
        </p:txBody>
      </p:sp>
      <p:sp>
        <p:nvSpPr>
          <p:cNvPr id="11" name="Shape 9"/>
          <p:cNvSpPr/>
          <p:nvPr/>
        </p:nvSpPr>
        <p:spPr>
          <a:xfrm>
            <a:off x="393192" y="2807208"/>
            <a:ext cx="118872" cy="118872"/>
          </a:xfrm>
          <a:prstGeom prst="ellipse">
            <a:avLst/>
          </a:prstGeom>
          <a:solidFill>
            <a:srgbClr val="10A37F"/>
          </a:solidFill>
          <a:ln w="12700">
            <a:solidFill>
              <a:srgbClr val="10A37F"/>
            </a:solidFill>
            <a:prstDash val="solid"/>
          </a:ln>
        </p:spPr>
      </p:sp>
      <p:sp>
        <p:nvSpPr>
          <p:cNvPr id="12" name="Text 10"/>
          <p:cNvSpPr/>
          <p:nvPr/>
        </p:nvSpPr>
        <p:spPr>
          <a:xfrm>
            <a:off x="576072" y="274320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Tao video tu chat (Sora AI Integration)</a:t>
            </a:r>
            <a:endParaRPr lang="en-US" sz="1100" dirty="0"/>
          </a:p>
        </p:txBody>
      </p:sp>
      <p:sp>
        <p:nvSpPr>
          <p:cNvPr id="13" name="Shape 11"/>
          <p:cNvSpPr/>
          <p:nvPr/>
        </p:nvSpPr>
        <p:spPr>
          <a:xfrm>
            <a:off x="393192" y="3310128"/>
            <a:ext cx="118872" cy="118872"/>
          </a:xfrm>
          <a:prstGeom prst="ellipse">
            <a:avLst/>
          </a:prstGeom>
          <a:solidFill>
            <a:srgbClr val="10A37F"/>
          </a:solidFill>
          <a:ln w="12700">
            <a:solidFill>
              <a:srgbClr val="10A37F"/>
            </a:solidFill>
            <a:prstDash val="solid"/>
          </a:ln>
        </p:spPr>
      </p:sp>
      <p:sp>
        <p:nvSpPr>
          <p:cNvPr id="14" name="Text 12"/>
          <p:cNvSpPr/>
          <p:nvPr/>
        </p:nvSpPr>
        <p:spPr>
          <a:xfrm>
            <a:off x="576072" y="324612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Voice Mode cam xuc tu nhien, khong do tre</a:t>
            </a:r>
            <a:endParaRPr lang="en-US" sz="1100" dirty="0"/>
          </a:p>
        </p:txBody>
      </p:sp>
      <p:sp>
        <p:nvSpPr>
          <p:cNvPr id="15" name="Shape 13"/>
          <p:cNvSpPr/>
          <p:nvPr/>
        </p:nvSpPr>
        <p:spPr>
          <a:xfrm>
            <a:off x="228600" y="4462272"/>
            <a:ext cx="2788920" cy="475488"/>
          </a:xfrm>
          <a:prstGeom prst="rect">
            <a:avLst/>
          </a:prstGeom>
          <a:solidFill>
            <a:srgbClr val="10A37F">
              <a:alpha val="14000"/>
            </a:srgbClr>
          </a:solidFill>
          <a:ln w="12700">
            <a:solidFill>
              <a:srgbClr val="10A37F"/>
            </a:solidFill>
            <a:prstDash val="solid"/>
          </a:ln>
        </p:spPr>
      </p:sp>
      <p:sp>
        <p:nvSpPr>
          <p:cNvPr id="16" name="Text 14"/>
          <p:cNvSpPr/>
          <p:nvPr/>
        </p:nvSpPr>
        <p:spPr>
          <a:xfrm>
            <a:off x="320040" y="4462272"/>
            <a:ext cx="2606040" cy="475488"/>
          </a:xfrm>
          <a:prstGeom prst="rect">
            <a:avLst/>
          </a:prstGeom>
          <a:noFill/>
          <a:ln/>
        </p:spPr>
        <p:txBody>
          <a:bodyPr wrap="square" lIns="0" tIns="0" rIns="0" bIns="0" rtlCol="0" anchor="ctr"/>
          <a:lstStyle/>
          <a:p>
            <a:pPr algn="ctr" indent="0" marL="0">
              <a:buNone/>
            </a:pPr>
            <a:r>
              <a:rPr lang="en-US" sz="1100" b="1" dirty="0">
                <a:solidFill>
                  <a:srgbClr val="10A37F"/>
                </a:solidFill>
              </a:rPr>
              <a:t>Tot nhat cho: Phan tich  &amp;  Lap ke hoach</a:t>
            </a:r>
            <a:endParaRPr lang="en-US" sz="1100" dirty="0"/>
          </a:p>
        </p:txBody>
      </p:sp>
      <p:sp>
        <p:nvSpPr>
          <p:cNvPr id="17" name="Shape 15"/>
          <p:cNvSpPr/>
          <p:nvPr/>
        </p:nvSpPr>
        <p:spPr>
          <a:xfrm>
            <a:off x="3246120" y="777240"/>
            <a:ext cx="278892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8" name="Shape 16"/>
          <p:cNvSpPr/>
          <p:nvPr/>
        </p:nvSpPr>
        <p:spPr>
          <a:xfrm>
            <a:off x="3246120" y="777240"/>
            <a:ext cx="2788920" cy="1005840"/>
          </a:xfrm>
          <a:prstGeom prst="rect">
            <a:avLst/>
          </a:prstGeom>
          <a:solidFill>
            <a:srgbClr val="1A73E8"/>
          </a:solidFill>
          <a:ln w="12700">
            <a:solidFill>
              <a:srgbClr val="1A73E8"/>
            </a:solidFill>
            <a:prstDash val="solid"/>
          </a:ln>
        </p:spPr>
      </p:sp>
      <p:sp>
        <p:nvSpPr>
          <p:cNvPr id="19" name="Text 17"/>
          <p:cNvSpPr/>
          <p:nvPr/>
        </p:nvSpPr>
        <p:spPr>
          <a:xfrm>
            <a:off x="3337560" y="804672"/>
            <a:ext cx="260604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Gemini</a:t>
            </a:r>
            <a:endParaRPr lang="en-US" sz="2400" dirty="0"/>
          </a:p>
        </p:txBody>
      </p:sp>
      <p:sp>
        <p:nvSpPr>
          <p:cNvPr id="20" name="Text 18"/>
          <p:cNvSpPr/>
          <p:nvPr/>
        </p:nvSpPr>
        <p:spPr>
          <a:xfrm>
            <a:off x="3337560" y="1353312"/>
            <a:ext cx="2606040" cy="320040"/>
          </a:xfrm>
          <a:prstGeom prst="rect">
            <a:avLst/>
          </a:prstGeom>
          <a:noFill/>
          <a:ln/>
        </p:spPr>
        <p:txBody>
          <a:bodyPr wrap="square" lIns="0" tIns="0" rIns="0" bIns="0" rtlCol="0" anchor="ctr"/>
          <a:lstStyle/>
          <a:p>
            <a:pPr algn="ctr" indent="0" marL="0">
              <a:buNone/>
            </a:pPr>
            <a:r>
              <a:rPr lang="en-US" sz="1100" dirty="0">
                <a:solidFill>
                  <a:srgbClr val="DDEEDD"/>
                </a:solidFill>
              </a:rPr>
              <a:t>Google  •  v3.1</a:t>
            </a:r>
            <a:endParaRPr lang="en-US" sz="1100" dirty="0"/>
          </a:p>
        </p:txBody>
      </p:sp>
      <p:sp>
        <p:nvSpPr>
          <p:cNvPr id="21" name="Text 19"/>
          <p:cNvSpPr/>
          <p:nvPr/>
        </p:nvSpPr>
        <p:spPr>
          <a:xfrm>
            <a:off x="3383280" y="1920240"/>
            <a:ext cx="2514600" cy="274320"/>
          </a:xfrm>
          <a:prstGeom prst="rect">
            <a:avLst/>
          </a:prstGeom>
          <a:noFill/>
          <a:ln/>
        </p:spPr>
        <p:txBody>
          <a:bodyPr wrap="square" lIns="0" tIns="0" rIns="0" bIns="0" rtlCol="0" anchor="ctr"/>
          <a:lstStyle/>
          <a:p>
            <a:pPr algn="l" indent="0" marL="0">
              <a:buNone/>
            </a:pPr>
            <a:r>
              <a:rPr lang="en-US" sz="1200" b="1" dirty="0">
                <a:solidFill>
                  <a:srgbClr val="1A73E8"/>
                </a:solidFill>
              </a:rPr>
              <a:t>Diem manh:</a:t>
            </a:r>
            <a:endParaRPr lang="en-US" sz="1200" dirty="0"/>
          </a:p>
        </p:txBody>
      </p:sp>
      <p:sp>
        <p:nvSpPr>
          <p:cNvPr id="22" name="Shape 20"/>
          <p:cNvSpPr/>
          <p:nvPr/>
        </p:nvSpPr>
        <p:spPr>
          <a:xfrm>
            <a:off x="3410712" y="2304288"/>
            <a:ext cx="118872" cy="118872"/>
          </a:xfrm>
          <a:prstGeom prst="ellipse">
            <a:avLst/>
          </a:prstGeom>
          <a:solidFill>
            <a:srgbClr val="1A73E8"/>
          </a:solidFill>
          <a:ln w="12700">
            <a:solidFill>
              <a:srgbClr val="1A73E8"/>
            </a:solidFill>
            <a:prstDash val="solid"/>
          </a:ln>
        </p:spPr>
      </p:sp>
      <p:sp>
        <p:nvSpPr>
          <p:cNvPr id="23" name="Text 21"/>
          <p:cNvSpPr/>
          <p:nvPr/>
        </p:nvSpPr>
        <p:spPr>
          <a:xfrm>
            <a:off x="3593592" y="224028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Deep Research: tong hop hang tram nguon</a:t>
            </a:r>
            <a:endParaRPr lang="en-US" sz="1100" dirty="0"/>
          </a:p>
        </p:txBody>
      </p:sp>
      <p:sp>
        <p:nvSpPr>
          <p:cNvPr id="24" name="Shape 22"/>
          <p:cNvSpPr/>
          <p:nvPr/>
        </p:nvSpPr>
        <p:spPr>
          <a:xfrm>
            <a:off x="3410712" y="2807208"/>
            <a:ext cx="118872" cy="118872"/>
          </a:xfrm>
          <a:prstGeom prst="ellipse">
            <a:avLst/>
          </a:prstGeom>
          <a:solidFill>
            <a:srgbClr val="1A73E8"/>
          </a:solidFill>
          <a:ln w="12700">
            <a:solidFill>
              <a:srgbClr val="1A73E8"/>
            </a:solidFill>
            <a:prstDash val="solid"/>
          </a:ln>
        </p:spPr>
      </p:sp>
      <p:sp>
        <p:nvSpPr>
          <p:cNvPr id="25" name="Text 23"/>
          <p:cNvSpPr/>
          <p:nvPr/>
        </p:nvSpPr>
        <p:spPr>
          <a:xfrm>
            <a:off x="3593592" y="274320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Xu ly video dai &amp; hang trieu dong code</a:t>
            </a:r>
            <a:endParaRPr lang="en-US" sz="1100" dirty="0"/>
          </a:p>
        </p:txBody>
      </p:sp>
      <p:sp>
        <p:nvSpPr>
          <p:cNvPr id="26" name="Shape 24"/>
          <p:cNvSpPr/>
          <p:nvPr/>
        </p:nvSpPr>
        <p:spPr>
          <a:xfrm>
            <a:off x="3410712" y="3310128"/>
            <a:ext cx="118872" cy="118872"/>
          </a:xfrm>
          <a:prstGeom prst="ellipse">
            <a:avLst/>
          </a:prstGeom>
          <a:solidFill>
            <a:srgbClr val="1A73E8"/>
          </a:solidFill>
          <a:ln w="12700">
            <a:solidFill>
              <a:srgbClr val="1A73E8"/>
            </a:solidFill>
            <a:prstDash val="solid"/>
          </a:ln>
        </p:spPr>
      </p:sp>
      <p:sp>
        <p:nvSpPr>
          <p:cNvPr id="27" name="Text 25"/>
          <p:cNvSpPr/>
          <p:nvPr/>
        </p:nvSpPr>
        <p:spPr>
          <a:xfrm>
            <a:off x="3593592" y="324612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Tich hop Google Workspace (Gmail, Docs)</a:t>
            </a:r>
            <a:endParaRPr lang="en-US" sz="1100" dirty="0"/>
          </a:p>
        </p:txBody>
      </p:sp>
      <p:sp>
        <p:nvSpPr>
          <p:cNvPr id="28" name="Shape 26"/>
          <p:cNvSpPr/>
          <p:nvPr/>
        </p:nvSpPr>
        <p:spPr>
          <a:xfrm>
            <a:off x="3246120" y="4462272"/>
            <a:ext cx="2788920" cy="475488"/>
          </a:xfrm>
          <a:prstGeom prst="rect">
            <a:avLst/>
          </a:prstGeom>
          <a:solidFill>
            <a:srgbClr val="1A73E8">
              <a:alpha val="14000"/>
            </a:srgbClr>
          </a:solidFill>
          <a:ln w="12700">
            <a:solidFill>
              <a:srgbClr val="1A73E8"/>
            </a:solidFill>
            <a:prstDash val="solid"/>
          </a:ln>
        </p:spPr>
      </p:sp>
      <p:sp>
        <p:nvSpPr>
          <p:cNvPr id="29" name="Text 27"/>
          <p:cNvSpPr/>
          <p:nvPr/>
        </p:nvSpPr>
        <p:spPr>
          <a:xfrm>
            <a:off x="3337560" y="4462272"/>
            <a:ext cx="2606040" cy="475488"/>
          </a:xfrm>
          <a:prstGeom prst="rect">
            <a:avLst/>
          </a:prstGeom>
          <a:noFill/>
          <a:ln/>
        </p:spPr>
        <p:txBody>
          <a:bodyPr wrap="square" lIns="0" tIns="0" rIns="0" bIns="0" rtlCol="0" anchor="ctr"/>
          <a:lstStyle/>
          <a:p>
            <a:pPr algn="ctr" indent="0" marL="0">
              <a:buNone/>
            </a:pPr>
            <a:r>
              <a:rPr lang="en-US" sz="1100" b="1" dirty="0">
                <a:solidFill>
                  <a:srgbClr val="1A73E8"/>
                </a:solidFill>
              </a:rPr>
              <a:t>Tot nhat cho: Nghien cuu  &amp;  Du lieu</a:t>
            </a:r>
            <a:endParaRPr lang="en-US" sz="1100" dirty="0"/>
          </a:p>
        </p:txBody>
      </p:sp>
      <p:sp>
        <p:nvSpPr>
          <p:cNvPr id="30" name="Shape 28"/>
          <p:cNvSpPr/>
          <p:nvPr/>
        </p:nvSpPr>
        <p:spPr>
          <a:xfrm>
            <a:off x="6263640" y="777240"/>
            <a:ext cx="278892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31" name="Shape 29"/>
          <p:cNvSpPr/>
          <p:nvPr/>
        </p:nvSpPr>
        <p:spPr>
          <a:xfrm>
            <a:off x="6263640" y="777240"/>
            <a:ext cx="2788920" cy="1005840"/>
          </a:xfrm>
          <a:prstGeom prst="rect">
            <a:avLst/>
          </a:prstGeom>
          <a:solidFill>
            <a:srgbClr val="CF4500"/>
          </a:solidFill>
          <a:ln w="12700">
            <a:solidFill>
              <a:srgbClr val="CF4500"/>
            </a:solidFill>
            <a:prstDash val="solid"/>
          </a:ln>
        </p:spPr>
      </p:sp>
      <p:sp>
        <p:nvSpPr>
          <p:cNvPr id="32" name="Text 30"/>
          <p:cNvSpPr/>
          <p:nvPr/>
        </p:nvSpPr>
        <p:spPr>
          <a:xfrm>
            <a:off x="6355080" y="804672"/>
            <a:ext cx="260604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Claude</a:t>
            </a:r>
            <a:endParaRPr lang="en-US" sz="2400" dirty="0"/>
          </a:p>
        </p:txBody>
      </p:sp>
      <p:sp>
        <p:nvSpPr>
          <p:cNvPr id="33" name="Text 31"/>
          <p:cNvSpPr/>
          <p:nvPr/>
        </p:nvSpPr>
        <p:spPr>
          <a:xfrm>
            <a:off x="6355080" y="1353312"/>
            <a:ext cx="2606040" cy="320040"/>
          </a:xfrm>
          <a:prstGeom prst="rect">
            <a:avLst/>
          </a:prstGeom>
          <a:noFill/>
          <a:ln/>
        </p:spPr>
        <p:txBody>
          <a:bodyPr wrap="square" lIns="0" tIns="0" rIns="0" bIns="0" rtlCol="0" anchor="ctr"/>
          <a:lstStyle/>
          <a:p>
            <a:pPr algn="ctr" indent="0" marL="0">
              <a:buNone/>
            </a:pPr>
            <a:r>
              <a:rPr lang="en-US" sz="1100" dirty="0">
                <a:solidFill>
                  <a:srgbClr val="DDEEDD"/>
                </a:solidFill>
              </a:rPr>
              <a:t>Anthropic  •  v4.6</a:t>
            </a:r>
            <a:endParaRPr lang="en-US" sz="1100" dirty="0"/>
          </a:p>
        </p:txBody>
      </p:sp>
      <p:sp>
        <p:nvSpPr>
          <p:cNvPr id="34" name="Text 32"/>
          <p:cNvSpPr/>
          <p:nvPr/>
        </p:nvSpPr>
        <p:spPr>
          <a:xfrm>
            <a:off x="6400800" y="1920240"/>
            <a:ext cx="2514600" cy="274320"/>
          </a:xfrm>
          <a:prstGeom prst="rect">
            <a:avLst/>
          </a:prstGeom>
          <a:noFill/>
          <a:ln/>
        </p:spPr>
        <p:txBody>
          <a:bodyPr wrap="square" lIns="0" tIns="0" rIns="0" bIns="0" rtlCol="0" anchor="ctr"/>
          <a:lstStyle/>
          <a:p>
            <a:pPr algn="l" indent="0" marL="0">
              <a:buNone/>
            </a:pPr>
            <a:r>
              <a:rPr lang="en-US" sz="1200" b="1" dirty="0">
                <a:solidFill>
                  <a:srgbClr val="CF4500"/>
                </a:solidFill>
              </a:rPr>
              <a:t>Diem manh:</a:t>
            </a:r>
            <a:endParaRPr lang="en-US" sz="1200" dirty="0"/>
          </a:p>
        </p:txBody>
      </p:sp>
      <p:sp>
        <p:nvSpPr>
          <p:cNvPr id="35" name="Shape 33"/>
          <p:cNvSpPr/>
          <p:nvPr/>
        </p:nvSpPr>
        <p:spPr>
          <a:xfrm>
            <a:off x="6428232" y="2304288"/>
            <a:ext cx="118872" cy="118872"/>
          </a:xfrm>
          <a:prstGeom prst="ellipse">
            <a:avLst/>
          </a:prstGeom>
          <a:solidFill>
            <a:srgbClr val="CF4500"/>
          </a:solidFill>
          <a:ln w="12700">
            <a:solidFill>
              <a:srgbClr val="CF4500"/>
            </a:solidFill>
            <a:prstDash val="solid"/>
          </a:ln>
        </p:spPr>
      </p:sp>
      <p:sp>
        <p:nvSpPr>
          <p:cNvPr id="36" name="Text 34"/>
          <p:cNvSpPr/>
          <p:nvPr/>
        </p:nvSpPr>
        <p:spPr>
          <a:xfrm>
            <a:off x="6611112" y="224028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Computer Use: dieu khien man hinh may tinh</a:t>
            </a:r>
            <a:endParaRPr lang="en-US" sz="1100" dirty="0"/>
          </a:p>
        </p:txBody>
      </p:sp>
      <p:sp>
        <p:nvSpPr>
          <p:cNvPr id="37" name="Shape 35"/>
          <p:cNvSpPr/>
          <p:nvPr/>
        </p:nvSpPr>
        <p:spPr>
          <a:xfrm>
            <a:off x="6428232" y="2807208"/>
            <a:ext cx="118872" cy="118872"/>
          </a:xfrm>
          <a:prstGeom prst="ellipse">
            <a:avLst/>
          </a:prstGeom>
          <a:solidFill>
            <a:srgbClr val="CF4500"/>
          </a:solidFill>
          <a:ln w="12700">
            <a:solidFill>
              <a:srgbClr val="CF4500"/>
            </a:solidFill>
            <a:prstDash val="solid"/>
          </a:ln>
        </p:spPr>
      </p:sp>
      <p:sp>
        <p:nvSpPr>
          <p:cNvPr id="38" name="Text 36"/>
          <p:cNvSpPr/>
          <p:nvPr/>
        </p:nvSpPr>
        <p:spPr>
          <a:xfrm>
            <a:off x="6611112" y="274320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Viet lach van phong tu nhien nhat</a:t>
            </a:r>
            <a:endParaRPr lang="en-US" sz="1100" dirty="0"/>
          </a:p>
        </p:txBody>
      </p:sp>
      <p:sp>
        <p:nvSpPr>
          <p:cNvPr id="39" name="Shape 37"/>
          <p:cNvSpPr/>
          <p:nvPr/>
        </p:nvSpPr>
        <p:spPr>
          <a:xfrm>
            <a:off x="6428232" y="3310128"/>
            <a:ext cx="118872" cy="118872"/>
          </a:xfrm>
          <a:prstGeom prst="ellipse">
            <a:avLst/>
          </a:prstGeom>
          <a:solidFill>
            <a:srgbClr val="CF4500"/>
          </a:solidFill>
          <a:ln w="12700">
            <a:solidFill>
              <a:srgbClr val="CF4500"/>
            </a:solidFill>
            <a:prstDash val="solid"/>
          </a:ln>
        </p:spPr>
      </p:sp>
      <p:sp>
        <p:nvSpPr>
          <p:cNvPr id="40" name="Text 38"/>
          <p:cNvSpPr/>
          <p:nvPr/>
        </p:nvSpPr>
        <p:spPr>
          <a:xfrm>
            <a:off x="6611112" y="3246120"/>
            <a:ext cx="2331720" cy="384048"/>
          </a:xfrm>
          <a:prstGeom prst="rect">
            <a:avLst/>
          </a:prstGeom>
          <a:noFill/>
          <a:ln/>
        </p:spPr>
        <p:txBody>
          <a:bodyPr wrap="square" lIns="0" tIns="0" rIns="0" bIns="0" rtlCol="0" anchor="ctr"/>
          <a:lstStyle/>
          <a:p>
            <a:pPr algn="l" indent="0" marL="0">
              <a:buNone/>
            </a:pPr>
            <a:r>
              <a:rPr lang="en-US" sz="1100" dirty="0">
                <a:solidFill>
                  <a:srgbClr val="1E293B"/>
                </a:solidFill>
              </a:rPr>
              <a:t>An toan du lieu, bao mat cao</a:t>
            </a:r>
            <a:endParaRPr lang="en-US" sz="1100" dirty="0"/>
          </a:p>
        </p:txBody>
      </p:sp>
      <p:sp>
        <p:nvSpPr>
          <p:cNvPr id="41" name="Shape 39"/>
          <p:cNvSpPr/>
          <p:nvPr/>
        </p:nvSpPr>
        <p:spPr>
          <a:xfrm>
            <a:off x="6263640" y="4462272"/>
            <a:ext cx="2788920" cy="475488"/>
          </a:xfrm>
          <a:prstGeom prst="rect">
            <a:avLst/>
          </a:prstGeom>
          <a:solidFill>
            <a:srgbClr val="CF4500">
              <a:alpha val="14000"/>
            </a:srgbClr>
          </a:solidFill>
          <a:ln w="12700">
            <a:solidFill>
              <a:srgbClr val="CF4500"/>
            </a:solidFill>
            <a:prstDash val="solid"/>
          </a:ln>
        </p:spPr>
      </p:sp>
      <p:sp>
        <p:nvSpPr>
          <p:cNvPr id="42" name="Text 40"/>
          <p:cNvSpPr/>
          <p:nvPr/>
        </p:nvSpPr>
        <p:spPr>
          <a:xfrm>
            <a:off x="6355080" y="4462272"/>
            <a:ext cx="2606040" cy="475488"/>
          </a:xfrm>
          <a:prstGeom prst="rect">
            <a:avLst/>
          </a:prstGeom>
          <a:noFill/>
          <a:ln/>
        </p:spPr>
        <p:txBody>
          <a:bodyPr wrap="square" lIns="0" tIns="0" rIns="0" bIns="0" rtlCol="0" anchor="ctr"/>
          <a:lstStyle/>
          <a:p>
            <a:pPr algn="ctr" indent="0" marL="0">
              <a:buNone/>
            </a:pPr>
            <a:r>
              <a:rPr lang="en-US" sz="1100" b="1" dirty="0">
                <a:solidFill>
                  <a:srgbClr val="CF4500"/>
                </a:solidFill>
              </a:rPr>
              <a:t>Tot nhat cho: Viet lach  &amp;  Tu dong hoa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0B7A5E"/>
          </a:solidFill>
          <a:ln w="12700">
            <a:solidFill>
              <a:srgbClr val="0B7A5E"/>
            </a:solidFill>
            <a:prstDash val="solid"/>
          </a:ln>
        </p:spPr>
      </p:sp>
      <p:sp>
        <p:nvSpPr>
          <p:cNvPr id="3" name="Text 1"/>
          <p:cNvSpPr/>
          <p:nvPr/>
        </p:nvSpPr>
        <p:spPr>
          <a:xfrm>
            <a:off x="91440" y="640080"/>
            <a:ext cx="3108960" cy="1554480"/>
          </a:xfrm>
          <a:prstGeom prst="rect">
            <a:avLst/>
          </a:prstGeom>
          <a:noFill/>
          <a:ln/>
        </p:spPr>
        <p:txBody>
          <a:bodyPr wrap="square" rtlCol="0" anchor="ctr"/>
          <a:lstStyle/>
          <a:p>
            <a:pPr algn="ctr" indent="0" marL="0">
              <a:buNone/>
            </a:pPr>
            <a:r>
              <a:rPr lang="en-US" sz="4600" b="1" dirty="0">
                <a:solidFill>
                  <a:srgbClr val="FFFFFF"/>
                </a:solidFill>
                <a:latin typeface="Arial Black" pitchFamily="34" charset="0"/>
                <a:ea typeface="Arial Black" pitchFamily="34" charset="-122"/>
                <a:cs typeface="Arial Black" pitchFamily="34" charset="-120"/>
              </a:rPr>
              <a:t>Chat</a:t>
            </a:r>
            <a:endParaRPr lang="en-US" sz="4600" dirty="0"/>
          </a:p>
          <a:p>
            <a:pPr algn="ctr" indent="0" marL="0">
              <a:buNone/>
            </a:pPr>
            <a:r>
              <a:rPr lang="en-US" sz="4600" b="1" dirty="0">
                <a:solidFill>
                  <a:srgbClr val="FFFFFF"/>
                </a:solidFill>
                <a:latin typeface="Arial Black" pitchFamily="34" charset="0"/>
                <a:ea typeface="Arial Black" pitchFamily="34" charset="-122"/>
                <a:cs typeface="Arial Black" pitchFamily="34" charset="-120"/>
              </a:rPr>
              <a:t>GPT</a:t>
            </a:r>
            <a:endParaRPr lang="en-US" sz="4600" dirty="0"/>
          </a:p>
        </p:txBody>
      </p:sp>
      <p:sp>
        <p:nvSpPr>
          <p:cNvPr id="4" name="Text 2"/>
          <p:cNvSpPr/>
          <p:nvPr/>
        </p:nvSpPr>
        <p:spPr>
          <a:xfrm>
            <a:off x="91440" y="2286000"/>
            <a:ext cx="3108960" cy="365760"/>
          </a:xfrm>
          <a:prstGeom prst="rect">
            <a:avLst/>
          </a:prstGeom>
          <a:noFill/>
          <a:ln/>
        </p:spPr>
        <p:txBody>
          <a:bodyPr wrap="square" rtlCol="0" anchor="ctr"/>
          <a:lstStyle/>
          <a:p>
            <a:pPr algn="ctr" indent="0" marL="0">
              <a:buNone/>
            </a:pPr>
            <a:r>
              <a:rPr lang="en-US" sz="1600" dirty="0">
                <a:solidFill>
                  <a:srgbClr val="00C9A7"/>
                </a:solidFill>
              </a:rPr>
              <a:t>OpenAI</a:t>
            </a:r>
            <a:endParaRPr lang="en-US" sz="1600" dirty="0"/>
          </a:p>
        </p:txBody>
      </p:sp>
      <p:sp>
        <p:nvSpPr>
          <p:cNvPr id="5" name="Text 3"/>
          <p:cNvSpPr/>
          <p:nvPr/>
        </p:nvSpPr>
        <p:spPr>
          <a:xfrm>
            <a:off x="91440" y="2633472"/>
            <a:ext cx="3108960" cy="320040"/>
          </a:xfrm>
          <a:prstGeom prst="rect">
            <a:avLst/>
          </a:prstGeom>
          <a:noFill/>
          <a:ln/>
        </p:spPr>
        <p:txBody>
          <a:bodyPr wrap="square" rtlCol="0" anchor="ctr"/>
          <a:lstStyle/>
          <a:p>
            <a:pPr algn="ctr" indent="0" marL="0">
              <a:buNone/>
            </a:pPr>
            <a:r>
              <a:rPr lang="en-US" sz="1300" dirty="0">
                <a:solidFill>
                  <a:srgbClr val="A8D8C8"/>
                </a:solidFill>
              </a:rPr>
              <a:t>GPT-5.4</a:t>
            </a:r>
            <a:endParaRPr lang="en-US" sz="1300" dirty="0"/>
          </a:p>
        </p:txBody>
      </p:sp>
      <p:sp>
        <p:nvSpPr>
          <p:cNvPr id="6" name="Shape 4"/>
          <p:cNvSpPr/>
          <p:nvPr/>
        </p:nvSpPr>
        <p:spPr>
          <a:xfrm>
            <a:off x="256032" y="3246120"/>
            <a:ext cx="2779776" cy="566928"/>
          </a:xfrm>
          <a:prstGeom prst="rect">
            <a:avLst/>
          </a:prstGeom>
          <a:solidFill>
            <a:srgbClr val="10A37F">
              <a:alpha val="72000"/>
            </a:srgbClr>
          </a:solidFill>
          <a:ln w="12700">
            <a:solidFill>
              <a:srgbClr val="00C9A7"/>
            </a:solidFill>
            <a:prstDash val="solid"/>
          </a:ln>
        </p:spPr>
      </p:sp>
      <p:sp>
        <p:nvSpPr>
          <p:cNvPr id="7" name="Text 5"/>
          <p:cNvSpPr/>
          <p:nvPr/>
        </p:nvSpPr>
        <p:spPr>
          <a:xfrm>
            <a:off x="256032" y="3246120"/>
            <a:ext cx="2779776" cy="566928"/>
          </a:xfrm>
          <a:prstGeom prst="rect">
            <a:avLst/>
          </a:prstGeom>
          <a:noFill/>
          <a:ln/>
        </p:spPr>
        <p:txBody>
          <a:bodyPr wrap="square" rtlCol="0" anchor="ctr"/>
          <a:lstStyle/>
          <a:p>
            <a:pPr algn="ctr" indent="0" marL="0">
              <a:buNone/>
            </a:pPr>
            <a:r>
              <a:rPr lang="en-US" sz="1200" dirty="0">
                <a:solidFill>
                  <a:srgbClr val="FFFFFF"/>
                </a:solidFill>
              </a:rPr>
              <a:t>200M+ nguoi dung toan cau</a:t>
            </a:r>
            <a:endParaRPr lang="en-US" sz="1200" dirty="0"/>
          </a:p>
        </p:txBody>
      </p:sp>
      <p:sp>
        <p:nvSpPr>
          <p:cNvPr id="8" name="Shape 6"/>
          <p:cNvSpPr/>
          <p:nvPr/>
        </p:nvSpPr>
        <p:spPr>
          <a:xfrm>
            <a:off x="256032" y="3950208"/>
            <a:ext cx="2779776" cy="566928"/>
          </a:xfrm>
          <a:prstGeom prst="rect">
            <a:avLst/>
          </a:prstGeom>
          <a:solidFill>
            <a:srgbClr val="10A37F">
              <a:alpha val="72000"/>
            </a:srgbClr>
          </a:solidFill>
          <a:ln w="12700">
            <a:solidFill>
              <a:srgbClr val="00C9A7"/>
            </a:solidFill>
            <a:prstDash val="solid"/>
          </a:ln>
        </p:spPr>
      </p:sp>
      <p:sp>
        <p:nvSpPr>
          <p:cNvPr id="9" name="Text 7"/>
          <p:cNvSpPr/>
          <p:nvPr/>
        </p:nvSpPr>
        <p:spPr>
          <a:xfrm>
            <a:off x="256032" y="3950208"/>
            <a:ext cx="2779776" cy="566928"/>
          </a:xfrm>
          <a:prstGeom prst="rect">
            <a:avLst/>
          </a:prstGeom>
          <a:noFill/>
          <a:ln/>
        </p:spPr>
        <p:txBody>
          <a:bodyPr wrap="square" rtlCol="0" anchor="ctr"/>
          <a:lstStyle/>
          <a:p>
            <a:pPr algn="ctr" indent="0" marL="0">
              <a:buNone/>
            </a:pPr>
            <a:r>
              <a:rPr lang="en-US" sz="1200" dirty="0">
                <a:solidFill>
                  <a:srgbClr val="FFFFFF"/>
                </a:solidFill>
              </a:rPr>
              <a:t>Tich hop Sora Video AI</a:t>
            </a:r>
            <a:endParaRPr lang="en-US" sz="1200" dirty="0"/>
          </a:p>
        </p:txBody>
      </p:sp>
      <p:sp>
        <p:nvSpPr>
          <p:cNvPr id="10" name="Text 8"/>
          <p:cNvSpPr/>
          <p:nvPr/>
        </p:nvSpPr>
        <p:spPr>
          <a:xfrm>
            <a:off x="3520440" y="164592"/>
            <a:ext cx="5303520" cy="347472"/>
          </a:xfrm>
          <a:prstGeom prst="rect">
            <a:avLst/>
          </a:prstGeom>
          <a:noFill/>
          <a:ln/>
        </p:spPr>
        <p:txBody>
          <a:bodyPr wrap="square" lIns="0" tIns="0" rIns="0" bIns="0" rtlCol="0" anchor="ctr"/>
          <a:lstStyle/>
          <a:p>
            <a:pPr algn="l" indent="0" marL="0">
              <a:buNone/>
            </a:pPr>
            <a:r>
              <a:rPr lang="en-US" sz="1300" dirty="0">
                <a:solidFill>
                  <a:srgbClr val="64748B"/>
                </a:solidFill>
              </a:rPr>
              <a:t>Tinh nang noi bat 2026</a:t>
            </a:r>
            <a:endParaRPr lang="en-US" sz="1300" dirty="0"/>
          </a:p>
        </p:txBody>
      </p:sp>
      <p:sp>
        <p:nvSpPr>
          <p:cNvPr id="11" name="Text 9"/>
          <p:cNvSpPr/>
          <p:nvPr/>
        </p:nvSpPr>
        <p:spPr>
          <a:xfrm>
            <a:off x="3520440" y="484632"/>
            <a:ext cx="5303520" cy="502920"/>
          </a:xfrm>
          <a:prstGeom prst="rect">
            <a:avLst/>
          </a:prstGeom>
          <a:noFill/>
          <a:ln/>
        </p:spPr>
        <p:txBody>
          <a:bodyPr wrap="square" lIns="0" tIns="0" rIns="0" bIns="0" rtlCol="0" anchor="ctr"/>
          <a:lstStyle/>
          <a:p>
            <a:pPr algn="l" indent="0" marL="0">
              <a:buNone/>
            </a:pPr>
            <a:r>
              <a:rPr lang="en-US" sz="2400" b="1" dirty="0">
                <a:solidFill>
                  <a:srgbClr val="1E293B"/>
                </a:solidFill>
                <a:latin typeface="Calibri" pitchFamily="34" charset="0"/>
                <a:ea typeface="Calibri" pitchFamily="34" charset="-122"/>
                <a:cs typeface="Calibri" pitchFamily="34" charset="-120"/>
              </a:rPr>
              <a:t>ChatGPT — Diem manh</a:t>
            </a:r>
            <a:endParaRPr lang="en-US" sz="2400" dirty="0"/>
          </a:p>
        </p:txBody>
      </p:sp>
      <p:sp>
        <p:nvSpPr>
          <p:cNvPr id="12" name="Shape 10"/>
          <p:cNvSpPr/>
          <p:nvPr/>
        </p:nvSpPr>
        <p:spPr>
          <a:xfrm>
            <a:off x="3520440" y="1033272"/>
            <a:ext cx="5303520" cy="36576"/>
          </a:xfrm>
          <a:prstGeom prst="rect">
            <a:avLst/>
          </a:prstGeom>
          <a:solidFill>
            <a:srgbClr val="CBD5E1"/>
          </a:solidFill>
          <a:ln w="12700">
            <a:solidFill>
              <a:srgbClr val="CBD5E1"/>
            </a:solidFill>
            <a:prstDash val="solid"/>
          </a:ln>
        </p:spPr>
      </p:sp>
      <p:sp>
        <p:nvSpPr>
          <p:cNvPr id="13" name="Shape 11"/>
          <p:cNvSpPr/>
          <p:nvPr/>
        </p:nvSpPr>
        <p:spPr>
          <a:xfrm>
            <a:off x="3520440" y="1207008"/>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4" name="Shape 12"/>
          <p:cNvSpPr/>
          <p:nvPr/>
        </p:nvSpPr>
        <p:spPr>
          <a:xfrm>
            <a:off x="3520440" y="1207008"/>
            <a:ext cx="82296" cy="1097280"/>
          </a:xfrm>
          <a:prstGeom prst="rect">
            <a:avLst/>
          </a:prstGeom>
          <a:solidFill>
            <a:srgbClr val="10A37F"/>
          </a:solidFill>
          <a:ln w="12700">
            <a:solidFill>
              <a:srgbClr val="10A37F"/>
            </a:solidFill>
            <a:prstDash val="solid"/>
          </a:ln>
        </p:spPr>
      </p:sp>
      <p:sp>
        <p:nvSpPr>
          <p:cNvPr id="15" name="Text 13"/>
          <p:cNvSpPr/>
          <p:nvPr/>
        </p:nvSpPr>
        <p:spPr>
          <a:xfrm>
            <a:off x="3703320" y="1298448"/>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Sora Integration</a:t>
            </a:r>
            <a:endParaRPr lang="en-US" sz="1500" dirty="0"/>
          </a:p>
        </p:txBody>
      </p:sp>
      <p:sp>
        <p:nvSpPr>
          <p:cNvPr id="16" name="Text 14"/>
          <p:cNvSpPr/>
          <p:nvPr/>
        </p:nvSpPr>
        <p:spPr>
          <a:xfrm>
            <a:off x="3703320" y="1645920"/>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Tao video truc tiep tu hoi thoai. Mo ta bang van ban, AI tu dong tao video chuyen nghiep cho quang cao, noi dung so trong vai phut.</a:t>
            </a:r>
            <a:endParaRPr lang="en-US" sz="1200" dirty="0"/>
          </a:p>
        </p:txBody>
      </p:sp>
      <p:sp>
        <p:nvSpPr>
          <p:cNvPr id="17" name="Shape 15"/>
          <p:cNvSpPr/>
          <p:nvPr/>
        </p:nvSpPr>
        <p:spPr>
          <a:xfrm>
            <a:off x="3520440" y="2468880"/>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8" name="Shape 16"/>
          <p:cNvSpPr/>
          <p:nvPr/>
        </p:nvSpPr>
        <p:spPr>
          <a:xfrm>
            <a:off x="3520440" y="2468880"/>
            <a:ext cx="82296" cy="1097280"/>
          </a:xfrm>
          <a:prstGeom prst="rect">
            <a:avLst/>
          </a:prstGeom>
          <a:solidFill>
            <a:srgbClr val="10A37F"/>
          </a:solidFill>
          <a:ln w="12700">
            <a:solidFill>
              <a:srgbClr val="10A37F"/>
            </a:solidFill>
            <a:prstDash val="solid"/>
          </a:ln>
        </p:spPr>
      </p:sp>
      <p:sp>
        <p:nvSpPr>
          <p:cNvPr id="19" name="Text 17"/>
          <p:cNvSpPr/>
          <p:nvPr/>
        </p:nvSpPr>
        <p:spPr>
          <a:xfrm>
            <a:off x="3703320" y="2560320"/>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Advanced Voice Mode</a:t>
            </a:r>
            <a:endParaRPr lang="en-US" sz="1500" dirty="0"/>
          </a:p>
        </p:txBody>
      </p:sp>
      <p:sp>
        <p:nvSpPr>
          <p:cNvPr id="20" name="Text 18"/>
          <p:cNvSpPr/>
          <p:nvPr/>
        </p:nvSpPr>
        <p:spPr>
          <a:xfrm>
            <a:off x="3703320" y="2907792"/>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Giao tiep bang giong noi khong co do tre, nhan dien cam xuc qua am dieu — nhu dang noi chuyen voi nguoi that, rat tu nhien.</a:t>
            </a:r>
            <a:endParaRPr lang="en-US" sz="1200" dirty="0"/>
          </a:p>
        </p:txBody>
      </p:sp>
      <p:sp>
        <p:nvSpPr>
          <p:cNvPr id="21" name="Shape 19"/>
          <p:cNvSpPr/>
          <p:nvPr/>
        </p:nvSpPr>
        <p:spPr>
          <a:xfrm>
            <a:off x="3520440" y="3730752"/>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22" name="Shape 20"/>
          <p:cNvSpPr/>
          <p:nvPr/>
        </p:nvSpPr>
        <p:spPr>
          <a:xfrm>
            <a:off x="3520440" y="3730752"/>
            <a:ext cx="82296" cy="1097280"/>
          </a:xfrm>
          <a:prstGeom prst="rect">
            <a:avLst/>
          </a:prstGeom>
          <a:solidFill>
            <a:srgbClr val="10A37F"/>
          </a:solidFill>
          <a:ln w="12700">
            <a:solidFill>
              <a:srgbClr val="10A37F"/>
            </a:solidFill>
            <a:prstDash val="solid"/>
          </a:ln>
        </p:spPr>
      </p:sp>
      <p:sp>
        <p:nvSpPr>
          <p:cNvPr id="23" name="Text 21"/>
          <p:cNvSpPr/>
          <p:nvPr/>
        </p:nvSpPr>
        <p:spPr>
          <a:xfrm>
            <a:off x="3703320" y="3822192"/>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Suy Luan Logic Xuat Sac</a:t>
            </a:r>
            <a:endParaRPr lang="en-US" sz="1500" dirty="0"/>
          </a:p>
        </p:txBody>
      </p:sp>
      <p:sp>
        <p:nvSpPr>
          <p:cNvPr id="24" name="Text 22"/>
          <p:cNvSpPr/>
          <p:nvPr/>
        </p:nvSpPr>
        <p:spPr>
          <a:xfrm>
            <a:off x="3703320" y="4169664"/>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Tot nhat cho bai toan lap ke hoach, phan tich chien luoc, breakdown cong viec phuc tap thanh cac buoc ro rang, co the thuc hien ngay.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056B8"/>
          </a:solidFill>
          <a:ln w="12700">
            <a:solidFill>
              <a:srgbClr val="1056B8"/>
            </a:solidFill>
            <a:prstDash val="solid"/>
          </a:ln>
        </p:spPr>
      </p:sp>
      <p:sp>
        <p:nvSpPr>
          <p:cNvPr id="3" name="Text 1"/>
          <p:cNvSpPr/>
          <p:nvPr/>
        </p:nvSpPr>
        <p:spPr>
          <a:xfrm>
            <a:off x="91440" y="822960"/>
            <a:ext cx="3108960" cy="1371600"/>
          </a:xfrm>
          <a:prstGeom prst="rect">
            <a:avLst/>
          </a:prstGeom>
          <a:noFill/>
          <a:ln/>
        </p:spPr>
        <p:txBody>
          <a:bodyPr wrap="square" rtlCol="0" anchor="ctr"/>
          <a:lstStyle/>
          <a:p>
            <a:pPr algn="ctr" indent="0" marL="0">
              <a:buNone/>
            </a:pPr>
            <a:r>
              <a:rPr lang="en-US" sz="4200" b="1" dirty="0">
                <a:solidFill>
                  <a:srgbClr val="FFFFFF"/>
                </a:solidFill>
                <a:latin typeface="Arial Black" pitchFamily="34" charset="0"/>
                <a:ea typeface="Arial Black" pitchFamily="34" charset="-122"/>
                <a:cs typeface="Arial Black" pitchFamily="34" charset="-120"/>
              </a:rPr>
              <a:t>Gemini</a:t>
            </a:r>
            <a:endParaRPr lang="en-US" sz="4200" dirty="0"/>
          </a:p>
        </p:txBody>
      </p:sp>
      <p:sp>
        <p:nvSpPr>
          <p:cNvPr id="4" name="Text 2"/>
          <p:cNvSpPr/>
          <p:nvPr/>
        </p:nvSpPr>
        <p:spPr>
          <a:xfrm>
            <a:off x="91440" y="2267712"/>
            <a:ext cx="3108960" cy="365760"/>
          </a:xfrm>
          <a:prstGeom prst="rect">
            <a:avLst/>
          </a:prstGeom>
          <a:noFill/>
          <a:ln/>
        </p:spPr>
        <p:txBody>
          <a:bodyPr wrap="square" rtlCol="0" anchor="ctr"/>
          <a:lstStyle/>
          <a:p>
            <a:pPr algn="ctr" indent="0" marL="0">
              <a:buNone/>
            </a:pPr>
            <a:r>
              <a:rPr lang="en-US" sz="1600" dirty="0">
                <a:solidFill>
                  <a:srgbClr val="A8C4FF"/>
                </a:solidFill>
              </a:rPr>
              <a:t>Google</a:t>
            </a:r>
            <a:endParaRPr lang="en-US" sz="1600" dirty="0"/>
          </a:p>
        </p:txBody>
      </p:sp>
      <p:sp>
        <p:nvSpPr>
          <p:cNvPr id="5" name="Text 3"/>
          <p:cNvSpPr/>
          <p:nvPr/>
        </p:nvSpPr>
        <p:spPr>
          <a:xfrm>
            <a:off x="91440" y="2615184"/>
            <a:ext cx="3108960" cy="320040"/>
          </a:xfrm>
          <a:prstGeom prst="rect">
            <a:avLst/>
          </a:prstGeom>
          <a:noFill/>
          <a:ln/>
        </p:spPr>
        <p:txBody>
          <a:bodyPr wrap="square" rtlCol="0" anchor="ctr"/>
          <a:lstStyle/>
          <a:p>
            <a:pPr algn="ctr" indent="0" marL="0">
              <a:buNone/>
            </a:pPr>
            <a:r>
              <a:rPr lang="en-US" sz="1200" dirty="0">
                <a:solidFill>
                  <a:srgbClr val="88AADE"/>
                </a:solidFill>
              </a:rPr>
              <a:t>v3.1  •  Deep Research</a:t>
            </a:r>
            <a:endParaRPr lang="en-US" sz="1200" dirty="0"/>
          </a:p>
        </p:txBody>
      </p:sp>
      <p:sp>
        <p:nvSpPr>
          <p:cNvPr id="6" name="Shape 4"/>
          <p:cNvSpPr/>
          <p:nvPr/>
        </p:nvSpPr>
        <p:spPr>
          <a:xfrm>
            <a:off x="256032" y="3246120"/>
            <a:ext cx="2779776" cy="566928"/>
          </a:xfrm>
          <a:prstGeom prst="rect">
            <a:avLst/>
          </a:prstGeom>
          <a:solidFill>
            <a:srgbClr val="1A73E8">
              <a:alpha val="72000"/>
            </a:srgbClr>
          </a:solidFill>
          <a:ln w="12700">
            <a:solidFill>
              <a:srgbClr val="A8C4FF"/>
            </a:solidFill>
            <a:prstDash val="solid"/>
          </a:ln>
        </p:spPr>
      </p:sp>
      <p:sp>
        <p:nvSpPr>
          <p:cNvPr id="7" name="Text 5"/>
          <p:cNvSpPr/>
          <p:nvPr/>
        </p:nvSpPr>
        <p:spPr>
          <a:xfrm>
            <a:off x="256032" y="3246120"/>
            <a:ext cx="2779776" cy="566928"/>
          </a:xfrm>
          <a:prstGeom prst="rect">
            <a:avLst/>
          </a:prstGeom>
          <a:noFill/>
          <a:ln/>
        </p:spPr>
        <p:txBody>
          <a:bodyPr wrap="square" rtlCol="0" anchor="ctr"/>
          <a:lstStyle/>
          <a:p>
            <a:pPr algn="ctr" indent="0" marL="0">
              <a:buNone/>
            </a:pPr>
            <a:r>
              <a:rPr lang="en-US" sz="1200" dirty="0">
                <a:solidFill>
                  <a:srgbClr val="FFFFFF"/>
                </a:solidFill>
              </a:rPr>
              <a:t>Tich hop Google Workspace</a:t>
            </a:r>
            <a:endParaRPr lang="en-US" sz="1200" dirty="0"/>
          </a:p>
        </p:txBody>
      </p:sp>
      <p:sp>
        <p:nvSpPr>
          <p:cNvPr id="8" name="Shape 6"/>
          <p:cNvSpPr/>
          <p:nvPr/>
        </p:nvSpPr>
        <p:spPr>
          <a:xfrm>
            <a:off x="256032" y="3950208"/>
            <a:ext cx="2779776" cy="566928"/>
          </a:xfrm>
          <a:prstGeom prst="rect">
            <a:avLst/>
          </a:prstGeom>
          <a:solidFill>
            <a:srgbClr val="1A73E8">
              <a:alpha val="72000"/>
            </a:srgbClr>
          </a:solidFill>
          <a:ln w="12700">
            <a:solidFill>
              <a:srgbClr val="A8C4FF"/>
            </a:solidFill>
            <a:prstDash val="solid"/>
          </a:ln>
        </p:spPr>
      </p:sp>
      <p:sp>
        <p:nvSpPr>
          <p:cNvPr id="9" name="Text 7"/>
          <p:cNvSpPr/>
          <p:nvPr/>
        </p:nvSpPr>
        <p:spPr>
          <a:xfrm>
            <a:off x="256032" y="3950208"/>
            <a:ext cx="2779776" cy="566928"/>
          </a:xfrm>
          <a:prstGeom prst="rect">
            <a:avLst/>
          </a:prstGeom>
          <a:noFill/>
          <a:ln/>
        </p:spPr>
        <p:txBody>
          <a:bodyPr wrap="square" rtlCol="0" anchor="ctr"/>
          <a:lstStyle/>
          <a:p>
            <a:pPr algn="ctr" indent="0" marL="0">
              <a:buNone/>
            </a:pPr>
            <a:r>
              <a:rPr lang="en-US" sz="1200" dirty="0">
                <a:solidFill>
                  <a:srgbClr val="FFFFFF"/>
                </a:solidFill>
              </a:rPr>
              <a:t>Real-time Web Search</a:t>
            </a:r>
            <a:endParaRPr lang="en-US" sz="1200" dirty="0"/>
          </a:p>
        </p:txBody>
      </p:sp>
      <p:sp>
        <p:nvSpPr>
          <p:cNvPr id="10" name="Text 8"/>
          <p:cNvSpPr/>
          <p:nvPr/>
        </p:nvSpPr>
        <p:spPr>
          <a:xfrm>
            <a:off x="3520440" y="164592"/>
            <a:ext cx="5303520" cy="347472"/>
          </a:xfrm>
          <a:prstGeom prst="rect">
            <a:avLst/>
          </a:prstGeom>
          <a:noFill/>
          <a:ln/>
        </p:spPr>
        <p:txBody>
          <a:bodyPr wrap="square" lIns="0" tIns="0" rIns="0" bIns="0" rtlCol="0" anchor="ctr"/>
          <a:lstStyle/>
          <a:p>
            <a:pPr algn="l" indent="0" marL="0">
              <a:buNone/>
            </a:pPr>
            <a:r>
              <a:rPr lang="en-US" sz="1300" dirty="0">
                <a:solidFill>
                  <a:srgbClr val="64748B"/>
                </a:solidFill>
              </a:rPr>
              <a:t>Tinh nang noi bat 2026</a:t>
            </a:r>
            <a:endParaRPr lang="en-US" sz="1300" dirty="0"/>
          </a:p>
        </p:txBody>
      </p:sp>
      <p:sp>
        <p:nvSpPr>
          <p:cNvPr id="11" name="Text 9"/>
          <p:cNvSpPr/>
          <p:nvPr/>
        </p:nvSpPr>
        <p:spPr>
          <a:xfrm>
            <a:off x="3520440" y="484632"/>
            <a:ext cx="5303520" cy="502920"/>
          </a:xfrm>
          <a:prstGeom prst="rect">
            <a:avLst/>
          </a:prstGeom>
          <a:noFill/>
          <a:ln/>
        </p:spPr>
        <p:txBody>
          <a:bodyPr wrap="square" lIns="0" tIns="0" rIns="0" bIns="0" rtlCol="0" anchor="ctr"/>
          <a:lstStyle/>
          <a:p>
            <a:pPr algn="l" indent="0" marL="0">
              <a:buNone/>
            </a:pPr>
            <a:r>
              <a:rPr lang="en-US" sz="2400" b="1" dirty="0">
                <a:solidFill>
                  <a:srgbClr val="1E293B"/>
                </a:solidFill>
                <a:latin typeface="Calibri" pitchFamily="34" charset="0"/>
                <a:ea typeface="Calibri" pitchFamily="34" charset="-122"/>
                <a:cs typeface="Calibri" pitchFamily="34" charset="-120"/>
              </a:rPr>
              <a:t>Gemini — Diem manh</a:t>
            </a:r>
            <a:endParaRPr lang="en-US" sz="2400" dirty="0"/>
          </a:p>
        </p:txBody>
      </p:sp>
      <p:sp>
        <p:nvSpPr>
          <p:cNvPr id="12" name="Shape 10"/>
          <p:cNvSpPr/>
          <p:nvPr/>
        </p:nvSpPr>
        <p:spPr>
          <a:xfrm>
            <a:off x="3520440" y="1033272"/>
            <a:ext cx="5303520" cy="36576"/>
          </a:xfrm>
          <a:prstGeom prst="rect">
            <a:avLst/>
          </a:prstGeom>
          <a:solidFill>
            <a:srgbClr val="CBD5E1"/>
          </a:solidFill>
          <a:ln w="12700">
            <a:solidFill>
              <a:srgbClr val="CBD5E1"/>
            </a:solidFill>
            <a:prstDash val="solid"/>
          </a:ln>
        </p:spPr>
      </p:sp>
      <p:sp>
        <p:nvSpPr>
          <p:cNvPr id="13" name="Shape 11"/>
          <p:cNvSpPr/>
          <p:nvPr/>
        </p:nvSpPr>
        <p:spPr>
          <a:xfrm>
            <a:off x="3520440" y="1207008"/>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4" name="Shape 12"/>
          <p:cNvSpPr/>
          <p:nvPr/>
        </p:nvSpPr>
        <p:spPr>
          <a:xfrm>
            <a:off x="3520440" y="1207008"/>
            <a:ext cx="82296" cy="1097280"/>
          </a:xfrm>
          <a:prstGeom prst="rect">
            <a:avLst/>
          </a:prstGeom>
          <a:solidFill>
            <a:srgbClr val="1A73E8"/>
          </a:solidFill>
          <a:ln w="12700">
            <a:solidFill>
              <a:srgbClr val="1A73E8"/>
            </a:solidFill>
            <a:prstDash val="solid"/>
          </a:ln>
        </p:spPr>
      </p:sp>
      <p:sp>
        <p:nvSpPr>
          <p:cNvPr id="15" name="Text 13"/>
          <p:cNvSpPr/>
          <p:nvPr/>
        </p:nvSpPr>
        <p:spPr>
          <a:xfrm>
            <a:off x="3703320" y="1298448"/>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Deep Research</a:t>
            </a:r>
            <a:endParaRPr lang="en-US" sz="1500" dirty="0"/>
          </a:p>
        </p:txBody>
      </p:sp>
      <p:sp>
        <p:nvSpPr>
          <p:cNvPr id="16" name="Text 14"/>
          <p:cNvSpPr/>
          <p:nvPr/>
        </p:nvSpPr>
        <p:spPr>
          <a:xfrm>
            <a:off x="3703320" y="1645920"/>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Tu dong tra cuu hang tram nguon web de tong hop bao cao chuyen sau. Tiet kiem hang gio nghien cuu thu cong — chi nhap chu de, nhan bao cao day du.</a:t>
            </a:r>
            <a:endParaRPr lang="en-US" sz="1200" dirty="0"/>
          </a:p>
        </p:txBody>
      </p:sp>
      <p:sp>
        <p:nvSpPr>
          <p:cNvPr id="17" name="Shape 15"/>
          <p:cNvSpPr/>
          <p:nvPr/>
        </p:nvSpPr>
        <p:spPr>
          <a:xfrm>
            <a:off x="3520440" y="2468880"/>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8" name="Shape 16"/>
          <p:cNvSpPr/>
          <p:nvPr/>
        </p:nvSpPr>
        <p:spPr>
          <a:xfrm>
            <a:off x="3520440" y="2468880"/>
            <a:ext cx="82296" cy="1097280"/>
          </a:xfrm>
          <a:prstGeom prst="rect">
            <a:avLst/>
          </a:prstGeom>
          <a:solidFill>
            <a:srgbClr val="1A73E8"/>
          </a:solidFill>
          <a:ln w="12700">
            <a:solidFill>
              <a:srgbClr val="1A73E8"/>
            </a:solidFill>
            <a:prstDash val="solid"/>
          </a:ln>
        </p:spPr>
      </p:sp>
      <p:sp>
        <p:nvSpPr>
          <p:cNvPr id="19" name="Text 17"/>
          <p:cNvSpPr/>
          <p:nvPr/>
        </p:nvSpPr>
        <p:spPr>
          <a:xfrm>
            <a:off x="3703320" y="2560320"/>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Multimodal Context Sieu Lon</a:t>
            </a:r>
            <a:endParaRPr lang="en-US" sz="1500" dirty="0"/>
          </a:p>
        </p:txBody>
      </p:sp>
      <p:sp>
        <p:nvSpPr>
          <p:cNvPr id="20" name="Text 18"/>
          <p:cNvSpPr/>
          <p:nvPr/>
        </p:nvSpPr>
        <p:spPr>
          <a:xfrm>
            <a:off x="3703320" y="2907792"/>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Xu ly cung luc hang gio video hoac hang trieu dong code trong mot lan nhap. Kha nang doc hieu tai lieu lon nhat trong tat ca AI hien nay.</a:t>
            </a:r>
            <a:endParaRPr lang="en-US" sz="1200" dirty="0"/>
          </a:p>
        </p:txBody>
      </p:sp>
      <p:sp>
        <p:nvSpPr>
          <p:cNvPr id="21" name="Shape 19"/>
          <p:cNvSpPr/>
          <p:nvPr/>
        </p:nvSpPr>
        <p:spPr>
          <a:xfrm>
            <a:off x="3520440" y="3730752"/>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22" name="Shape 20"/>
          <p:cNvSpPr/>
          <p:nvPr/>
        </p:nvSpPr>
        <p:spPr>
          <a:xfrm>
            <a:off x="3520440" y="3730752"/>
            <a:ext cx="82296" cy="1097280"/>
          </a:xfrm>
          <a:prstGeom prst="rect">
            <a:avLst/>
          </a:prstGeom>
          <a:solidFill>
            <a:srgbClr val="1A73E8"/>
          </a:solidFill>
          <a:ln w="12700">
            <a:solidFill>
              <a:srgbClr val="1A73E8"/>
            </a:solidFill>
            <a:prstDash val="solid"/>
          </a:ln>
        </p:spPr>
      </p:sp>
      <p:sp>
        <p:nvSpPr>
          <p:cNvPr id="23" name="Text 21"/>
          <p:cNvSpPr/>
          <p:nvPr/>
        </p:nvSpPr>
        <p:spPr>
          <a:xfrm>
            <a:off x="3703320" y="3822192"/>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Google Workspace Integration</a:t>
            </a:r>
            <a:endParaRPr lang="en-US" sz="1500" dirty="0"/>
          </a:p>
        </p:txBody>
      </p:sp>
      <p:sp>
        <p:nvSpPr>
          <p:cNvPr id="24" name="Text 22"/>
          <p:cNvSpPr/>
          <p:nvPr/>
        </p:nvSpPr>
        <p:spPr>
          <a:xfrm>
            <a:off x="3703320" y="4169664"/>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Lam viec truc tiep trong Gmail, Docs, Sheets, Meet. Tom tat cuoc hop, soan email, phan tich du lieu — khong can roi ung dung.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9E3400"/>
          </a:solidFill>
          <a:ln w="12700">
            <a:solidFill>
              <a:srgbClr val="9E3400"/>
            </a:solidFill>
            <a:prstDash val="solid"/>
          </a:ln>
        </p:spPr>
      </p:sp>
      <p:sp>
        <p:nvSpPr>
          <p:cNvPr id="3" name="Text 1"/>
          <p:cNvSpPr/>
          <p:nvPr/>
        </p:nvSpPr>
        <p:spPr>
          <a:xfrm>
            <a:off x="91440" y="822960"/>
            <a:ext cx="3108960" cy="1371600"/>
          </a:xfrm>
          <a:prstGeom prst="rect">
            <a:avLst/>
          </a:prstGeom>
          <a:noFill/>
          <a:ln/>
        </p:spPr>
        <p:txBody>
          <a:bodyPr wrap="square" rtlCol="0" anchor="ctr"/>
          <a:lstStyle/>
          <a:p>
            <a:pPr algn="ctr" indent="0" marL="0">
              <a:buNone/>
            </a:pPr>
            <a:r>
              <a:rPr lang="en-US" sz="4400" b="1" dirty="0">
                <a:solidFill>
                  <a:srgbClr val="FFFFFF"/>
                </a:solidFill>
                <a:latin typeface="Arial Black" pitchFamily="34" charset="0"/>
                <a:ea typeface="Arial Black" pitchFamily="34" charset="-122"/>
                <a:cs typeface="Arial Black" pitchFamily="34" charset="-120"/>
              </a:rPr>
              <a:t>Claude</a:t>
            </a:r>
            <a:endParaRPr lang="en-US" sz="4400" dirty="0"/>
          </a:p>
        </p:txBody>
      </p:sp>
      <p:sp>
        <p:nvSpPr>
          <p:cNvPr id="4" name="Text 2"/>
          <p:cNvSpPr/>
          <p:nvPr/>
        </p:nvSpPr>
        <p:spPr>
          <a:xfrm>
            <a:off x="91440" y="2267712"/>
            <a:ext cx="3108960" cy="365760"/>
          </a:xfrm>
          <a:prstGeom prst="rect">
            <a:avLst/>
          </a:prstGeom>
          <a:noFill/>
          <a:ln/>
        </p:spPr>
        <p:txBody>
          <a:bodyPr wrap="square" rtlCol="0" anchor="ctr"/>
          <a:lstStyle/>
          <a:p>
            <a:pPr algn="ctr" indent="0" marL="0">
              <a:buNone/>
            </a:pPr>
            <a:r>
              <a:rPr lang="en-US" sz="1600" dirty="0">
                <a:solidFill>
                  <a:srgbClr val="FFCCA8"/>
                </a:solidFill>
              </a:rPr>
              <a:t>Anthropic</a:t>
            </a:r>
            <a:endParaRPr lang="en-US" sz="1600" dirty="0"/>
          </a:p>
        </p:txBody>
      </p:sp>
      <p:sp>
        <p:nvSpPr>
          <p:cNvPr id="5" name="Text 3"/>
          <p:cNvSpPr/>
          <p:nvPr/>
        </p:nvSpPr>
        <p:spPr>
          <a:xfrm>
            <a:off x="91440" y="2615184"/>
            <a:ext cx="3108960" cy="320040"/>
          </a:xfrm>
          <a:prstGeom prst="rect">
            <a:avLst/>
          </a:prstGeom>
          <a:noFill/>
          <a:ln/>
        </p:spPr>
        <p:txBody>
          <a:bodyPr wrap="square" rtlCol="0" anchor="ctr"/>
          <a:lstStyle/>
          <a:p>
            <a:pPr algn="ctr" indent="0" marL="0">
              <a:buNone/>
            </a:pPr>
            <a:r>
              <a:rPr lang="en-US" sz="1200" dirty="0">
                <a:solidFill>
                  <a:srgbClr val="FFAA80"/>
                </a:solidFill>
              </a:rPr>
              <a:t>v4.6  •  Computer Use</a:t>
            </a:r>
            <a:endParaRPr lang="en-US" sz="1200" dirty="0"/>
          </a:p>
        </p:txBody>
      </p:sp>
      <p:sp>
        <p:nvSpPr>
          <p:cNvPr id="6" name="Shape 4"/>
          <p:cNvSpPr/>
          <p:nvPr/>
        </p:nvSpPr>
        <p:spPr>
          <a:xfrm>
            <a:off x="256032" y="3246120"/>
            <a:ext cx="2779776" cy="566928"/>
          </a:xfrm>
          <a:prstGeom prst="rect">
            <a:avLst/>
          </a:prstGeom>
          <a:solidFill>
            <a:srgbClr val="CF4500">
              <a:alpha val="72000"/>
            </a:srgbClr>
          </a:solidFill>
          <a:ln w="12700">
            <a:solidFill>
              <a:srgbClr val="FFCCA8"/>
            </a:solidFill>
            <a:prstDash val="solid"/>
          </a:ln>
        </p:spPr>
      </p:sp>
      <p:sp>
        <p:nvSpPr>
          <p:cNvPr id="7" name="Text 5"/>
          <p:cNvSpPr/>
          <p:nvPr/>
        </p:nvSpPr>
        <p:spPr>
          <a:xfrm>
            <a:off x="256032" y="3246120"/>
            <a:ext cx="2779776" cy="566928"/>
          </a:xfrm>
          <a:prstGeom prst="rect">
            <a:avLst/>
          </a:prstGeom>
          <a:noFill/>
          <a:ln/>
        </p:spPr>
        <p:txBody>
          <a:bodyPr wrap="square" rtlCol="0" anchor="ctr"/>
          <a:lstStyle/>
          <a:p>
            <a:pPr algn="ctr" indent="0" marL="0">
              <a:buNone/>
            </a:pPr>
            <a:r>
              <a:rPr lang="en-US" sz="1200" dirty="0">
                <a:solidFill>
                  <a:srgbClr val="FFFFFF"/>
                </a:solidFill>
              </a:rPr>
              <a:t>Van phong tu nhien nhat</a:t>
            </a:r>
            <a:endParaRPr lang="en-US" sz="1200" dirty="0"/>
          </a:p>
        </p:txBody>
      </p:sp>
      <p:sp>
        <p:nvSpPr>
          <p:cNvPr id="8" name="Shape 6"/>
          <p:cNvSpPr/>
          <p:nvPr/>
        </p:nvSpPr>
        <p:spPr>
          <a:xfrm>
            <a:off x="256032" y="3950208"/>
            <a:ext cx="2779776" cy="566928"/>
          </a:xfrm>
          <a:prstGeom prst="rect">
            <a:avLst/>
          </a:prstGeom>
          <a:solidFill>
            <a:srgbClr val="CF4500">
              <a:alpha val="72000"/>
            </a:srgbClr>
          </a:solidFill>
          <a:ln w="12700">
            <a:solidFill>
              <a:srgbClr val="FFCCA8"/>
            </a:solidFill>
            <a:prstDash val="solid"/>
          </a:ln>
        </p:spPr>
      </p:sp>
      <p:sp>
        <p:nvSpPr>
          <p:cNvPr id="9" name="Text 7"/>
          <p:cNvSpPr/>
          <p:nvPr/>
        </p:nvSpPr>
        <p:spPr>
          <a:xfrm>
            <a:off x="256032" y="3950208"/>
            <a:ext cx="2779776" cy="566928"/>
          </a:xfrm>
          <a:prstGeom prst="rect">
            <a:avLst/>
          </a:prstGeom>
          <a:noFill/>
          <a:ln/>
        </p:spPr>
        <p:txBody>
          <a:bodyPr wrap="square" rtlCol="0" anchor="ctr"/>
          <a:lstStyle/>
          <a:p>
            <a:pPr algn="ctr" indent="0" marL="0">
              <a:buNone/>
            </a:pPr>
            <a:r>
              <a:rPr lang="en-US" sz="1200" dirty="0">
                <a:solidFill>
                  <a:srgbClr val="FFFFFF"/>
                </a:solidFill>
              </a:rPr>
              <a:t>An toan du lieu cao nhat</a:t>
            </a:r>
            <a:endParaRPr lang="en-US" sz="1200" dirty="0"/>
          </a:p>
        </p:txBody>
      </p:sp>
      <p:sp>
        <p:nvSpPr>
          <p:cNvPr id="10" name="Text 8"/>
          <p:cNvSpPr/>
          <p:nvPr/>
        </p:nvSpPr>
        <p:spPr>
          <a:xfrm>
            <a:off x="3520440" y="164592"/>
            <a:ext cx="5303520" cy="347472"/>
          </a:xfrm>
          <a:prstGeom prst="rect">
            <a:avLst/>
          </a:prstGeom>
          <a:noFill/>
          <a:ln/>
        </p:spPr>
        <p:txBody>
          <a:bodyPr wrap="square" lIns="0" tIns="0" rIns="0" bIns="0" rtlCol="0" anchor="ctr"/>
          <a:lstStyle/>
          <a:p>
            <a:pPr algn="l" indent="0" marL="0">
              <a:buNone/>
            </a:pPr>
            <a:r>
              <a:rPr lang="en-US" sz="1300" dirty="0">
                <a:solidFill>
                  <a:srgbClr val="64748B"/>
                </a:solidFill>
              </a:rPr>
              <a:t>Tinh nang noi bat 2026</a:t>
            </a:r>
            <a:endParaRPr lang="en-US" sz="1300" dirty="0"/>
          </a:p>
        </p:txBody>
      </p:sp>
      <p:sp>
        <p:nvSpPr>
          <p:cNvPr id="11" name="Text 9"/>
          <p:cNvSpPr/>
          <p:nvPr/>
        </p:nvSpPr>
        <p:spPr>
          <a:xfrm>
            <a:off x="3520440" y="484632"/>
            <a:ext cx="5303520" cy="502920"/>
          </a:xfrm>
          <a:prstGeom prst="rect">
            <a:avLst/>
          </a:prstGeom>
          <a:noFill/>
          <a:ln/>
        </p:spPr>
        <p:txBody>
          <a:bodyPr wrap="square" lIns="0" tIns="0" rIns="0" bIns="0" rtlCol="0" anchor="ctr"/>
          <a:lstStyle/>
          <a:p>
            <a:pPr algn="l" indent="0" marL="0">
              <a:buNone/>
            </a:pPr>
            <a:r>
              <a:rPr lang="en-US" sz="2400" b="1" dirty="0">
                <a:solidFill>
                  <a:srgbClr val="1E293B"/>
                </a:solidFill>
                <a:latin typeface="Calibri" pitchFamily="34" charset="0"/>
                <a:ea typeface="Calibri" pitchFamily="34" charset="-122"/>
                <a:cs typeface="Calibri" pitchFamily="34" charset="-120"/>
              </a:rPr>
              <a:t>Claude — Diem manh</a:t>
            </a:r>
            <a:endParaRPr lang="en-US" sz="2400" dirty="0"/>
          </a:p>
        </p:txBody>
      </p:sp>
      <p:sp>
        <p:nvSpPr>
          <p:cNvPr id="12" name="Shape 10"/>
          <p:cNvSpPr/>
          <p:nvPr/>
        </p:nvSpPr>
        <p:spPr>
          <a:xfrm>
            <a:off x="3520440" y="1033272"/>
            <a:ext cx="5303520" cy="36576"/>
          </a:xfrm>
          <a:prstGeom prst="rect">
            <a:avLst/>
          </a:prstGeom>
          <a:solidFill>
            <a:srgbClr val="CBD5E1"/>
          </a:solidFill>
          <a:ln w="12700">
            <a:solidFill>
              <a:srgbClr val="CBD5E1"/>
            </a:solidFill>
            <a:prstDash val="solid"/>
          </a:ln>
        </p:spPr>
      </p:sp>
      <p:sp>
        <p:nvSpPr>
          <p:cNvPr id="13" name="Shape 11"/>
          <p:cNvSpPr/>
          <p:nvPr/>
        </p:nvSpPr>
        <p:spPr>
          <a:xfrm>
            <a:off x="3520440" y="1207008"/>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4" name="Shape 12"/>
          <p:cNvSpPr/>
          <p:nvPr/>
        </p:nvSpPr>
        <p:spPr>
          <a:xfrm>
            <a:off x="3520440" y="1207008"/>
            <a:ext cx="82296" cy="1097280"/>
          </a:xfrm>
          <a:prstGeom prst="rect">
            <a:avLst/>
          </a:prstGeom>
          <a:solidFill>
            <a:srgbClr val="CF4500"/>
          </a:solidFill>
          <a:ln w="12700">
            <a:solidFill>
              <a:srgbClr val="CF4500"/>
            </a:solidFill>
            <a:prstDash val="solid"/>
          </a:ln>
        </p:spPr>
      </p:sp>
      <p:sp>
        <p:nvSpPr>
          <p:cNvPr id="15" name="Text 13"/>
          <p:cNvSpPr/>
          <p:nvPr/>
        </p:nvSpPr>
        <p:spPr>
          <a:xfrm>
            <a:off x="3703320" y="1298448"/>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Computer Use — Dieu Khien May Tinh</a:t>
            </a:r>
            <a:endParaRPr lang="en-US" sz="1500" dirty="0"/>
          </a:p>
        </p:txBody>
      </p:sp>
      <p:sp>
        <p:nvSpPr>
          <p:cNvPr id="16" name="Text 14"/>
          <p:cNvSpPr/>
          <p:nvPr/>
        </p:nvSpPr>
        <p:spPr>
          <a:xfrm>
            <a:off x="3703320" y="1645920"/>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AI co the nhin man hinh va dieu khien chuot/ban phim thay ban. Tu dong hoa toan bo quy trinh lam viec lap di lap lai — khong viet code.</a:t>
            </a:r>
            <a:endParaRPr lang="en-US" sz="1200" dirty="0"/>
          </a:p>
        </p:txBody>
      </p:sp>
      <p:sp>
        <p:nvSpPr>
          <p:cNvPr id="17" name="Shape 15"/>
          <p:cNvSpPr/>
          <p:nvPr/>
        </p:nvSpPr>
        <p:spPr>
          <a:xfrm>
            <a:off x="3520440" y="2468880"/>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8" name="Shape 16"/>
          <p:cNvSpPr/>
          <p:nvPr/>
        </p:nvSpPr>
        <p:spPr>
          <a:xfrm>
            <a:off x="3520440" y="2468880"/>
            <a:ext cx="82296" cy="1097280"/>
          </a:xfrm>
          <a:prstGeom prst="rect">
            <a:avLst/>
          </a:prstGeom>
          <a:solidFill>
            <a:srgbClr val="CF4500"/>
          </a:solidFill>
          <a:ln w="12700">
            <a:solidFill>
              <a:srgbClr val="CF4500"/>
            </a:solidFill>
            <a:prstDash val="solid"/>
          </a:ln>
        </p:spPr>
      </p:sp>
      <p:sp>
        <p:nvSpPr>
          <p:cNvPr id="19" name="Text 17"/>
          <p:cNvSpPr/>
          <p:nvPr/>
        </p:nvSpPr>
        <p:spPr>
          <a:xfrm>
            <a:off x="3703320" y="2560320"/>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Artifacts — Tao &amp; Chay Code Ngay</a:t>
            </a:r>
            <a:endParaRPr lang="en-US" sz="1500" dirty="0"/>
          </a:p>
        </p:txBody>
      </p:sp>
      <p:sp>
        <p:nvSpPr>
          <p:cNvPr id="20" name="Text 18"/>
          <p:cNvSpPr/>
          <p:nvPr/>
        </p:nvSpPr>
        <p:spPr>
          <a:xfrm>
            <a:off x="3703320" y="2907792"/>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Mo cua so rieng de chay code, ve bieu do, thiet ke web ngay lap tuc — khong can cai them phan mem. Ket qua hien thi truc quan, chinh sua truc tiep.</a:t>
            </a:r>
            <a:endParaRPr lang="en-US" sz="1200" dirty="0"/>
          </a:p>
        </p:txBody>
      </p:sp>
      <p:sp>
        <p:nvSpPr>
          <p:cNvPr id="21" name="Shape 19"/>
          <p:cNvSpPr/>
          <p:nvPr/>
        </p:nvSpPr>
        <p:spPr>
          <a:xfrm>
            <a:off x="3520440" y="3730752"/>
            <a:ext cx="5303520" cy="10972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22" name="Shape 20"/>
          <p:cNvSpPr/>
          <p:nvPr/>
        </p:nvSpPr>
        <p:spPr>
          <a:xfrm>
            <a:off x="3520440" y="3730752"/>
            <a:ext cx="82296" cy="1097280"/>
          </a:xfrm>
          <a:prstGeom prst="rect">
            <a:avLst/>
          </a:prstGeom>
          <a:solidFill>
            <a:srgbClr val="CF4500"/>
          </a:solidFill>
          <a:ln w="12700">
            <a:solidFill>
              <a:srgbClr val="CF4500"/>
            </a:solidFill>
            <a:prstDash val="solid"/>
          </a:ln>
        </p:spPr>
      </p:sp>
      <p:sp>
        <p:nvSpPr>
          <p:cNvPr id="23" name="Text 21"/>
          <p:cNvSpPr/>
          <p:nvPr/>
        </p:nvSpPr>
        <p:spPr>
          <a:xfrm>
            <a:off x="3703320" y="3822192"/>
            <a:ext cx="4983480" cy="347472"/>
          </a:xfrm>
          <a:prstGeom prst="rect">
            <a:avLst/>
          </a:prstGeom>
          <a:noFill/>
          <a:ln/>
        </p:spPr>
        <p:txBody>
          <a:bodyPr wrap="square" lIns="0" tIns="0" rIns="0" bIns="0" rtlCol="0" anchor="ctr"/>
          <a:lstStyle/>
          <a:p>
            <a:pPr algn="l" indent="0" marL="0">
              <a:buNone/>
            </a:pPr>
            <a:r>
              <a:rPr lang="en-US" sz="1500" b="1" dirty="0">
                <a:solidFill>
                  <a:srgbClr val="1E293B"/>
                </a:solidFill>
              </a:rPr>
              <a:t>Viet Lach &amp; Sang Tao Hang Dau</a:t>
            </a:r>
            <a:endParaRPr lang="en-US" sz="1500" dirty="0"/>
          </a:p>
        </p:txBody>
      </p:sp>
      <p:sp>
        <p:nvSpPr>
          <p:cNvPr id="24" name="Text 22"/>
          <p:cNvSpPr/>
          <p:nvPr/>
        </p:nvSpPr>
        <p:spPr>
          <a:xfrm>
            <a:off x="3703320" y="4169664"/>
            <a:ext cx="4983480" cy="566928"/>
          </a:xfrm>
          <a:prstGeom prst="rect">
            <a:avLst/>
          </a:prstGeom>
          <a:noFill/>
          <a:ln/>
        </p:spPr>
        <p:txBody>
          <a:bodyPr wrap="square" lIns="0" tIns="0" rIns="0" bIns="0" rtlCol="0" anchor="t"/>
          <a:lstStyle/>
          <a:p>
            <a:pPr algn="l" indent="0" marL="0">
              <a:buNone/>
            </a:pPr>
            <a:r>
              <a:rPr lang="en-US" sz="1200" dirty="0">
                <a:solidFill>
                  <a:srgbClr val="64748B"/>
                </a:solidFill>
              </a:rPr>
              <a:t>Van phong tu nhien, co cam xuc nhat trong 3 AI lon. Tot nhat cho email, bao cao, noi dung truyen thong doanh nghiep can tinh chuyen nghiep cao.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828800" y="-1828800"/>
            <a:ext cx="6400800" cy="6400800"/>
          </a:xfrm>
          <a:prstGeom prst="ellipse">
            <a:avLst/>
          </a:prstGeom>
          <a:solidFill>
            <a:srgbClr val="1A3050">
              <a:alpha val="50000"/>
            </a:srgbClr>
          </a:solidFill>
          <a:ln w="12700">
            <a:solidFill>
              <a:srgbClr val="1A3050"/>
            </a:solidFill>
            <a:prstDash val="solid"/>
          </a:ln>
        </p:spPr>
      </p:sp>
      <p:sp>
        <p:nvSpPr>
          <p:cNvPr id="3" name="Text 1"/>
          <p:cNvSpPr/>
          <p:nvPr/>
        </p:nvSpPr>
        <p:spPr>
          <a:xfrm>
            <a:off x="457200" y="1005840"/>
            <a:ext cx="8229600" cy="777240"/>
          </a:xfrm>
          <a:prstGeom prst="rect">
            <a:avLst/>
          </a:prstGeom>
          <a:noFill/>
          <a:ln/>
        </p:spPr>
        <p:txBody>
          <a:bodyPr wrap="square" rtlCol="0" anchor="ctr"/>
          <a:lstStyle/>
          <a:p>
            <a:pPr algn="ctr" indent="0" marL="0">
              <a:buNone/>
            </a:pPr>
            <a:r>
              <a:rPr lang="en-US" sz="5600" b="1" dirty="0">
                <a:solidFill>
                  <a:srgbClr val="FFFFFF"/>
                </a:solidFill>
                <a:latin typeface="Arial Black" pitchFamily="34" charset="0"/>
                <a:ea typeface="Arial Black" pitchFamily="34" charset="-122"/>
                <a:cs typeface="Arial Black" pitchFamily="34" charset="-120"/>
              </a:rPr>
              <a:t>UNG DUNG</a:t>
            </a:r>
            <a:endParaRPr lang="en-US" sz="5600" dirty="0"/>
          </a:p>
        </p:txBody>
      </p:sp>
      <p:sp>
        <p:nvSpPr>
          <p:cNvPr id="4" name="Text 2"/>
          <p:cNvSpPr/>
          <p:nvPr/>
        </p:nvSpPr>
        <p:spPr>
          <a:xfrm>
            <a:off x="457200" y="1691640"/>
            <a:ext cx="8229600" cy="777240"/>
          </a:xfrm>
          <a:prstGeom prst="rect">
            <a:avLst/>
          </a:prstGeom>
          <a:noFill/>
          <a:ln/>
        </p:spPr>
        <p:txBody>
          <a:bodyPr wrap="square" rtlCol="0" anchor="ctr"/>
          <a:lstStyle/>
          <a:p>
            <a:pPr algn="ctr" indent="0" marL="0">
              <a:buNone/>
            </a:pPr>
            <a:r>
              <a:rPr lang="en-US" sz="5600" b="1" dirty="0">
                <a:solidFill>
                  <a:srgbClr val="00C9A7"/>
                </a:solidFill>
                <a:latin typeface="Arial Black" pitchFamily="34" charset="0"/>
                <a:ea typeface="Arial Black" pitchFamily="34" charset="-122"/>
                <a:cs typeface="Arial Black" pitchFamily="34" charset="-120"/>
              </a:rPr>
              <a:t>THUC CHIEN</a:t>
            </a:r>
            <a:endParaRPr lang="en-US" sz="5600" dirty="0"/>
          </a:p>
        </p:txBody>
      </p:sp>
      <p:sp>
        <p:nvSpPr>
          <p:cNvPr id="5" name="Text 3"/>
          <p:cNvSpPr/>
          <p:nvPr/>
        </p:nvSpPr>
        <p:spPr>
          <a:xfrm>
            <a:off x="457200" y="2651760"/>
            <a:ext cx="8229600" cy="411480"/>
          </a:xfrm>
          <a:prstGeom prst="rect">
            <a:avLst/>
          </a:prstGeom>
          <a:noFill/>
          <a:ln/>
        </p:spPr>
        <p:txBody>
          <a:bodyPr wrap="square" rtlCol="0" anchor="ctr"/>
          <a:lstStyle/>
          <a:p>
            <a:pPr algn="ctr" indent="0" marL="0">
              <a:buNone/>
            </a:pPr>
            <a:r>
              <a:rPr lang="en-US" sz="1900" dirty="0">
                <a:solidFill>
                  <a:srgbClr val="A8BFCF"/>
                </a:solidFill>
              </a:rPr>
              <a:t>3 nhom cong viec quan trong nhat</a:t>
            </a:r>
            <a:endParaRPr lang="en-US" sz="1900" dirty="0"/>
          </a:p>
        </p:txBody>
      </p:sp>
      <p:sp>
        <p:nvSpPr>
          <p:cNvPr id="6" name="Shape 4"/>
          <p:cNvSpPr/>
          <p:nvPr/>
        </p:nvSpPr>
        <p:spPr>
          <a:xfrm>
            <a:off x="1188720" y="3291840"/>
            <a:ext cx="1463040" cy="914400"/>
          </a:xfrm>
          <a:prstGeom prst="ellipse">
            <a:avLst/>
          </a:prstGeom>
          <a:solidFill>
            <a:srgbClr val="1A3050"/>
          </a:solidFill>
          <a:ln w="12700">
            <a:solidFill>
              <a:srgbClr val="00C9A7"/>
            </a:solidFill>
            <a:prstDash val="solid"/>
          </a:ln>
        </p:spPr>
      </p:sp>
      <p:sp>
        <p:nvSpPr>
          <p:cNvPr id="7" name="Text 5"/>
          <p:cNvSpPr/>
          <p:nvPr/>
        </p:nvSpPr>
        <p:spPr>
          <a:xfrm>
            <a:off x="1188720" y="3291840"/>
            <a:ext cx="1463040" cy="914400"/>
          </a:xfrm>
          <a:prstGeom prst="rect">
            <a:avLst/>
          </a:prstGeom>
          <a:noFill/>
          <a:ln/>
        </p:spPr>
        <p:txBody>
          <a:bodyPr wrap="square" rtlCol="0" anchor="ctr"/>
          <a:lstStyle/>
          <a:p>
            <a:pPr algn="ctr" indent="0" marL="0">
              <a:buNone/>
            </a:pPr>
            <a:r>
              <a:rPr lang="en-US" sz="3000" b="1" dirty="0">
                <a:solidFill>
                  <a:srgbClr val="00C9A7"/>
                </a:solidFill>
                <a:latin typeface="Arial Black" pitchFamily="34" charset="0"/>
                <a:ea typeface="Arial Black" pitchFamily="34" charset="-122"/>
                <a:cs typeface="Arial Black" pitchFamily="34" charset="-120"/>
              </a:rPr>
              <a:t>A</a:t>
            </a:r>
            <a:endParaRPr lang="en-US" sz="3000" dirty="0"/>
          </a:p>
        </p:txBody>
      </p:sp>
      <p:sp>
        <p:nvSpPr>
          <p:cNvPr id="8" name="Text 6"/>
          <p:cNvSpPr/>
          <p:nvPr/>
        </p:nvSpPr>
        <p:spPr>
          <a:xfrm>
            <a:off x="1005840" y="4315968"/>
            <a:ext cx="1828800" cy="384048"/>
          </a:xfrm>
          <a:prstGeom prst="rect">
            <a:avLst/>
          </a:prstGeom>
          <a:noFill/>
          <a:ln/>
        </p:spPr>
        <p:txBody>
          <a:bodyPr wrap="square" rtlCol="0" anchor="ctr"/>
          <a:lstStyle/>
          <a:p>
            <a:pPr algn="ctr" indent="0" marL="0">
              <a:buNone/>
            </a:pPr>
            <a:r>
              <a:rPr lang="en-US" sz="1100" dirty="0">
                <a:solidFill>
                  <a:srgbClr val="7A9BB5"/>
                </a:solidFill>
              </a:rPr>
              <a:t>Thong tin &amp; Tai lieu</a:t>
            </a:r>
            <a:endParaRPr lang="en-US" sz="1100" dirty="0"/>
          </a:p>
        </p:txBody>
      </p:sp>
      <p:sp>
        <p:nvSpPr>
          <p:cNvPr id="9" name="Shape 7"/>
          <p:cNvSpPr/>
          <p:nvPr/>
        </p:nvSpPr>
        <p:spPr>
          <a:xfrm>
            <a:off x="3749040" y="3291840"/>
            <a:ext cx="1463040" cy="914400"/>
          </a:xfrm>
          <a:prstGeom prst="ellipse">
            <a:avLst/>
          </a:prstGeom>
          <a:solidFill>
            <a:srgbClr val="1A3050"/>
          </a:solidFill>
          <a:ln w="12700">
            <a:solidFill>
              <a:srgbClr val="00C9A7"/>
            </a:solidFill>
            <a:prstDash val="solid"/>
          </a:ln>
        </p:spPr>
      </p:sp>
      <p:sp>
        <p:nvSpPr>
          <p:cNvPr id="10" name="Text 8"/>
          <p:cNvSpPr/>
          <p:nvPr/>
        </p:nvSpPr>
        <p:spPr>
          <a:xfrm>
            <a:off x="3749040" y="3291840"/>
            <a:ext cx="1463040" cy="914400"/>
          </a:xfrm>
          <a:prstGeom prst="rect">
            <a:avLst/>
          </a:prstGeom>
          <a:noFill/>
          <a:ln/>
        </p:spPr>
        <p:txBody>
          <a:bodyPr wrap="square" rtlCol="0" anchor="ctr"/>
          <a:lstStyle/>
          <a:p>
            <a:pPr algn="ctr" indent="0" marL="0">
              <a:buNone/>
            </a:pPr>
            <a:r>
              <a:rPr lang="en-US" sz="3000" b="1" dirty="0">
                <a:solidFill>
                  <a:srgbClr val="00C9A7"/>
                </a:solidFill>
                <a:latin typeface="Arial Black" pitchFamily="34" charset="0"/>
                <a:ea typeface="Arial Black" pitchFamily="34" charset="-122"/>
                <a:cs typeface="Arial Black" pitchFamily="34" charset="-120"/>
              </a:rPr>
              <a:t>B</a:t>
            </a:r>
            <a:endParaRPr lang="en-US" sz="3000" dirty="0"/>
          </a:p>
        </p:txBody>
      </p:sp>
      <p:sp>
        <p:nvSpPr>
          <p:cNvPr id="11" name="Text 9"/>
          <p:cNvSpPr/>
          <p:nvPr/>
        </p:nvSpPr>
        <p:spPr>
          <a:xfrm>
            <a:off x="3566160" y="4315968"/>
            <a:ext cx="1828800" cy="384048"/>
          </a:xfrm>
          <a:prstGeom prst="rect">
            <a:avLst/>
          </a:prstGeom>
          <a:noFill/>
          <a:ln/>
        </p:spPr>
        <p:txBody>
          <a:bodyPr wrap="square" rtlCol="0" anchor="ctr"/>
          <a:lstStyle/>
          <a:p>
            <a:pPr algn="ctr" indent="0" marL="0">
              <a:buNone/>
            </a:pPr>
            <a:r>
              <a:rPr lang="en-US" sz="1100" dirty="0">
                <a:solidFill>
                  <a:srgbClr val="7A9BB5"/>
                </a:solidFill>
              </a:rPr>
              <a:t>Sang tao &amp; Visual</a:t>
            </a:r>
            <a:endParaRPr lang="en-US" sz="1100" dirty="0"/>
          </a:p>
        </p:txBody>
      </p:sp>
      <p:sp>
        <p:nvSpPr>
          <p:cNvPr id="12" name="Shape 10"/>
          <p:cNvSpPr/>
          <p:nvPr/>
        </p:nvSpPr>
        <p:spPr>
          <a:xfrm>
            <a:off x="6309360" y="3291840"/>
            <a:ext cx="1463040" cy="914400"/>
          </a:xfrm>
          <a:prstGeom prst="ellipse">
            <a:avLst/>
          </a:prstGeom>
          <a:solidFill>
            <a:srgbClr val="1A3050"/>
          </a:solidFill>
          <a:ln w="12700">
            <a:solidFill>
              <a:srgbClr val="00C9A7"/>
            </a:solidFill>
            <a:prstDash val="solid"/>
          </a:ln>
        </p:spPr>
      </p:sp>
      <p:sp>
        <p:nvSpPr>
          <p:cNvPr id="13" name="Text 11"/>
          <p:cNvSpPr/>
          <p:nvPr/>
        </p:nvSpPr>
        <p:spPr>
          <a:xfrm>
            <a:off x="6309360" y="3291840"/>
            <a:ext cx="1463040" cy="914400"/>
          </a:xfrm>
          <a:prstGeom prst="rect">
            <a:avLst/>
          </a:prstGeom>
          <a:noFill/>
          <a:ln/>
        </p:spPr>
        <p:txBody>
          <a:bodyPr wrap="square" rtlCol="0" anchor="ctr"/>
          <a:lstStyle/>
          <a:p>
            <a:pPr algn="ctr" indent="0" marL="0">
              <a:buNone/>
            </a:pPr>
            <a:r>
              <a:rPr lang="en-US" sz="3000" b="1" dirty="0">
                <a:solidFill>
                  <a:srgbClr val="00C9A7"/>
                </a:solidFill>
                <a:latin typeface="Arial Black" pitchFamily="34" charset="0"/>
                <a:ea typeface="Arial Black" pitchFamily="34" charset="-122"/>
                <a:cs typeface="Arial Black" pitchFamily="34" charset="-120"/>
              </a:rPr>
              <a:t>C</a:t>
            </a:r>
            <a:endParaRPr lang="en-US" sz="3000" dirty="0"/>
          </a:p>
        </p:txBody>
      </p:sp>
      <p:sp>
        <p:nvSpPr>
          <p:cNvPr id="14" name="Text 12"/>
          <p:cNvSpPr/>
          <p:nvPr/>
        </p:nvSpPr>
        <p:spPr>
          <a:xfrm>
            <a:off x="6126480" y="4315968"/>
            <a:ext cx="1828800" cy="384048"/>
          </a:xfrm>
          <a:prstGeom prst="rect">
            <a:avLst/>
          </a:prstGeom>
          <a:noFill/>
          <a:ln/>
        </p:spPr>
        <p:txBody>
          <a:bodyPr wrap="square" rtlCol="0" anchor="ctr"/>
          <a:lstStyle/>
          <a:p>
            <a:pPr algn="ctr" indent="0" marL="0">
              <a:buNone/>
            </a:pPr>
            <a:r>
              <a:rPr lang="en-US" sz="1100" dirty="0">
                <a:solidFill>
                  <a:srgbClr val="7A9BB5"/>
                </a:solidFill>
              </a:rPr>
              <a:t>Brainstorm &amp; Tu dong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a:ln w="12700">
            <a:solidFill>
              <a:srgbClr val="0A1628"/>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algn="l" indent="0" marL="0">
              <a:buNone/>
            </a:pPr>
            <a:r>
              <a:rPr lang="en-US" sz="2000" b="1" dirty="0">
                <a:solidFill>
                  <a:srgbClr val="FFFFFF"/>
                </a:solidFill>
              </a:rPr>
              <a:t>3 NHOM UNG DUNG THUC CHIEN CHO TEAM</a:t>
            </a:r>
            <a:endParaRPr lang="en-US" sz="2000" dirty="0"/>
          </a:p>
        </p:txBody>
      </p:sp>
      <p:sp>
        <p:nvSpPr>
          <p:cNvPr id="4" name="Shape 2"/>
          <p:cNvSpPr/>
          <p:nvPr/>
        </p:nvSpPr>
        <p:spPr>
          <a:xfrm>
            <a:off x="164592" y="777240"/>
            <a:ext cx="274320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5" name="Shape 3"/>
          <p:cNvSpPr/>
          <p:nvPr/>
        </p:nvSpPr>
        <p:spPr>
          <a:xfrm>
            <a:off x="164592" y="777240"/>
            <a:ext cx="2743200" cy="960120"/>
          </a:xfrm>
          <a:prstGeom prst="rect">
            <a:avLst/>
          </a:prstGeom>
          <a:solidFill>
            <a:srgbClr val="00C9A7"/>
          </a:solidFill>
          <a:ln w="12700">
            <a:solidFill>
              <a:srgbClr val="00C9A7"/>
            </a:solidFill>
            <a:prstDash val="solid"/>
          </a:ln>
        </p:spPr>
      </p:sp>
      <p:sp>
        <p:nvSpPr>
          <p:cNvPr id="6" name="Shape 4"/>
          <p:cNvSpPr/>
          <p:nvPr/>
        </p:nvSpPr>
        <p:spPr>
          <a:xfrm>
            <a:off x="274320" y="841248"/>
            <a:ext cx="640080" cy="640080"/>
          </a:xfrm>
          <a:prstGeom prst="ellipse">
            <a:avLst/>
          </a:prstGeom>
          <a:solidFill>
            <a:srgbClr val="FFFFFF">
              <a:alpha val="78000"/>
            </a:srgbClr>
          </a:solidFill>
          <a:ln w="12700">
            <a:solidFill>
              <a:srgbClr val="FFFFFF"/>
            </a:solidFill>
            <a:prstDash val="solid"/>
          </a:ln>
        </p:spPr>
      </p:sp>
      <p:sp>
        <p:nvSpPr>
          <p:cNvPr id="7" name="Text 5"/>
          <p:cNvSpPr/>
          <p:nvPr/>
        </p:nvSpPr>
        <p:spPr>
          <a:xfrm>
            <a:off x="274320" y="841248"/>
            <a:ext cx="640080" cy="64008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8" name="Text 6"/>
          <p:cNvSpPr/>
          <p:nvPr/>
        </p:nvSpPr>
        <p:spPr>
          <a:xfrm>
            <a:off x="987552" y="822960"/>
            <a:ext cx="1828800" cy="475488"/>
          </a:xfrm>
          <a:prstGeom prst="rect">
            <a:avLst/>
          </a:prstGeom>
          <a:noFill/>
          <a:ln/>
        </p:spPr>
        <p:txBody>
          <a:bodyPr wrap="square" lIns="0" tIns="0" rIns="0" bIns="0" rtlCol="0" anchor="ctr"/>
          <a:lstStyle/>
          <a:p>
            <a:pPr algn="l" indent="0" marL="0">
              <a:buNone/>
            </a:pPr>
            <a:r>
              <a:rPr lang="en-US" sz="1100" b="1" dirty="0">
                <a:solidFill>
                  <a:srgbClr val="FFFFFF"/>
                </a:solidFill>
              </a:rPr>
              <a:t>Xu Ly Thong Tin &amp; Tai Lieu</a:t>
            </a:r>
            <a:endParaRPr lang="en-US" sz="1100" dirty="0"/>
          </a:p>
        </p:txBody>
      </p:sp>
      <p:sp>
        <p:nvSpPr>
          <p:cNvPr id="9" name="Text 7"/>
          <p:cNvSpPr/>
          <p:nvPr/>
        </p:nvSpPr>
        <p:spPr>
          <a:xfrm>
            <a:off x="256032" y="1371600"/>
            <a:ext cx="2560320" cy="256032"/>
          </a:xfrm>
          <a:prstGeom prst="rect">
            <a:avLst/>
          </a:prstGeom>
          <a:noFill/>
          <a:ln/>
        </p:spPr>
        <p:txBody>
          <a:bodyPr wrap="square" lIns="0" tIns="0" rIns="0" bIns="0" rtlCol="0" anchor="ctr"/>
          <a:lstStyle/>
          <a:p>
            <a:pPr algn="r" indent="0" marL="0">
              <a:buNone/>
            </a:pPr>
            <a:r>
              <a:rPr lang="en-US" sz="1000" i="1" dirty="0">
                <a:solidFill>
                  <a:srgbClr val="FFFFFF"/>
                </a:solidFill>
              </a:rPr>
              <a:t>Tiet kiem 2h doc/ngay</a:t>
            </a:r>
            <a:endParaRPr lang="en-US" sz="1000" dirty="0"/>
          </a:p>
        </p:txBody>
      </p:sp>
      <p:sp>
        <p:nvSpPr>
          <p:cNvPr id="10" name="Shape 8"/>
          <p:cNvSpPr/>
          <p:nvPr/>
        </p:nvSpPr>
        <p:spPr>
          <a:xfrm>
            <a:off x="329184" y="1920240"/>
            <a:ext cx="128016" cy="128016"/>
          </a:xfrm>
          <a:prstGeom prst="ellipse">
            <a:avLst/>
          </a:prstGeom>
          <a:solidFill>
            <a:srgbClr val="00C9A7"/>
          </a:solidFill>
          <a:ln w="12700">
            <a:solidFill>
              <a:srgbClr val="00C9A7"/>
            </a:solidFill>
            <a:prstDash val="solid"/>
          </a:ln>
        </p:spPr>
      </p:sp>
      <p:sp>
        <p:nvSpPr>
          <p:cNvPr id="11" name="Text 9"/>
          <p:cNvSpPr/>
          <p:nvPr/>
        </p:nvSpPr>
        <p:spPr>
          <a:xfrm>
            <a:off x="530352" y="1856232"/>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Tom tat PDF 50 trang -&gt; 5 y chinh trong 10 giay</a:t>
            </a:r>
            <a:endParaRPr lang="en-US" sz="1100" dirty="0"/>
          </a:p>
        </p:txBody>
      </p:sp>
      <p:sp>
        <p:nvSpPr>
          <p:cNvPr id="12" name="Shape 10"/>
          <p:cNvSpPr/>
          <p:nvPr/>
        </p:nvSpPr>
        <p:spPr>
          <a:xfrm>
            <a:off x="329184" y="2615184"/>
            <a:ext cx="128016" cy="128016"/>
          </a:xfrm>
          <a:prstGeom prst="ellipse">
            <a:avLst/>
          </a:prstGeom>
          <a:solidFill>
            <a:srgbClr val="00C9A7"/>
          </a:solidFill>
          <a:ln w="12700">
            <a:solidFill>
              <a:srgbClr val="00C9A7"/>
            </a:solidFill>
            <a:prstDash val="solid"/>
          </a:ln>
        </p:spPr>
      </p:sp>
      <p:sp>
        <p:nvSpPr>
          <p:cNvPr id="13" name="Text 11"/>
          <p:cNvSpPr/>
          <p:nvPr/>
        </p:nvSpPr>
        <p:spPr>
          <a:xfrm>
            <a:off x="530352" y="2551176"/>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Phan tich Excel, tim xu huong &amp; bat thuong</a:t>
            </a:r>
            <a:endParaRPr lang="en-US" sz="1100" dirty="0"/>
          </a:p>
        </p:txBody>
      </p:sp>
      <p:sp>
        <p:nvSpPr>
          <p:cNvPr id="14" name="Shape 12"/>
          <p:cNvSpPr/>
          <p:nvPr/>
        </p:nvSpPr>
        <p:spPr>
          <a:xfrm>
            <a:off x="329184" y="3310128"/>
            <a:ext cx="128016" cy="128016"/>
          </a:xfrm>
          <a:prstGeom prst="ellipse">
            <a:avLst/>
          </a:prstGeom>
          <a:solidFill>
            <a:srgbClr val="00C9A7"/>
          </a:solidFill>
          <a:ln w="12700">
            <a:solidFill>
              <a:srgbClr val="00C9A7"/>
            </a:solidFill>
            <a:prstDash val="solid"/>
          </a:ln>
        </p:spPr>
      </p:sp>
      <p:sp>
        <p:nvSpPr>
          <p:cNvPr id="15" name="Text 13"/>
          <p:cNvSpPr/>
          <p:nvPr/>
        </p:nvSpPr>
        <p:spPr>
          <a:xfrm>
            <a:off x="530352" y="3246120"/>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Chuyen note tho -&gt; Email lich thep cho doi tac</a:t>
            </a:r>
            <a:endParaRPr lang="en-US" sz="1100" dirty="0"/>
          </a:p>
        </p:txBody>
      </p:sp>
      <p:sp>
        <p:nvSpPr>
          <p:cNvPr id="16" name="Shape 14"/>
          <p:cNvSpPr/>
          <p:nvPr/>
        </p:nvSpPr>
        <p:spPr>
          <a:xfrm>
            <a:off x="329184" y="4005072"/>
            <a:ext cx="128016" cy="128016"/>
          </a:xfrm>
          <a:prstGeom prst="ellipse">
            <a:avLst/>
          </a:prstGeom>
          <a:solidFill>
            <a:srgbClr val="00C9A7"/>
          </a:solidFill>
          <a:ln w="12700">
            <a:solidFill>
              <a:srgbClr val="00C9A7"/>
            </a:solidFill>
            <a:prstDash val="solid"/>
          </a:ln>
        </p:spPr>
      </p:sp>
      <p:sp>
        <p:nvSpPr>
          <p:cNvPr id="17" name="Text 15"/>
          <p:cNvSpPr/>
          <p:nvPr/>
        </p:nvSpPr>
        <p:spPr>
          <a:xfrm>
            <a:off x="530352" y="3941064"/>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Dich tai lieu da ngon ngu tuc thi &amp; chinh xac</a:t>
            </a:r>
            <a:endParaRPr lang="en-US" sz="1100" dirty="0"/>
          </a:p>
        </p:txBody>
      </p:sp>
      <p:sp>
        <p:nvSpPr>
          <p:cNvPr id="18" name="Shape 16"/>
          <p:cNvSpPr/>
          <p:nvPr/>
        </p:nvSpPr>
        <p:spPr>
          <a:xfrm>
            <a:off x="3200400" y="777240"/>
            <a:ext cx="274320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9" name="Shape 17"/>
          <p:cNvSpPr/>
          <p:nvPr/>
        </p:nvSpPr>
        <p:spPr>
          <a:xfrm>
            <a:off x="3200400" y="777240"/>
            <a:ext cx="2743200" cy="960120"/>
          </a:xfrm>
          <a:prstGeom prst="rect">
            <a:avLst/>
          </a:prstGeom>
          <a:solidFill>
            <a:srgbClr val="1A73E8"/>
          </a:solidFill>
          <a:ln w="12700">
            <a:solidFill>
              <a:srgbClr val="1A73E8"/>
            </a:solidFill>
            <a:prstDash val="solid"/>
          </a:ln>
        </p:spPr>
      </p:sp>
      <p:sp>
        <p:nvSpPr>
          <p:cNvPr id="20" name="Shape 18"/>
          <p:cNvSpPr/>
          <p:nvPr/>
        </p:nvSpPr>
        <p:spPr>
          <a:xfrm>
            <a:off x="3310128" y="841248"/>
            <a:ext cx="640080" cy="640080"/>
          </a:xfrm>
          <a:prstGeom prst="ellipse">
            <a:avLst/>
          </a:prstGeom>
          <a:solidFill>
            <a:srgbClr val="FFFFFF">
              <a:alpha val="78000"/>
            </a:srgbClr>
          </a:solidFill>
          <a:ln w="12700">
            <a:solidFill>
              <a:srgbClr val="FFFFFF"/>
            </a:solidFill>
            <a:prstDash val="solid"/>
          </a:ln>
        </p:spPr>
      </p:sp>
      <p:sp>
        <p:nvSpPr>
          <p:cNvPr id="21" name="Text 19"/>
          <p:cNvSpPr/>
          <p:nvPr/>
        </p:nvSpPr>
        <p:spPr>
          <a:xfrm>
            <a:off x="3310128" y="841248"/>
            <a:ext cx="640080" cy="64008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22" name="Text 20"/>
          <p:cNvSpPr/>
          <p:nvPr/>
        </p:nvSpPr>
        <p:spPr>
          <a:xfrm>
            <a:off x="4023360" y="822960"/>
            <a:ext cx="1828800" cy="475488"/>
          </a:xfrm>
          <a:prstGeom prst="rect">
            <a:avLst/>
          </a:prstGeom>
          <a:noFill/>
          <a:ln/>
        </p:spPr>
        <p:txBody>
          <a:bodyPr wrap="square" lIns="0" tIns="0" rIns="0" bIns="0" rtlCol="0" anchor="ctr"/>
          <a:lstStyle/>
          <a:p>
            <a:pPr algn="l" indent="0" marL="0">
              <a:buNone/>
            </a:pPr>
            <a:r>
              <a:rPr lang="en-US" sz="1100" b="1" dirty="0">
                <a:solidFill>
                  <a:srgbClr val="FFFFFF"/>
                </a:solidFill>
              </a:rPr>
              <a:t>Sang Tao &amp; Visual</a:t>
            </a:r>
            <a:endParaRPr lang="en-US" sz="1100" dirty="0"/>
          </a:p>
        </p:txBody>
      </p:sp>
      <p:sp>
        <p:nvSpPr>
          <p:cNvPr id="23" name="Text 21"/>
          <p:cNvSpPr/>
          <p:nvPr/>
        </p:nvSpPr>
        <p:spPr>
          <a:xfrm>
            <a:off x="3291840" y="1371600"/>
            <a:ext cx="2560320" cy="256032"/>
          </a:xfrm>
          <a:prstGeom prst="rect">
            <a:avLst/>
          </a:prstGeom>
          <a:noFill/>
          <a:ln/>
        </p:spPr>
        <p:txBody>
          <a:bodyPr wrap="square" lIns="0" tIns="0" rIns="0" bIns="0" rtlCol="0" anchor="ctr"/>
          <a:lstStyle/>
          <a:p>
            <a:pPr algn="r" indent="0" marL="0">
              <a:buNone/>
            </a:pPr>
            <a:r>
              <a:rPr lang="en-US" sz="1000" i="1" dirty="0">
                <a:solidFill>
                  <a:srgbClr val="FFFFFF"/>
                </a:solidFill>
              </a:rPr>
              <a:t>Danh cho nguoi khong chuyen</a:t>
            </a:r>
            <a:endParaRPr lang="en-US" sz="1000" dirty="0"/>
          </a:p>
        </p:txBody>
      </p:sp>
      <p:sp>
        <p:nvSpPr>
          <p:cNvPr id="24" name="Shape 22"/>
          <p:cNvSpPr/>
          <p:nvPr/>
        </p:nvSpPr>
        <p:spPr>
          <a:xfrm>
            <a:off x="3364992" y="1920240"/>
            <a:ext cx="128016" cy="128016"/>
          </a:xfrm>
          <a:prstGeom prst="ellipse">
            <a:avLst/>
          </a:prstGeom>
          <a:solidFill>
            <a:srgbClr val="1A73E8"/>
          </a:solidFill>
          <a:ln w="12700">
            <a:solidFill>
              <a:srgbClr val="1A73E8"/>
            </a:solidFill>
            <a:prstDash val="solid"/>
          </a:ln>
        </p:spPr>
      </p:sp>
      <p:sp>
        <p:nvSpPr>
          <p:cNvPr id="25" name="Text 23"/>
          <p:cNvSpPr/>
          <p:nvPr/>
        </p:nvSpPr>
        <p:spPr>
          <a:xfrm>
            <a:off x="3566160" y="1856232"/>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Tao slide (Gamma/Canva AI) tu 1 dong mo ta</a:t>
            </a:r>
            <a:endParaRPr lang="en-US" sz="1100" dirty="0"/>
          </a:p>
        </p:txBody>
      </p:sp>
      <p:sp>
        <p:nvSpPr>
          <p:cNvPr id="26" name="Shape 24"/>
          <p:cNvSpPr/>
          <p:nvPr/>
        </p:nvSpPr>
        <p:spPr>
          <a:xfrm>
            <a:off x="3364992" y="2615184"/>
            <a:ext cx="128016" cy="128016"/>
          </a:xfrm>
          <a:prstGeom prst="ellipse">
            <a:avLst/>
          </a:prstGeom>
          <a:solidFill>
            <a:srgbClr val="1A73E8"/>
          </a:solidFill>
          <a:ln w="12700">
            <a:solidFill>
              <a:srgbClr val="1A73E8"/>
            </a:solidFill>
            <a:prstDash val="solid"/>
          </a:ln>
        </p:spPr>
      </p:sp>
      <p:sp>
        <p:nvSpPr>
          <p:cNvPr id="27" name="Text 25"/>
          <p:cNvSpPr/>
          <p:nvPr/>
        </p:nvSpPr>
        <p:spPr>
          <a:xfrm>
            <a:off x="3566160" y="2551176"/>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Tao anh minh hoa khong lo ban quyen (DALL-E)</a:t>
            </a:r>
            <a:endParaRPr lang="en-US" sz="1100" dirty="0"/>
          </a:p>
        </p:txBody>
      </p:sp>
      <p:sp>
        <p:nvSpPr>
          <p:cNvPr id="28" name="Shape 26"/>
          <p:cNvSpPr/>
          <p:nvPr/>
        </p:nvSpPr>
        <p:spPr>
          <a:xfrm>
            <a:off x="3364992" y="3310128"/>
            <a:ext cx="128016" cy="128016"/>
          </a:xfrm>
          <a:prstGeom prst="ellipse">
            <a:avLst/>
          </a:prstGeom>
          <a:solidFill>
            <a:srgbClr val="1A73E8"/>
          </a:solidFill>
          <a:ln w="12700">
            <a:solidFill>
              <a:srgbClr val="1A73E8"/>
            </a:solidFill>
            <a:prstDash val="solid"/>
          </a:ln>
        </p:spPr>
      </p:sp>
      <p:sp>
        <p:nvSpPr>
          <p:cNvPr id="29" name="Text 27"/>
          <p:cNvSpPr/>
          <p:nvPr/>
        </p:nvSpPr>
        <p:spPr>
          <a:xfrm>
            <a:off x="3566160" y="3246120"/>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Thiet ke noi dung truyen thong so chuyen nghiep</a:t>
            </a:r>
            <a:endParaRPr lang="en-US" sz="1100" dirty="0"/>
          </a:p>
        </p:txBody>
      </p:sp>
      <p:sp>
        <p:nvSpPr>
          <p:cNvPr id="30" name="Shape 28"/>
          <p:cNvSpPr/>
          <p:nvPr/>
        </p:nvSpPr>
        <p:spPr>
          <a:xfrm>
            <a:off x="3364992" y="4005072"/>
            <a:ext cx="128016" cy="128016"/>
          </a:xfrm>
          <a:prstGeom prst="ellipse">
            <a:avLst/>
          </a:prstGeom>
          <a:solidFill>
            <a:srgbClr val="1A73E8"/>
          </a:solidFill>
          <a:ln w="12700">
            <a:solidFill>
              <a:srgbClr val="1A73E8"/>
            </a:solidFill>
            <a:prstDash val="solid"/>
          </a:ln>
        </p:spPr>
      </p:sp>
      <p:sp>
        <p:nvSpPr>
          <p:cNvPr id="31" name="Text 29"/>
          <p:cNvSpPr/>
          <p:nvPr/>
        </p:nvSpPr>
        <p:spPr>
          <a:xfrm>
            <a:off x="3566160" y="3941064"/>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Tao video ngan cho quang cao (Sora / Veo)</a:t>
            </a:r>
            <a:endParaRPr lang="en-US" sz="1100" dirty="0"/>
          </a:p>
        </p:txBody>
      </p:sp>
      <p:sp>
        <p:nvSpPr>
          <p:cNvPr id="32" name="Shape 30"/>
          <p:cNvSpPr/>
          <p:nvPr/>
        </p:nvSpPr>
        <p:spPr>
          <a:xfrm>
            <a:off x="6236208" y="777240"/>
            <a:ext cx="2743200" cy="416052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33" name="Shape 31"/>
          <p:cNvSpPr/>
          <p:nvPr/>
        </p:nvSpPr>
        <p:spPr>
          <a:xfrm>
            <a:off x="6236208" y="777240"/>
            <a:ext cx="2743200" cy="960120"/>
          </a:xfrm>
          <a:prstGeom prst="rect">
            <a:avLst/>
          </a:prstGeom>
          <a:solidFill>
            <a:srgbClr val="CF4500"/>
          </a:solidFill>
          <a:ln w="12700">
            <a:solidFill>
              <a:srgbClr val="CF4500"/>
            </a:solidFill>
            <a:prstDash val="solid"/>
          </a:ln>
        </p:spPr>
      </p:sp>
      <p:sp>
        <p:nvSpPr>
          <p:cNvPr id="34" name="Shape 32"/>
          <p:cNvSpPr/>
          <p:nvPr/>
        </p:nvSpPr>
        <p:spPr>
          <a:xfrm>
            <a:off x="6345936" y="841248"/>
            <a:ext cx="640080" cy="640080"/>
          </a:xfrm>
          <a:prstGeom prst="ellipse">
            <a:avLst/>
          </a:prstGeom>
          <a:solidFill>
            <a:srgbClr val="FFFFFF">
              <a:alpha val="78000"/>
            </a:srgbClr>
          </a:solidFill>
          <a:ln w="12700">
            <a:solidFill>
              <a:srgbClr val="FFFFFF"/>
            </a:solidFill>
            <a:prstDash val="solid"/>
          </a:ln>
        </p:spPr>
      </p:sp>
      <p:sp>
        <p:nvSpPr>
          <p:cNvPr id="35" name="Text 33"/>
          <p:cNvSpPr/>
          <p:nvPr/>
        </p:nvSpPr>
        <p:spPr>
          <a:xfrm>
            <a:off x="6345936" y="841248"/>
            <a:ext cx="640080" cy="64008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36" name="Text 34"/>
          <p:cNvSpPr/>
          <p:nvPr/>
        </p:nvSpPr>
        <p:spPr>
          <a:xfrm>
            <a:off x="7059168" y="822960"/>
            <a:ext cx="1828800" cy="475488"/>
          </a:xfrm>
          <a:prstGeom prst="rect">
            <a:avLst/>
          </a:prstGeom>
          <a:noFill/>
          <a:ln/>
        </p:spPr>
        <p:txBody>
          <a:bodyPr wrap="square" lIns="0" tIns="0" rIns="0" bIns="0" rtlCol="0" anchor="ctr"/>
          <a:lstStyle/>
          <a:p>
            <a:pPr algn="l" indent="0" marL="0">
              <a:buNone/>
            </a:pPr>
            <a:r>
              <a:rPr lang="en-US" sz="1100" b="1" dirty="0">
                <a:solidFill>
                  <a:srgbClr val="FFFFFF"/>
                </a:solidFill>
              </a:rPr>
              <a:t>Brainstorm &amp; Giai Quyet</a:t>
            </a:r>
            <a:endParaRPr lang="en-US" sz="1100" dirty="0"/>
          </a:p>
        </p:txBody>
      </p:sp>
      <p:sp>
        <p:nvSpPr>
          <p:cNvPr id="37" name="Text 35"/>
          <p:cNvSpPr/>
          <p:nvPr/>
        </p:nvSpPr>
        <p:spPr>
          <a:xfrm>
            <a:off x="6327648" y="1371600"/>
            <a:ext cx="2560320" cy="256032"/>
          </a:xfrm>
          <a:prstGeom prst="rect">
            <a:avLst/>
          </a:prstGeom>
          <a:noFill/>
          <a:ln/>
        </p:spPr>
        <p:txBody>
          <a:bodyPr wrap="square" lIns="0" tIns="0" rIns="0" bIns="0" rtlCol="0" anchor="ctr"/>
          <a:lstStyle/>
          <a:p>
            <a:pPr algn="r" indent="0" marL="0">
              <a:buNone/>
            </a:pPr>
            <a:r>
              <a:rPr lang="en-US" sz="1000" i="1" dirty="0">
                <a:solidFill>
                  <a:srgbClr val="FFFFFF"/>
                </a:solidFill>
              </a:rPr>
              <a:t>Tang toc quyet dinh</a:t>
            </a:r>
            <a:endParaRPr lang="en-US" sz="1000" dirty="0"/>
          </a:p>
        </p:txBody>
      </p:sp>
      <p:sp>
        <p:nvSpPr>
          <p:cNvPr id="38" name="Shape 36"/>
          <p:cNvSpPr/>
          <p:nvPr/>
        </p:nvSpPr>
        <p:spPr>
          <a:xfrm>
            <a:off x="6400800" y="1920240"/>
            <a:ext cx="128016" cy="128016"/>
          </a:xfrm>
          <a:prstGeom prst="ellipse">
            <a:avLst/>
          </a:prstGeom>
          <a:solidFill>
            <a:srgbClr val="CF4500"/>
          </a:solidFill>
          <a:ln w="12700">
            <a:solidFill>
              <a:srgbClr val="CF4500"/>
            </a:solidFill>
            <a:prstDash val="solid"/>
          </a:ln>
        </p:spPr>
      </p:sp>
      <p:sp>
        <p:nvSpPr>
          <p:cNvPr id="39" name="Text 37"/>
          <p:cNvSpPr/>
          <p:nvPr/>
        </p:nvSpPr>
        <p:spPr>
          <a:xfrm>
            <a:off x="6601968" y="1856232"/>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Dong vai khach hang kho tinh phan bien ke hoach</a:t>
            </a:r>
            <a:endParaRPr lang="en-US" sz="1100" dirty="0"/>
          </a:p>
        </p:txBody>
      </p:sp>
      <p:sp>
        <p:nvSpPr>
          <p:cNvPr id="40" name="Shape 38"/>
          <p:cNvSpPr/>
          <p:nvPr/>
        </p:nvSpPr>
        <p:spPr>
          <a:xfrm>
            <a:off x="6400800" y="2615184"/>
            <a:ext cx="128016" cy="128016"/>
          </a:xfrm>
          <a:prstGeom prst="ellipse">
            <a:avLst/>
          </a:prstGeom>
          <a:solidFill>
            <a:srgbClr val="CF4500"/>
          </a:solidFill>
          <a:ln w="12700">
            <a:solidFill>
              <a:srgbClr val="CF4500"/>
            </a:solidFill>
            <a:prstDash val="solid"/>
          </a:ln>
        </p:spPr>
      </p:sp>
      <p:sp>
        <p:nvSpPr>
          <p:cNvPr id="41" name="Text 39"/>
          <p:cNvSpPr/>
          <p:nvPr/>
        </p:nvSpPr>
        <p:spPr>
          <a:xfrm>
            <a:off x="6601968" y="2551176"/>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10 y tuong marketing moi trong vong 30 giay</a:t>
            </a:r>
            <a:endParaRPr lang="en-US" sz="1100" dirty="0"/>
          </a:p>
        </p:txBody>
      </p:sp>
      <p:sp>
        <p:nvSpPr>
          <p:cNvPr id="42" name="Shape 40"/>
          <p:cNvSpPr/>
          <p:nvPr/>
        </p:nvSpPr>
        <p:spPr>
          <a:xfrm>
            <a:off x="6400800" y="3310128"/>
            <a:ext cx="128016" cy="128016"/>
          </a:xfrm>
          <a:prstGeom prst="ellipse">
            <a:avLst/>
          </a:prstGeom>
          <a:solidFill>
            <a:srgbClr val="CF4500"/>
          </a:solidFill>
          <a:ln w="12700">
            <a:solidFill>
              <a:srgbClr val="CF4500"/>
            </a:solidFill>
            <a:prstDash val="solid"/>
          </a:ln>
        </p:spPr>
      </p:sp>
      <p:sp>
        <p:nvSpPr>
          <p:cNvPr id="43" name="Text 41"/>
          <p:cNvSpPr/>
          <p:nvPr/>
        </p:nvSpPr>
        <p:spPr>
          <a:xfrm>
            <a:off x="6601968" y="3246120"/>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Tu dong hoa quy trinh lap lai (Zapier Central)</a:t>
            </a:r>
            <a:endParaRPr lang="en-US" sz="1100" dirty="0"/>
          </a:p>
        </p:txBody>
      </p:sp>
      <p:sp>
        <p:nvSpPr>
          <p:cNvPr id="44" name="Shape 42"/>
          <p:cNvSpPr/>
          <p:nvPr/>
        </p:nvSpPr>
        <p:spPr>
          <a:xfrm>
            <a:off x="6400800" y="4005072"/>
            <a:ext cx="128016" cy="128016"/>
          </a:xfrm>
          <a:prstGeom prst="ellipse">
            <a:avLst/>
          </a:prstGeom>
          <a:solidFill>
            <a:srgbClr val="CF4500"/>
          </a:solidFill>
          <a:ln w="12700">
            <a:solidFill>
              <a:srgbClr val="CF4500"/>
            </a:solidFill>
            <a:prstDash val="solid"/>
          </a:ln>
        </p:spPr>
      </p:sp>
      <p:sp>
        <p:nvSpPr>
          <p:cNvPr id="45" name="Text 43"/>
          <p:cNvSpPr/>
          <p:nvPr/>
        </p:nvSpPr>
        <p:spPr>
          <a:xfrm>
            <a:off x="6601968" y="3941064"/>
            <a:ext cx="2267712" cy="594360"/>
          </a:xfrm>
          <a:prstGeom prst="rect">
            <a:avLst/>
          </a:prstGeom>
          <a:noFill/>
          <a:ln/>
        </p:spPr>
        <p:txBody>
          <a:bodyPr wrap="square" lIns="0" tIns="0" rIns="0" bIns="0" rtlCol="0" anchor="ctr"/>
          <a:lstStyle/>
          <a:p>
            <a:pPr algn="l" indent="0" marL="0">
              <a:buNone/>
            </a:pPr>
            <a:r>
              <a:rPr lang="en-US" sz="1100" dirty="0">
                <a:solidFill>
                  <a:srgbClr val="1E293B"/>
                </a:solidFill>
              </a:rPr>
              <a:t>Len kich ban hop, phan tich SWOT tuc thi</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050"/>
          </a:solidFill>
          <a:ln w="12700">
            <a:solidFill>
              <a:srgbClr val="1A3050"/>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algn="l" indent="0" marL="0">
              <a:buNone/>
            </a:pPr>
            <a:r>
              <a:rPr lang="en-US" sz="1800" b="1" dirty="0">
                <a:solidFill>
                  <a:srgbClr val="00C9A7"/>
                </a:solidFill>
              </a:rPr>
              <a:t>NGHE THUAT DAT CAU HOI — PROMPT ENGINEERING</a:t>
            </a:r>
            <a:endParaRPr lang="en-US" sz="1800" dirty="0"/>
          </a:p>
        </p:txBody>
      </p:sp>
      <p:sp>
        <p:nvSpPr>
          <p:cNvPr id="4" name="Text 2"/>
          <p:cNvSpPr/>
          <p:nvPr/>
        </p:nvSpPr>
        <p:spPr>
          <a:xfrm>
            <a:off x="457200" y="777240"/>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Arial Black" pitchFamily="34" charset="0"/>
                <a:ea typeface="Arial Black" pitchFamily="34" charset="-122"/>
                <a:cs typeface="Arial Black" pitchFamily="34" charset="-120"/>
              </a:rPr>
              <a:t>Cong thuc C.R.E.O</a:t>
            </a:r>
            <a:endParaRPr lang="en-US" sz="2800" dirty="0"/>
          </a:p>
        </p:txBody>
      </p:sp>
      <p:sp>
        <p:nvSpPr>
          <p:cNvPr id="5" name="Text 3"/>
          <p:cNvSpPr/>
          <p:nvPr/>
        </p:nvSpPr>
        <p:spPr>
          <a:xfrm>
            <a:off x="457200" y="1280160"/>
            <a:ext cx="8229600" cy="320040"/>
          </a:xfrm>
          <a:prstGeom prst="rect">
            <a:avLst/>
          </a:prstGeom>
          <a:noFill/>
          <a:ln/>
        </p:spPr>
        <p:txBody>
          <a:bodyPr wrap="square" lIns="0" tIns="0" rIns="0" bIns="0" rtlCol="0" anchor="ctr"/>
          <a:lstStyle/>
          <a:p>
            <a:pPr algn="l" indent="0" marL="0">
              <a:buNone/>
            </a:pPr>
            <a:r>
              <a:rPr lang="en-US" sz="1400" dirty="0">
                <a:solidFill>
                  <a:srgbClr val="A8BFCF"/>
                </a:solidFill>
              </a:rPr>
              <a:t>De AI hieu dung y ngay lan dau — ap dung duoc ngay hom nay</a:t>
            </a:r>
            <a:endParaRPr lang="en-US" sz="1400" dirty="0"/>
          </a:p>
        </p:txBody>
      </p:sp>
      <p:sp>
        <p:nvSpPr>
          <p:cNvPr id="6" name="Shape 4"/>
          <p:cNvSpPr/>
          <p:nvPr/>
        </p:nvSpPr>
        <p:spPr>
          <a:xfrm>
            <a:off x="256032" y="1755648"/>
            <a:ext cx="2057400" cy="3154680"/>
          </a:xfrm>
          <a:prstGeom prst="rect">
            <a:avLst/>
          </a:prstGeom>
          <a:solidFill>
            <a:srgbClr val="1A3050"/>
          </a:solidFill>
          <a:ln w="12700">
            <a:solidFill>
              <a:srgbClr val="00C9A7"/>
            </a:solidFill>
            <a:prstDash val="solid"/>
          </a:ln>
          <a:effectLst>
            <a:outerShdw sx="100000" sy="100000" kx="0" ky="0" algn="bl" rotWithShape="0" blurRad="127000" dist="25400" dir="8100000">
              <a:srgbClr val="000000">
                <a:alpha val="9000"/>
              </a:srgbClr>
            </a:outerShdw>
          </a:effectLst>
        </p:spPr>
      </p:sp>
      <p:sp>
        <p:nvSpPr>
          <p:cNvPr id="7" name="Shape 5"/>
          <p:cNvSpPr/>
          <p:nvPr/>
        </p:nvSpPr>
        <p:spPr>
          <a:xfrm>
            <a:off x="256032" y="1755648"/>
            <a:ext cx="2057400" cy="713232"/>
          </a:xfrm>
          <a:prstGeom prst="rect">
            <a:avLst/>
          </a:prstGeom>
          <a:solidFill>
            <a:srgbClr val="00C9A7"/>
          </a:solidFill>
          <a:ln w="12700">
            <a:solidFill>
              <a:srgbClr val="00C9A7"/>
            </a:solidFill>
            <a:prstDash val="solid"/>
          </a:ln>
        </p:spPr>
      </p:sp>
      <p:sp>
        <p:nvSpPr>
          <p:cNvPr id="8" name="Text 6"/>
          <p:cNvSpPr/>
          <p:nvPr/>
        </p:nvSpPr>
        <p:spPr>
          <a:xfrm>
            <a:off x="256032" y="1755648"/>
            <a:ext cx="731520" cy="713232"/>
          </a:xfrm>
          <a:prstGeom prst="rect">
            <a:avLst/>
          </a:prstGeom>
          <a:noFill/>
          <a:ln/>
        </p:spPr>
        <p:txBody>
          <a:bodyPr wrap="square" rtlCol="0" anchor="ctr"/>
          <a:lstStyle/>
          <a:p>
            <a:pPr algn="ctr" indent="0" marL="0">
              <a:buNone/>
            </a:pPr>
            <a:r>
              <a:rPr lang="en-US" sz="3600" b="1" dirty="0">
                <a:solidFill>
                  <a:srgbClr val="0A1628"/>
                </a:solidFill>
                <a:latin typeface="Arial Black" pitchFamily="34" charset="0"/>
                <a:ea typeface="Arial Black" pitchFamily="34" charset="-122"/>
                <a:cs typeface="Arial Black" pitchFamily="34" charset="-120"/>
              </a:rPr>
              <a:t>C</a:t>
            </a:r>
            <a:endParaRPr lang="en-US" sz="3600" dirty="0"/>
          </a:p>
        </p:txBody>
      </p:sp>
      <p:sp>
        <p:nvSpPr>
          <p:cNvPr id="9" name="Text 7"/>
          <p:cNvSpPr/>
          <p:nvPr/>
        </p:nvSpPr>
        <p:spPr>
          <a:xfrm>
            <a:off x="987552" y="1755648"/>
            <a:ext cx="1280160" cy="713232"/>
          </a:xfrm>
          <a:prstGeom prst="rect">
            <a:avLst/>
          </a:prstGeom>
          <a:noFill/>
          <a:ln/>
        </p:spPr>
        <p:txBody>
          <a:bodyPr wrap="square" rtlCol="0" anchor="ctr"/>
          <a:lstStyle/>
          <a:p>
            <a:pPr algn="l" indent="0" marL="0">
              <a:buNone/>
            </a:pPr>
            <a:r>
              <a:rPr lang="en-US" sz="1200" b="1" dirty="0">
                <a:solidFill>
                  <a:srgbClr val="0A1628"/>
                </a:solidFill>
              </a:rPr>
              <a:t>Context</a:t>
            </a:r>
            <a:endParaRPr lang="en-US" sz="1200" dirty="0"/>
          </a:p>
          <a:p>
            <a:pPr algn="l" indent="0" marL="0">
              <a:buNone/>
            </a:pPr>
            <a:r>
              <a:rPr lang="en-US" sz="1200" b="1" dirty="0">
                <a:solidFill>
                  <a:srgbClr val="0A1628"/>
                </a:solidFill>
              </a:rPr>
              <a:t>Boi Canh</a:t>
            </a:r>
            <a:endParaRPr lang="en-US" sz="1200" dirty="0"/>
          </a:p>
        </p:txBody>
      </p:sp>
      <p:sp>
        <p:nvSpPr>
          <p:cNvPr id="10" name="Text 8"/>
          <p:cNvSpPr/>
          <p:nvPr/>
        </p:nvSpPr>
        <p:spPr>
          <a:xfrm>
            <a:off x="347472" y="2542032"/>
            <a:ext cx="1874520" cy="914400"/>
          </a:xfrm>
          <a:prstGeom prst="rect">
            <a:avLst/>
          </a:prstGeom>
          <a:noFill/>
          <a:ln/>
        </p:spPr>
        <p:txBody>
          <a:bodyPr wrap="square" lIns="0" tIns="0" rIns="0" bIns="0" rtlCol="0" anchor="t"/>
          <a:lstStyle/>
          <a:p>
            <a:pPr algn="l" indent="0" marL="0">
              <a:buNone/>
            </a:pPr>
            <a:r>
              <a:rPr lang="en-US" sz="1100" dirty="0">
                <a:solidFill>
                  <a:srgbClr val="C0CDD8"/>
                </a:solidFill>
              </a:rPr>
              <a:t>Ban la ai? Dang lam gi? Cung cap du thong tin ve tinh huong hien tai.</a:t>
            </a:r>
            <a:endParaRPr lang="en-US" sz="1100" dirty="0"/>
          </a:p>
        </p:txBody>
      </p:sp>
      <p:sp>
        <p:nvSpPr>
          <p:cNvPr id="11" name="Shape 9"/>
          <p:cNvSpPr/>
          <p:nvPr/>
        </p:nvSpPr>
        <p:spPr>
          <a:xfrm>
            <a:off x="329184" y="3529584"/>
            <a:ext cx="1920240" cy="1261872"/>
          </a:xfrm>
          <a:prstGeom prst="rect">
            <a:avLst/>
          </a:prstGeom>
          <a:solidFill>
            <a:srgbClr val="0A1628">
              <a:alpha val="62000"/>
            </a:srgbClr>
          </a:solidFill>
          <a:ln w="12700">
            <a:solidFill>
              <a:srgbClr val="00C9A7">
                <a:alpha val="42000"/>
              </a:srgbClr>
            </a:solidFill>
            <a:prstDash val="solid"/>
          </a:ln>
        </p:spPr>
      </p:sp>
      <p:sp>
        <p:nvSpPr>
          <p:cNvPr id="12" name="Text 10"/>
          <p:cNvSpPr/>
          <p:nvPr/>
        </p:nvSpPr>
        <p:spPr>
          <a:xfrm>
            <a:off x="365760" y="3566160"/>
            <a:ext cx="1847088" cy="1188720"/>
          </a:xfrm>
          <a:prstGeom prst="rect">
            <a:avLst/>
          </a:prstGeom>
          <a:noFill/>
          <a:ln/>
        </p:spPr>
        <p:txBody>
          <a:bodyPr wrap="square" rtlCol="0" anchor="t"/>
          <a:lstStyle/>
          <a:p>
            <a:pPr algn="l" indent="0" marL="0">
              <a:buNone/>
            </a:pPr>
            <a:r>
              <a:rPr lang="en-US" sz="1000" i="1" dirty="0">
                <a:solidFill>
                  <a:srgbClr val="8BAABB"/>
                </a:solidFill>
              </a:rPr>
              <a:t>"Toi la truong phong KD tai cong ty thuc pham, dang chuan bi bao cao Q2..."</a:t>
            </a:r>
            <a:endParaRPr lang="en-US" sz="1000" dirty="0"/>
          </a:p>
        </p:txBody>
      </p:sp>
      <p:sp>
        <p:nvSpPr>
          <p:cNvPr id="13" name="Shape 11"/>
          <p:cNvSpPr/>
          <p:nvPr/>
        </p:nvSpPr>
        <p:spPr>
          <a:xfrm>
            <a:off x="2432304" y="1755648"/>
            <a:ext cx="2057400" cy="3154680"/>
          </a:xfrm>
          <a:prstGeom prst="rect">
            <a:avLst/>
          </a:prstGeom>
          <a:solidFill>
            <a:srgbClr val="1A3050"/>
          </a:solidFill>
          <a:ln w="12700">
            <a:solidFill>
              <a:srgbClr val="1A73E8"/>
            </a:solidFill>
            <a:prstDash val="solid"/>
          </a:ln>
          <a:effectLst>
            <a:outerShdw sx="100000" sy="100000" kx="0" ky="0" algn="bl" rotWithShape="0" blurRad="127000" dist="25400" dir="8100000">
              <a:srgbClr val="000000">
                <a:alpha val="9000"/>
              </a:srgbClr>
            </a:outerShdw>
          </a:effectLst>
        </p:spPr>
      </p:sp>
      <p:sp>
        <p:nvSpPr>
          <p:cNvPr id="14" name="Shape 12"/>
          <p:cNvSpPr/>
          <p:nvPr/>
        </p:nvSpPr>
        <p:spPr>
          <a:xfrm>
            <a:off x="2432304" y="1755648"/>
            <a:ext cx="2057400" cy="713232"/>
          </a:xfrm>
          <a:prstGeom prst="rect">
            <a:avLst/>
          </a:prstGeom>
          <a:solidFill>
            <a:srgbClr val="1A73E8"/>
          </a:solidFill>
          <a:ln w="12700">
            <a:solidFill>
              <a:srgbClr val="1A73E8"/>
            </a:solidFill>
            <a:prstDash val="solid"/>
          </a:ln>
        </p:spPr>
      </p:sp>
      <p:sp>
        <p:nvSpPr>
          <p:cNvPr id="15" name="Text 13"/>
          <p:cNvSpPr/>
          <p:nvPr/>
        </p:nvSpPr>
        <p:spPr>
          <a:xfrm>
            <a:off x="2432304" y="1755648"/>
            <a:ext cx="731520" cy="713232"/>
          </a:xfrm>
          <a:prstGeom prst="rect">
            <a:avLst/>
          </a:prstGeom>
          <a:noFill/>
          <a:ln/>
        </p:spPr>
        <p:txBody>
          <a:bodyPr wrap="square" rtlCol="0" anchor="ctr"/>
          <a:lstStyle/>
          <a:p>
            <a:pPr algn="ctr" indent="0" marL="0">
              <a:buNone/>
            </a:pPr>
            <a:r>
              <a:rPr lang="en-US" sz="3600" b="1" dirty="0">
                <a:solidFill>
                  <a:srgbClr val="0A1628"/>
                </a:solidFill>
                <a:latin typeface="Arial Black" pitchFamily="34" charset="0"/>
                <a:ea typeface="Arial Black" pitchFamily="34" charset="-122"/>
                <a:cs typeface="Arial Black" pitchFamily="34" charset="-120"/>
              </a:rPr>
              <a:t>R</a:t>
            </a:r>
            <a:endParaRPr lang="en-US" sz="3600" dirty="0"/>
          </a:p>
        </p:txBody>
      </p:sp>
      <p:sp>
        <p:nvSpPr>
          <p:cNvPr id="16" name="Text 14"/>
          <p:cNvSpPr/>
          <p:nvPr/>
        </p:nvSpPr>
        <p:spPr>
          <a:xfrm>
            <a:off x="3163824" y="1755648"/>
            <a:ext cx="1280160" cy="713232"/>
          </a:xfrm>
          <a:prstGeom prst="rect">
            <a:avLst/>
          </a:prstGeom>
          <a:noFill/>
          <a:ln/>
        </p:spPr>
        <p:txBody>
          <a:bodyPr wrap="square" rtlCol="0" anchor="ctr"/>
          <a:lstStyle/>
          <a:p>
            <a:pPr algn="l" indent="0" marL="0">
              <a:buNone/>
            </a:pPr>
            <a:r>
              <a:rPr lang="en-US" sz="1200" b="1" dirty="0">
                <a:solidFill>
                  <a:srgbClr val="0A1628"/>
                </a:solidFill>
              </a:rPr>
              <a:t>Role</a:t>
            </a:r>
            <a:endParaRPr lang="en-US" sz="1200" dirty="0"/>
          </a:p>
          <a:p>
            <a:pPr algn="l" indent="0" marL="0">
              <a:buNone/>
            </a:pPr>
            <a:r>
              <a:rPr lang="en-US" sz="1200" b="1" dirty="0">
                <a:solidFill>
                  <a:srgbClr val="0A1628"/>
                </a:solidFill>
              </a:rPr>
              <a:t>Vai Tro</a:t>
            </a:r>
            <a:endParaRPr lang="en-US" sz="1200" dirty="0"/>
          </a:p>
        </p:txBody>
      </p:sp>
      <p:sp>
        <p:nvSpPr>
          <p:cNvPr id="17" name="Text 15"/>
          <p:cNvSpPr/>
          <p:nvPr/>
        </p:nvSpPr>
        <p:spPr>
          <a:xfrm>
            <a:off x="2523744" y="2542032"/>
            <a:ext cx="1874520" cy="914400"/>
          </a:xfrm>
          <a:prstGeom prst="rect">
            <a:avLst/>
          </a:prstGeom>
          <a:noFill/>
          <a:ln/>
        </p:spPr>
        <p:txBody>
          <a:bodyPr wrap="square" lIns="0" tIns="0" rIns="0" bIns="0" rtlCol="0" anchor="t"/>
          <a:lstStyle/>
          <a:p>
            <a:pPr algn="l" indent="0" marL="0">
              <a:buNone/>
            </a:pPr>
            <a:r>
              <a:rPr lang="en-US" sz="1100" dirty="0">
                <a:solidFill>
                  <a:srgbClr val="C0CDD8"/>
                </a:solidFill>
              </a:rPr>
              <a:t>Yeu cau AI dong vai chuyen gia cu the de nhan phan hoi chuyen nghiep.</a:t>
            </a:r>
            <a:endParaRPr lang="en-US" sz="1100" dirty="0"/>
          </a:p>
        </p:txBody>
      </p:sp>
      <p:sp>
        <p:nvSpPr>
          <p:cNvPr id="18" name="Shape 16"/>
          <p:cNvSpPr/>
          <p:nvPr/>
        </p:nvSpPr>
        <p:spPr>
          <a:xfrm>
            <a:off x="2505456" y="3529584"/>
            <a:ext cx="1920240" cy="1261872"/>
          </a:xfrm>
          <a:prstGeom prst="rect">
            <a:avLst/>
          </a:prstGeom>
          <a:solidFill>
            <a:srgbClr val="0A1628">
              <a:alpha val="62000"/>
            </a:srgbClr>
          </a:solidFill>
          <a:ln w="12700">
            <a:solidFill>
              <a:srgbClr val="1A73E8">
                <a:alpha val="42000"/>
              </a:srgbClr>
            </a:solidFill>
            <a:prstDash val="solid"/>
          </a:ln>
        </p:spPr>
      </p:sp>
      <p:sp>
        <p:nvSpPr>
          <p:cNvPr id="19" name="Text 17"/>
          <p:cNvSpPr/>
          <p:nvPr/>
        </p:nvSpPr>
        <p:spPr>
          <a:xfrm>
            <a:off x="2542032" y="3566160"/>
            <a:ext cx="1847088" cy="1188720"/>
          </a:xfrm>
          <a:prstGeom prst="rect">
            <a:avLst/>
          </a:prstGeom>
          <a:noFill/>
          <a:ln/>
        </p:spPr>
        <p:txBody>
          <a:bodyPr wrap="square" rtlCol="0" anchor="t"/>
          <a:lstStyle/>
          <a:p>
            <a:pPr algn="l" indent="0" marL="0">
              <a:buNone/>
            </a:pPr>
            <a:r>
              <a:rPr lang="en-US" sz="1000" i="1" dirty="0">
                <a:solidFill>
                  <a:srgbClr val="8BAABB"/>
                </a:solidFill>
              </a:rPr>
              <a:t>"Ban la chuyen gia Marketing day dan kinh nghiem trong nganh F&amp;B..."</a:t>
            </a:r>
            <a:endParaRPr lang="en-US" sz="1000" dirty="0"/>
          </a:p>
        </p:txBody>
      </p:sp>
      <p:sp>
        <p:nvSpPr>
          <p:cNvPr id="20" name="Shape 18"/>
          <p:cNvSpPr/>
          <p:nvPr/>
        </p:nvSpPr>
        <p:spPr>
          <a:xfrm>
            <a:off x="4608576" y="1755648"/>
            <a:ext cx="2057400" cy="3154680"/>
          </a:xfrm>
          <a:prstGeom prst="rect">
            <a:avLst/>
          </a:prstGeom>
          <a:solidFill>
            <a:srgbClr val="1A3050"/>
          </a:solidFill>
          <a:ln w="12700">
            <a:solidFill>
              <a:srgbClr val="10A37F"/>
            </a:solidFill>
            <a:prstDash val="solid"/>
          </a:ln>
          <a:effectLst>
            <a:outerShdw sx="100000" sy="100000" kx="0" ky="0" algn="bl" rotWithShape="0" blurRad="127000" dist="25400" dir="8100000">
              <a:srgbClr val="000000">
                <a:alpha val="9000"/>
              </a:srgbClr>
            </a:outerShdw>
          </a:effectLst>
        </p:spPr>
      </p:sp>
      <p:sp>
        <p:nvSpPr>
          <p:cNvPr id="21" name="Shape 19"/>
          <p:cNvSpPr/>
          <p:nvPr/>
        </p:nvSpPr>
        <p:spPr>
          <a:xfrm>
            <a:off x="4608576" y="1755648"/>
            <a:ext cx="2057400" cy="713232"/>
          </a:xfrm>
          <a:prstGeom prst="rect">
            <a:avLst/>
          </a:prstGeom>
          <a:solidFill>
            <a:srgbClr val="10A37F"/>
          </a:solidFill>
          <a:ln w="12700">
            <a:solidFill>
              <a:srgbClr val="10A37F"/>
            </a:solidFill>
            <a:prstDash val="solid"/>
          </a:ln>
        </p:spPr>
      </p:sp>
      <p:sp>
        <p:nvSpPr>
          <p:cNvPr id="22" name="Text 20"/>
          <p:cNvSpPr/>
          <p:nvPr/>
        </p:nvSpPr>
        <p:spPr>
          <a:xfrm>
            <a:off x="4608576" y="1755648"/>
            <a:ext cx="731520" cy="713232"/>
          </a:xfrm>
          <a:prstGeom prst="rect">
            <a:avLst/>
          </a:prstGeom>
          <a:noFill/>
          <a:ln/>
        </p:spPr>
        <p:txBody>
          <a:bodyPr wrap="square" rtlCol="0" anchor="ctr"/>
          <a:lstStyle/>
          <a:p>
            <a:pPr algn="ctr" indent="0" marL="0">
              <a:buNone/>
            </a:pPr>
            <a:r>
              <a:rPr lang="en-US" sz="3600" b="1" dirty="0">
                <a:solidFill>
                  <a:srgbClr val="0A1628"/>
                </a:solidFill>
                <a:latin typeface="Arial Black" pitchFamily="34" charset="0"/>
                <a:ea typeface="Arial Black" pitchFamily="34" charset="-122"/>
                <a:cs typeface="Arial Black" pitchFamily="34" charset="-120"/>
              </a:rPr>
              <a:t>E</a:t>
            </a:r>
            <a:endParaRPr lang="en-US" sz="3600" dirty="0"/>
          </a:p>
        </p:txBody>
      </p:sp>
      <p:sp>
        <p:nvSpPr>
          <p:cNvPr id="23" name="Text 21"/>
          <p:cNvSpPr/>
          <p:nvPr/>
        </p:nvSpPr>
        <p:spPr>
          <a:xfrm>
            <a:off x="5340096" y="1755648"/>
            <a:ext cx="1280160" cy="713232"/>
          </a:xfrm>
          <a:prstGeom prst="rect">
            <a:avLst/>
          </a:prstGeom>
          <a:noFill/>
          <a:ln/>
        </p:spPr>
        <p:txBody>
          <a:bodyPr wrap="square" rtlCol="0" anchor="ctr"/>
          <a:lstStyle/>
          <a:p>
            <a:pPr algn="l" indent="0" marL="0">
              <a:buNone/>
            </a:pPr>
            <a:r>
              <a:rPr lang="en-US" sz="1200" b="1" dirty="0">
                <a:solidFill>
                  <a:srgbClr val="0A1628"/>
                </a:solidFill>
              </a:rPr>
              <a:t>Execute</a:t>
            </a:r>
            <a:endParaRPr lang="en-US" sz="1200" dirty="0"/>
          </a:p>
          <a:p>
            <a:pPr algn="l" indent="0" marL="0">
              <a:buNone/>
            </a:pPr>
            <a:r>
              <a:rPr lang="en-US" sz="1200" b="1" dirty="0">
                <a:solidFill>
                  <a:srgbClr val="0A1628"/>
                </a:solidFill>
              </a:rPr>
              <a:t>Nhiem Vu</a:t>
            </a:r>
            <a:endParaRPr lang="en-US" sz="1200" dirty="0"/>
          </a:p>
        </p:txBody>
      </p:sp>
      <p:sp>
        <p:nvSpPr>
          <p:cNvPr id="24" name="Text 22"/>
          <p:cNvSpPr/>
          <p:nvPr/>
        </p:nvSpPr>
        <p:spPr>
          <a:xfrm>
            <a:off x="4700016" y="2542032"/>
            <a:ext cx="1874520" cy="914400"/>
          </a:xfrm>
          <a:prstGeom prst="rect">
            <a:avLst/>
          </a:prstGeom>
          <a:noFill/>
          <a:ln/>
        </p:spPr>
        <p:txBody>
          <a:bodyPr wrap="square" lIns="0" tIns="0" rIns="0" bIns="0" rtlCol="0" anchor="t"/>
          <a:lstStyle/>
          <a:p>
            <a:pPr algn="l" indent="0" marL="0">
              <a:buNone/>
            </a:pPr>
            <a:r>
              <a:rPr lang="en-US" sz="1100" dirty="0">
                <a:solidFill>
                  <a:srgbClr val="C0CDD8"/>
                </a:solidFill>
              </a:rPr>
              <a:t>Mo ta ro rang ban muon AI lam gi: viet, tom tat, phan tich, len ke hoach...</a:t>
            </a:r>
            <a:endParaRPr lang="en-US" sz="1100" dirty="0"/>
          </a:p>
        </p:txBody>
      </p:sp>
      <p:sp>
        <p:nvSpPr>
          <p:cNvPr id="25" name="Shape 23"/>
          <p:cNvSpPr/>
          <p:nvPr/>
        </p:nvSpPr>
        <p:spPr>
          <a:xfrm>
            <a:off x="4681728" y="3529584"/>
            <a:ext cx="1920240" cy="1261872"/>
          </a:xfrm>
          <a:prstGeom prst="rect">
            <a:avLst/>
          </a:prstGeom>
          <a:solidFill>
            <a:srgbClr val="0A1628">
              <a:alpha val="62000"/>
            </a:srgbClr>
          </a:solidFill>
          <a:ln w="12700">
            <a:solidFill>
              <a:srgbClr val="10A37F">
                <a:alpha val="42000"/>
              </a:srgbClr>
            </a:solidFill>
            <a:prstDash val="solid"/>
          </a:ln>
        </p:spPr>
      </p:sp>
      <p:sp>
        <p:nvSpPr>
          <p:cNvPr id="26" name="Text 24"/>
          <p:cNvSpPr/>
          <p:nvPr/>
        </p:nvSpPr>
        <p:spPr>
          <a:xfrm>
            <a:off x="4718304" y="3566160"/>
            <a:ext cx="1847088" cy="1188720"/>
          </a:xfrm>
          <a:prstGeom prst="rect">
            <a:avLst/>
          </a:prstGeom>
          <a:noFill/>
          <a:ln/>
        </p:spPr>
        <p:txBody>
          <a:bodyPr wrap="square" rtlCol="0" anchor="t"/>
          <a:lstStyle/>
          <a:p>
            <a:pPr algn="l" indent="0" marL="0">
              <a:buNone/>
            </a:pPr>
            <a:r>
              <a:rPr lang="en-US" sz="1000" i="1" dirty="0">
                <a:solidFill>
                  <a:srgbClr val="8BAABB"/>
                </a:solidFill>
              </a:rPr>
              <a:t>"Hay viet 5 y tuong chien dich cho san pham moi, moi y 2-3 cau..."</a:t>
            </a:r>
            <a:endParaRPr lang="en-US" sz="1000" dirty="0"/>
          </a:p>
        </p:txBody>
      </p:sp>
      <p:sp>
        <p:nvSpPr>
          <p:cNvPr id="27" name="Shape 25"/>
          <p:cNvSpPr/>
          <p:nvPr/>
        </p:nvSpPr>
        <p:spPr>
          <a:xfrm>
            <a:off x="6784848" y="1755648"/>
            <a:ext cx="2057400" cy="3154680"/>
          </a:xfrm>
          <a:prstGeom prst="rect">
            <a:avLst/>
          </a:prstGeom>
          <a:solidFill>
            <a:srgbClr val="1A3050"/>
          </a:solidFill>
          <a:ln w="12700">
            <a:solidFill>
              <a:srgbClr val="CF4500"/>
            </a:solidFill>
            <a:prstDash val="solid"/>
          </a:ln>
          <a:effectLst>
            <a:outerShdw sx="100000" sy="100000" kx="0" ky="0" algn="bl" rotWithShape="0" blurRad="127000" dist="25400" dir="8100000">
              <a:srgbClr val="000000">
                <a:alpha val="9000"/>
              </a:srgbClr>
            </a:outerShdw>
          </a:effectLst>
        </p:spPr>
      </p:sp>
      <p:sp>
        <p:nvSpPr>
          <p:cNvPr id="28" name="Shape 26"/>
          <p:cNvSpPr/>
          <p:nvPr/>
        </p:nvSpPr>
        <p:spPr>
          <a:xfrm>
            <a:off x="6784848" y="1755648"/>
            <a:ext cx="2057400" cy="713232"/>
          </a:xfrm>
          <a:prstGeom prst="rect">
            <a:avLst/>
          </a:prstGeom>
          <a:solidFill>
            <a:srgbClr val="CF4500"/>
          </a:solidFill>
          <a:ln w="12700">
            <a:solidFill>
              <a:srgbClr val="CF4500"/>
            </a:solidFill>
            <a:prstDash val="solid"/>
          </a:ln>
        </p:spPr>
      </p:sp>
      <p:sp>
        <p:nvSpPr>
          <p:cNvPr id="29" name="Text 27"/>
          <p:cNvSpPr/>
          <p:nvPr/>
        </p:nvSpPr>
        <p:spPr>
          <a:xfrm>
            <a:off x="6784848" y="1755648"/>
            <a:ext cx="731520" cy="713232"/>
          </a:xfrm>
          <a:prstGeom prst="rect">
            <a:avLst/>
          </a:prstGeom>
          <a:noFill/>
          <a:ln/>
        </p:spPr>
        <p:txBody>
          <a:bodyPr wrap="square" rtlCol="0" anchor="ctr"/>
          <a:lstStyle/>
          <a:p>
            <a:pPr algn="ctr" indent="0" marL="0">
              <a:buNone/>
            </a:pPr>
            <a:r>
              <a:rPr lang="en-US" sz="3600" b="1" dirty="0">
                <a:solidFill>
                  <a:srgbClr val="0A1628"/>
                </a:solidFill>
                <a:latin typeface="Arial Black" pitchFamily="34" charset="0"/>
                <a:ea typeface="Arial Black" pitchFamily="34" charset="-122"/>
                <a:cs typeface="Arial Black" pitchFamily="34" charset="-120"/>
              </a:rPr>
              <a:t>O</a:t>
            </a:r>
            <a:endParaRPr lang="en-US" sz="3600" dirty="0"/>
          </a:p>
        </p:txBody>
      </p:sp>
      <p:sp>
        <p:nvSpPr>
          <p:cNvPr id="30" name="Text 28"/>
          <p:cNvSpPr/>
          <p:nvPr/>
        </p:nvSpPr>
        <p:spPr>
          <a:xfrm>
            <a:off x="7516368" y="1755648"/>
            <a:ext cx="1280160" cy="713232"/>
          </a:xfrm>
          <a:prstGeom prst="rect">
            <a:avLst/>
          </a:prstGeom>
          <a:noFill/>
          <a:ln/>
        </p:spPr>
        <p:txBody>
          <a:bodyPr wrap="square" rtlCol="0" anchor="ctr"/>
          <a:lstStyle/>
          <a:p>
            <a:pPr algn="l" indent="0" marL="0">
              <a:buNone/>
            </a:pPr>
            <a:r>
              <a:rPr lang="en-US" sz="1200" b="1" dirty="0">
                <a:solidFill>
                  <a:srgbClr val="0A1628"/>
                </a:solidFill>
              </a:rPr>
              <a:t>Output</a:t>
            </a:r>
            <a:endParaRPr lang="en-US" sz="1200" dirty="0"/>
          </a:p>
          <a:p>
            <a:pPr algn="l" indent="0" marL="0">
              <a:buNone/>
            </a:pPr>
            <a:r>
              <a:rPr lang="en-US" sz="1200" b="1" dirty="0">
                <a:solidFill>
                  <a:srgbClr val="0A1628"/>
                </a:solidFill>
              </a:rPr>
              <a:t>Dau Ra</a:t>
            </a:r>
            <a:endParaRPr lang="en-US" sz="1200" dirty="0"/>
          </a:p>
        </p:txBody>
      </p:sp>
      <p:sp>
        <p:nvSpPr>
          <p:cNvPr id="31" name="Text 29"/>
          <p:cNvSpPr/>
          <p:nvPr/>
        </p:nvSpPr>
        <p:spPr>
          <a:xfrm>
            <a:off x="6876288" y="2542032"/>
            <a:ext cx="1874520" cy="914400"/>
          </a:xfrm>
          <a:prstGeom prst="rect">
            <a:avLst/>
          </a:prstGeom>
          <a:noFill/>
          <a:ln/>
        </p:spPr>
        <p:txBody>
          <a:bodyPr wrap="square" lIns="0" tIns="0" rIns="0" bIns="0" rtlCol="0" anchor="t"/>
          <a:lstStyle/>
          <a:p>
            <a:pPr algn="l" indent="0" marL="0">
              <a:buNone/>
            </a:pPr>
            <a:r>
              <a:rPr lang="en-US" sz="1100" dirty="0">
                <a:solidFill>
                  <a:srgbClr val="C0CDD8"/>
                </a:solidFill>
              </a:rPr>
              <a:t>Chi dinh: do dai, giong van (trang trong/than thien), dinh dang (bang/gach dau dong).</a:t>
            </a:r>
            <a:endParaRPr lang="en-US" sz="1100" dirty="0"/>
          </a:p>
        </p:txBody>
      </p:sp>
      <p:sp>
        <p:nvSpPr>
          <p:cNvPr id="32" name="Shape 30"/>
          <p:cNvSpPr/>
          <p:nvPr/>
        </p:nvSpPr>
        <p:spPr>
          <a:xfrm>
            <a:off x="6858000" y="3529584"/>
            <a:ext cx="1920240" cy="1261872"/>
          </a:xfrm>
          <a:prstGeom prst="rect">
            <a:avLst/>
          </a:prstGeom>
          <a:solidFill>
            <a:srgbClr val="0A1628">
              <a:alpha val="62000"/>
            </a:srgbClr>
          </a:solidFill>
          <a:ln w="12700">
            <a:solidFill>
              <a:srgbClr val="CF4500">
                <a:alpha val="42000"/>
              </a:srgbClr>
            </a:solidFill>
            <a:prstDash val="solid"/>
          </a:ln>
        </p:spPr>
      </p:sp>
      <p:sp>
        <p:nvSpPr>
          <p:cNvPr id="33" name="Text 31"/>
          <p:cNvSpPr/>
          <p:nvPr/>
        </p:nvSpPr>
        <p:spPr>
          <a:xfrm>
            <a:off x="6894576" y="3566160"/>
            <a:ext cx="1847088" cy="1188720"/>
          </a:xfrm>
          <a:prstGeom prst="rect">
            <a:avLst/>
          </a:prstGeom>
          <a:noFill/>
          <a:ln/>
        </p:spPr>
        <p:txBody>
          <a:bodyPr wrap="square" rtlCol="0" anchor="t"/>
          <a:lstStyle/>
          <a:p>
            <a:pPr algn="l" indent="0" marL="0">
              <a:buNone/>
            </a:pPr>
            <a:r>
              <a:rPr lang="en-US" sz="1000" i="1" dirty="0">
                <a:solidFill>
                  <a:srgbClr val="8BAABB"/>
                </a:solidFill>
              </a:rPr>
              <a:t>"Tra loi tieng Viet, toi da 200 tu, trinh bay dang bang so sanh."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a:ln w="12700">
            <a:solidFill>
              <a:srgbClr val="0A1628"/>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algn="l" indent="0" marL="0">
              <a:buNone/>
            </a:pPr>
            <a:r>
              <a:rPr lang="en-US" sz="2100" b="1" dirty="0">
                <a:solidFill>
                  <a:srgbClr val="FFFFFF"/>
                </a:solidFill>
              </a:rPr>
              <a:t>4 LUU Y QUAN TRONG KHI DUNG AI</a:t>
            </a:r>
            <a:endParaRPr lang="en-US" sz="2100" dirty="0"/>
          </a:p>
        </p:txBody>
      </p:sp>
      <p:sp>
        <p:nvSpPr>
          <p:cNvPr id="4" name="Shape 2"/>
          <p:cNvSpPr/>
          <p:nvPr/>
        </p:nvSpPr>
        <p:spPr>
          <a:xfrm>
            <a:off x="256032" y="804672"/>
            <a:ext cx="4069080" cy="17830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5" name="Shape 3"/>
          <p:cNvSpPr/>
          <p:nvPr/>
        </p:nvSpPr>
        <p:spPr>
          <a:xfrm>
            <a:off x="256032" y="804672"/>
            <a:ext cx="82296" cy="1783080"/>
          </a:xfrm>
          <a:prstGeom prst="rect">
            <a:avLst/>
          </a:prstGeom>
          <a:solidFill>
            <a:srgbClr val="DC2626"/>
          </a:solidFill>
          <a:ln w="12700">
            <a:solidFill>
              <a:srgbClr val="DC2626"/>
            </a:solidFill>
            <a:prstDash val="solid"/>
          </a:ln>
        </p:spPr>
      </p:sp>
      <p:sp>
        <p:nvSpPr>
          <p:cNvPr id="6" name="Text 4"/>
          <p:cNvSpPr/>
          <p:nvPr/>
        </p:nvSpPr>
        <p:spPr>
          <a:xfrm>
            <a:off x="438912" y="941832"/>
            <a:ext cx="3703320" cy="384048"/>
          </a:xfrm>
          <a:prstGeom prst="rect">
            <a:avLst/>
          </a:prstGeom>
          <a:noFill/>
          <a:ln/>
        </p:spPr>
        <p:txBody>
          <a:bodyPr wrap="square" lIns="0" tIns="0" rIns="0" bIns="0" rtlCol="0" anchor="ctr"/>
          <a:lstStyle/>
          <a:p>
            <a:pPr algn="l" indent="0" marL="0">
              <a:buNone/>
            </a:pPr>
            <a:r>
              <a:rPr lang="en-US" sz="1500" b="1" dirty="0">
                <a:solidFill>
                  <a:srgbClr val="DC2626"/>
                </a:solidFill>
              </a:rPr>
              <a:t>Bao Mat Du Lieu (Privacy First)</a:t>
            </a:r>
            <a:endParaRPr lang="en-US" sz="1500" dirty="0"/>
          </a:p>
        </p:txBody>
      </p:sp>
      <p:sp>
        <p:nvSpPr>
          <p:cNvPr id="7" name="Text 5"/>
          <p:cNvSpPr/>
          <p:nvPr/>
        </p:nvSpPr>
        <p:spPr>
          <a:xfrm>
            <a:off x="438912" y="1371600"/>
            <a:ext cx="3703320" cy="1078992"/>
          </a:xfrm>
          <a:prstGeom prst="rect">
            <a:avLst/>
          </a:prstGeom>
          <a:noFill/>
          <a:ln/>
        </p:spPr>
        <p:txBody>
          <a:bodyPr wrap="square" lIns="0" tIns="0" rIns="0" bIns="0" rtlCol="0" anchor="t"/>
          <a:lstStyle/>
          <a:p>
            <a:pPr algn="l" indent="0" marL="0">
              <a:buNone/>
            </a:pPr>
            <a:r>
              <a:rPr lang="en-US" sz="1200" dirty="0">
                <a:solidFill>
                  <a:srgbClr val="1E293B"/>
                </a:solidFill>
              </a:rPr>
              <a:t>KHONG dan thong tin nhay cam (bao cao noi bo, data khach hang, bi mat kinh doanh) vao AI cong cong. Du lieu co the duoc dung huan luyen mo hinh.</a:t>
            </a:r>
            <a:endParaRPr lang="en-US" sz="1200" dirty="0"/>
          </a:p>
        </p:txBody>
      </p:sp>
      <p:sp>
        <p:nvSpPr>
          <p:cNvPr id="8" name="Shape 6"/>
          <p:cNvSpPr/>
          <p:nvPr/>
        </p:nvSpPr>
        <p:spPr>
          <a:xfrm>
            <a:off x="4800600" y="804672"/>
            <a:ext cx="4069080" cy="17830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9" name="Shape 7"/>
          <p:cNvSpPr/>
          <p:nvPr/>
        </p:nvSpPr>
        <p:spPr>
          <a:xfrm>
            <a:off x="4800600" y="804672"/>
            <a:ext cx="82296" cy="1783080"/>
          </a:xfrm>
          <a:prstGeom prst="rect">
            <a:avLst/>
          </a:prstGeom>
          <a:solidFill>
            <a:srgbClr val="D97706"/>
          </a:solidFill>
          <a:ln w="12700">
            <a:solidFill>
              <a:srgbClr val="D97706"/>
            </a:solidFill>
            <a:prstDash val="solid"/>
          </a:ln>
        </p:spPr>
      </p:sp>
      <p:sp>
        <p:nvSpPr>
          <p:cNvPr id="10" name="Text 8"/>
          <p:cNvSpPr/>
          <p:nvPr/>
        </p:nvSpPr>
        <p:spPr>
          <a:xfrm>
            <a:off x="4983480" y="941832"/>
            <a:ext cx="3703320" cy="384048"/>
          </a:xfrm>
          <a:prstGeom prst="rect">
            <a:avLst/>
          </a:prstGeom>
          <a:noFill/>
          <a:ln/>
        </p:spPr>
        <p:txBody>
          <a:bodyPr wrap="square" lIns="0" tIns="0" rIns="0" bIns="0" rtlCol="0" anchor="ctr"/>
          <a:lstStyle/>
          <a:p>
            <a:pPr algn="l" indent="0" marL="0">
              <a:buNone/>
            </a:pPr>
            <a:r>
              <a:rPr lang="en-US" sz="1500" b="1" dirty="0">
                <a:solidFill>
                  <a:srgbClr val="D97706"/>
                </a:solidFill>
              </a:rPr>
              <a:t>Kiem Chung Thong Tin (Fact-Check)</a:t>
            </a:r>
            <a:endParaRPr lang="en-US" sz="1500" dirty="0"/>
          </a:p>
        </p:txBody>
      </p:sp>
      <p:sp>
        <p:nvSpPr>
          <p:cNvPr id="11" name="Text 9"/>
          <p:cNvSpPr/>
          <p:nvPr/>
        </p:nvSpPr>
        <p:spPr>
          <a:xfrm>
            <a:off x="4983480" y="1371600"/>
            <a:ext cx="3703320" cy="1078992"/>
          </a:xfrm>
          <a:prstGeom prst="rect">
            <a:avLst/>
          </a:prstGeom>
          <a:noFill/>
          <a:ln/>
        </p:spPr>
        <p:txBody>
          <a:bodyPr wrap="square" lIns="0" tIns="0" rIns="0" bIns="0" rtlCol="0" anchor="t"/>
          <a:lstStyle/>
          <a:p>
            <a:pPr algn="l" indent="0" marL="0">
              <a:buNone/>
            </a:pPr>
            <a:r>
              <a:rPr lang="en-US" sz="1200" dirty="0">
                <a:solidFill>
                  <a:srgbClr val="1E293B"/>
                </a:solidFill>
              </a:rPr>
              <a:t>AI co the 'ao giac' (Hallucination) — bia so lieu, ten nguoi rat thuyet phuc. Luon kiem tra lai thong tin quan trong truoc khi su dung trong cong viec.</a:t>
            </a:r>
            <a:endParaRPr lang="en-US" sz="1200" dirty="0"/>
          </a:p>
        </p:txBody>
      </p:sp>
      <p:sp>
        <p:nvSpPr>
          <p:cNvPr id="12" name="Shape 10"/>
          <p:cNvSpPr/>
          <p:nvPr/>
        </p:nvSpPr>
        <p:spPr>
          <a:xfrm>
            <a:off x="256032" y="2852928"/>
            <a:ext cx="4069080" cy="17830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3" name="Shape 11"/>
          <p:cNvSpPr/>
          <p:nvPr/>
        </p:nvSpPr>
        <p:spPr>
          <a:xfrm>
            <a:off x="256032" y="2852928"/>
            <a:ext cx="82296" cy="1783080"/>
          </a:xfrm>
          <a:prstGeom prst="rect">
            <a:avLst/>
          </a:prstGeom>
          <a:solidFill>
            <a:srgbClr val="0891B2"/>
          </a:solidFill>
          <a:ln w="12700">
            <a:solidFill>
              <a:srgbClr val="0891B2"/>
            </a:solidFill>
            <a:prstDash val="solid"/>
          </a:ln>
        </p:spPr>
      </p:sp>
      <p:sp>
        <p:nvSpPr>
          <p:cNvPr id="14" name="Text 12"/>
          <p:cNvSpPr/>
          <p:nvPr/>
        </p:nvSpPr>
        <p:spPr>
          <a:xfrm>
            <a:off x="438912" y="2990088"/>
            <a:ext cx="3703320" cy="384048"/>
          </a:xfrm>
          <a:prstGeom prst="rect">
            <a:avLst/>
          </a:prstGeom>
          <a:noFill/>
          <a:ln/>
        </p:spPr>
        <p:txBody>
          <a:bodyPr wrap="square" lIns="0" tIns="0" rIns="0" bIns="0" rtlCol="0" anchor="ctr"/>
          <a:lstStyle/>
          <a:p>
            <a:pPr algn="l" indent="0" marL="0">
              <a:buNone/>
            </a:pPr>
            <a:r>
              <a:rPr lang="en-US" sz="1500" b="1" dirty="0">
                <a:solidFill>
                  <a:srgbClr val="0891B2"/>
                </a:solidFill>
              </a:rPr>
              <a:t>Con Nguoi Kiem Soat (Human-in-Loop)</a:t>
            </a:r>
            <a:endParaRPr lang="en-US" sz="1500" dirty="0"/>
          </a:p>
        </p:txBody>
      </p:sp>
      <p:sp>
        <p:nvSpPr>
          <p:cNvPr id="15" name="Text 13"/>
          <p:cNvSpPr/>
          <p:nvPr/>
        </p:nvSpPr>
        <p:spPr>
          <a:xfrm>
            <a:off x="438912" y="3419856"/>
            <a:ext cx="3703320" cy="1078992"/>
          </a:xfrm>
          <a:prstGeom prst="rect">
            <a:avLst/>
          </a:prstGeom>
          <a:noFill/>
          <a:ln/>
        </p:spPr>
        <p:txBody>
          <a:bodyPr wrap="square" lIns="0" tIns="0" rIns="0" bIns="0" rtlCol="0" anchor="t"/>
          <a:lstStyle/>
          <a:p>
            <a:pPr algn="l" indent="0" marL="0">
              <a:buNone/>
            </a:pPr>
            <a:r>
              <a:rPr lang="en-US" sz="1200" dirty="0">
                <a:solidFill>
                  <a:srgbClr val="1E293B"/>
                </a:solidFill>
              </a:rPr>
              <a:t>AI chi la nguoi soan ban nhap. Ban la bien tap vien cuoi cung va chiu hoan toan trach nhiem cho noi dung xuat ban. Dung bao gio tin AI 100%.</a:t>
            </a:r>
            <a:endParaRPr lang="en-US" sz="1200" dirty="0"/>
          </a:p>
        </p:txBody>
      </p:sp>
      <p:sp>
        <p:nvSpPr>
          <p:cNvPr id="16" name="Shape 14"/>
          <p:cNvSpPr/>
          <p:nvPr/>
        </p:nvSpPr>
        <p:spPr>
          <a:xfrm>
            <a:off x="4800600" y="2852928"/>
            <a:ext cx="4069080" cy="1783080"/>
          </a:xfrm>
          <a:prstGeom prst="rect">
            <a:avLst/>
          </a:prstGeom>
          <a:solidFill>
            <a:srgbClr val="FFFFFF"/>
          </a:solidFill>
          <a:ln w="12700">
            <a:solidFill>
              <a:srgbClr val="CBD5E1"/>
            </a:solidFill>
            <a:prstDash val="solid"/>
          </a:ln>
          <a:effectLst>
            <a:outerShdw sx="100000" sy="100000" kx="0" ky="0" algn="bl" rotWithShape="0" blurRad="127000" dist="25400" dir="8100000">
              <a:srgbClr val="000000">
                <a:alpha val="9000"/>
              </a:srgbClr>
            </a:outerShdw>
          </a:effectLst>
        </p:spPr>
      </p:sp>
      <p:sp>
        <p:nvSpPr>
          <p:cNvPr id="17" name="Shape 15"/>
          <p:cNvSpPr/>
          <p:nvPr/>
        </p:nvSpPr>
        <p:spPr>
          <a:xfrm>
            <a:off x="4800600" y="2852928"/>
            <a:ext cx="82296" cy="1783080"/>
          </a:xfrm>
          <a:prstGeom prst="rect">
            <a:avLst/>
          </a:prstGeom>
          <a:solidFill>
            <a:srgbClr val="7C3AED"/>
          </a:solidFill>
          <a:ln w="12700">
            <a:solidFill>
              <a:srgbClr val="7C3AED"/>
            </a:solidFill>
            <a:prstDash val="solid"/>
          </a:ln>
        </p:spPr>
      </p:sp>
      <p:sp>
        <p:nvSpPr>
          <p:cNvPr id="18" name="Text 16"/>
          <p:cNvSpPr/>
          <p:nvPr/>
        </p:nvSpPr>
        <p:spPr>
          <a:xfrm>
            <a:off x="4983480" y="2990088"/>
            <a:ext cx="3703320" cy="384048"/>
          </a:xfrm>
          <a:prstGeom prst="rect">
            <a:avLst/>
          </a:prstGeom>
          <a:noFill/>
          <a:ln/>
        </p:spPr>
        <p:txBody>
          <a:bodyPr wrap="square" lIns="0" tIns="0" rIns="0" bIns="0" rtlCol="0" anchor="ctr"/>
          <a:lstStyle/>
          <a:p>
            <a:pPr algn="l" indent="0" marL="0">
              <a:buNone/>
            </a:pPr>
            <a:r>
              <a:rPr lang="en-US" sz="1500" b="1" dirty="0">
                <a:solidFill>
                  <a:srgbClr val="7C3AED"/>
                </a:solidFill>
              </a:rPr>
              <a:t>Giu Ca Tinh Rieng (Human Touch)</a:t>
            </a:r>
            <a:endParaRPr lang="en-US" sz="1500" dirty="0"/>
          </a:p>
        </p:txBody>
      </p:sp>
      <p:sp>
        <p:nvSpPr>
          <p:cNvPr id="19" name="Text 17"/>
          <p:cNvSpPr/>
          <p:nvPr/>
        </p:nvSpPr>
        <p:spPr>
          <a:xfrm>
            <a:off x="4983480" y="3419856"/>
            <a:ext cx="3703320" cy="1078992"/>
          </a:xfrm>
          <a:prstGeom prst="rect">
            <a:avLst/>
          </a:prstGeom>
          <a:noFill/>
          <a:ln/>
        </p:spPr>
        <p:txBody>
          <a:bodyPr wrap="square" lIns="0" tIns="0" rIns="0" bIns="0" rtlCol="0" anchor="t"/>
          <a:lstStyle/>
          <a:p>
            <a:pPr algn="l" indent="0" marL="0">
              <a:buNone/>
            </a:pPr>
            <a:r>
              <a:rPr lang="en-US" sz="1200" dirty="0">
                <a:solidFill>
                  <a:srgbClr val="1E293B"/>
                </a:solidFill>
              </a:rPr>
              <a:t>AI viet gioi nhung thieu cam xuc. Khi dung AI viet email hay noi dung, hay chinh lai de giu 'cai toi' va su chan thanh — tranh cam giac may moc.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029200" y="-1371600"/>
            <a:ext cx="6400800" cy="6400800"/>
          </a:xfrm>
          <a:prstGeom prst="ellipse">
            <a:avLst/>
          </a:prstGeom>
          <a:solidFill>
            <a:srgbClr val="1A3050">
              <a:alpha val="38000"/>
            </a:srgbClr>
          </a:solidFill>
          <a:ln w="12700">
            <a:solidFill>
              <a:srgbClr val="1A3050"/>
            </a:solidFill>
            <a:prstDash val="solid"/>
          </a:ln>
        </p:spPr>
      </p:sp>
      <p:sp>
        <p:nvSpPr>
          <p:cNvPr id="3" name="Shape 1"/>
          <p:cNvSpPr/>
          <p:nvPr/>
        </p:nvSpPr>
        <p:spPr>
          <a:xfrm>
            <a:off x="0" y="0"/>
            <a:ext cx="128016" cy="5143500"/>
          </a:xfrm>
          <a:prstGeom prst="rect">
            <a:avLst/>
          </a:prstGeom>
          <a:solidFill>
            <a:srgbClr val="00C9A7"/>
          </a:solidFill>
          <a:ln w="12700">
            <a:solidFill>
              <a:srgbClr val="00C9A7"/>
            </a:solidFill>
            <a:prstDash val="solid"/>
          </a:ln>
        </p:spPr>
      </p:sp>
      <p:sp>
        <p:nvSpPr>
          <p:cNvPr id="4" name="Text 2"/>
          <p:cNvSpPr/>
          <p:nvPr/>
        </p:nvSpPr>
        <p:spPr>
          <a:xfrm>
            <a:off x="457200" y="320040"/>
            <a:ext cx="8229600" cy="384048"/>
          </a:xfrm>
          <a:prstGeom prst="rect">
            <a:avLst/>
          </a:prstGeom>
          <a:noFill/>
          <a:ln/>
        </p:spPr>
        <p:txBody>
          <a:bodyPr wrap="square" rtlCol="0" anchor="ctr"/>
          <a:lstStyle/>
          <a:p>
            <a:pPr algn="l" indent="0" marL="0">
              <a:buNone/>
            </a:pPr>
            <a:r>
              <a:rPr lang="en-US" sz="1400" b="1" spc="700" kern="0" dirty="0">
                <a:solidFill>
                  <a:srgbClr val="00C9A7"/>
                </a:solidFill>
              </a:rPr>
              <a:t>KET LUAN</a:t>
            </a:r>
            <a:endParaRPr lang="en-US" sz="1400" dirty="0"/>
          </a:p>
        </p:txBody>
      </p:sp>
      <p:sp>
        <p:nvSpPr>
          <p:cNvPr id="5" name="Shape 3"/>
          <p:cNvSpPr/>
          <p:nvPr/>
        </p:nvSpPr>
        <p:spPr>
          <a:xfrm>
            <a:off x="365760" y="868680"/>
            <a:ext cx="8412480" cy="1719072"/>
          </a:xfrm>
          <a:prstGeom prst="rect">
            <a:avLst/>
          </a:prstGeom>
          <a:solidFill>
            <a:srgbClr val="1A3050"/>
          </a:solidFill>
          <a:ln w="12700">
            <a:solidFill>
              <a:srgbClr val="00C9A7"/>
            </a:solidFill>
            <a:prstDash val="solid"/>
          </a:ln>
        </p:spPr>
      </p:sp>
      <p:sp>
        <p:nvSpPr>
          <p:cNvPr id="6" name="Text 4"/>
          <p:cNvSpPr/>
          <p:nvPr/>
        </p:nvSpPr>
        <p:spPr>
          <a:xfrm>
            <a:off x="548640" y="886968"/>
            <a:ext cx="8046720" cy="1682496"/>
          </a:xfrm>
          <a:prstGeom prst="rect">
            <a:avLst/>
          </a:prstGeom>
          <a:noFill/>
          <a:ln/>
        </p:spPr>
        <p:txBody>
          <a:bodyPr wrap="square" rtlCol="0" anchor="ctr"/>
          <a:lstStyle/>
          <a:p>
            <a:pPr algn="ctr" indent="0" marL="0">
              <a:buNone/>
            </a:pPr>
            <a:r>
              <a:rPr lang="en-US" sz="2000" b="1" i="1" dirty="0">
                <a:solidFill>
                  <a:srgbClr val="FFFFFF"/>
                </a:solidFill>
              </a:rPr>
              <a:t>"AI se khong thay the ban.
</a:t>
            </a:r>
            <a:endParaRPr lang="en-US" sz="2000" dirty="0"/>
          </a:p>
          <a:p>
            <a:pPr algn="ctr" indent="0" marL="0">
              <a:buNone/>
            </a:pPr>
            <a:r>
              <a:rPr lang="en-US" sz="2000" b="1" i="1" dirty="0">
                <a:solidFill>
                  <a:srgbClr val="FFFFFF"/>
                </a:solidFill>
              </a:rPr>
              <a:t>Nhung nguoi biet dung AI se thay the nguoi khong biet dung."</a:t>
            </a:r>
            <a:endParaRPr lang="en-US" sz="2000" dirty="0"/>
          </a:p>
        </p:txBody>
      </p:sp>
      <p:sp>
        <p:nvSpPr>
          <p:cNvPr id="7" name="Text 5"/>
          <p:cNvSpPr/>
          <p:nvPr/>
        </p:nvSpPr>
        <p:spPr>
          <a:xfrm>
            <a:off x="457200" y="2788920"/>
            <a:ext cx="8229600" cy="384048"/>
          </a:xfrm>
          <a:prstGeom prst="rect">
            <a:avLst/>
          </a:prstGeom>
          <a:noFill/>
          <a:ln/>
        </p:spPr>
        <p:txBody>
          <a:bodyPr wrap="square" lIns="0" tIns="0" rIns="0" bIns="0" rtlCol="0" anchor="ctr"/>
          <a:lstStyle/>
          <a:p>
            <a:pPr algn="l" indent="0" marL="0">
              <a:buNone/>
            </a:pPr>
            <a:r>
              <a:rPr lang="en-US" sz="1700" b="1" dirty="0">
                <a:solidFill>
                  <a:srgbClr val="00C9A7"/>
                </a:solidFill>
              </a:rPr>
              <a:t>Bat dau ngay hom nay:</a:t>
            </a:r>
            <a:endParaRPr lang="en-US" sz="1700" dirty="0"/>
          </a:p>
        </p:txBody>
      </p:sp>
      <p:sp>
        <p:nvSpPr>
          <p:cNvPr id="8" name="Shape 6"/>
          <p:cNvSpPr/>
          <p:nvPr/>
        </p:nvSpPr>
        <p:spPr>
          <a:xfrm>
            <a:off x="457200" y="3291840"/>
            <a:ext cx="182880" cy="182880"/>
          </a:xfrm>
          <a:prstGeom prst="ellipse">
            <a:avLst/>
          </a:prstGeom>
          <a:solidFill>
            <a:srgbClr val="00C9A7"/>
          </a:solidFill>
          <a:ln w="12700">
            <a:solidFill>
              <a:srgbClr val="00C9A7"/>
            </a:solidFill>
            <a:prstDash val="solid"/>
          </a:ln>
        </p:spPr>
      </p:sp>
      <p:sp>
        <p:nvSpPr>
          <p:cNvPr id="9" name="Text 7"/>
          <p:cNvSpPr/>
          <p:nvPr/>
        </p:nvSpPr>
        <p:spPr>
          <a:xfrm>
            <a:off x="749808" y="3246120"/>
            <a:ext cx="7772400" cy="347472"/>
          </a:xfrm>
          <a:prstGeom prst="rect">
            <a:avLst/>
          </a:prstGeom>
          <a:noFill/>
          <a:ln/>
        </p:spPr>
        <p:txBody>
          <a:bodyPr wrap="square" lIns="0" tIns="0" rIns="0" bIns="0" rtlCol="0" anchor="ctr"/>
          <a:lstStyle/>
          <a:p>
            <a:pPr algn="l" indent="0" marL="0">
              <a:buNone/>
            </a:pPr>
            <a:r>
              <a:rPr lang="en-US" sz="1400" dirty="0">
                <a:solidFill>
                  <a:srgbClr val="D0D8E4"/>
                </a:solidFill>
              </a:rPr>
              <a:t>Moi ngay giao cho AI it nhat 1 nhiem vu ban thuong mat hon 15 phut</a:t>
            </a:r>
            <a:endParaRPr lang="en-US" sz="1400" dirty="0"/>
          </a:p>
        </p:txBody>
      </p:sp>
      <p:sp>
        <p:nvSpPr>
          <p:cNvPr id="10" name="Shape 8"/>
          <p:cNvSpPr/>
          <p:nvPr/>
        </p:nvSpPr>
        <p:spPr>
          <a:xfrm>
            <a:off x="457200" y="3749040"/>
            <a:ext cx="182880" cy="182880"/>
          </a:xfrm>
          <a:prstGeom prst="ellipse">
            <a:avLst/>
          </a:prstGeom>
          <a:solidFill>
            <a:srgbClr val="00C9A7"/>
          </a:solidFill>
          <a:ln w="12700">
            <a:solidFill>
              <a:srgbClr val="00C9A7"/>
            </a:solidFill>
            <a:prstDash val="solid"/>
          </a:ln>
        </p:spPr>
      </p:sp>
      <p:sp>
        <p:nvSpPr>
          <p:cNvPr id="11" name="Text 9"/>
          <p:cNvSpPr/>
          <p:nvPr/>
        </p:nvSpPr>
        <p:spPr>
          <a:xfrm>
            <a:off x="749808" y="3703320"/>
            <a:ext cx="7772400" cy="347472"/>
          </a:xfrm>
          <a:prstGeom prst="rect">
            <a:avLst/>
          </a:prstGeom>
          <a:noFill/>
          <a:ln/>
        </p:spPr>
        <p:txBody>
          <a:bodyPr wrap="square" lIns="0" tIns="0" rIns="0" bIns="0" rtlCol="0" anchor="ctr"/>
          <a:lstStyle/>
          <a:p>
            <a:pPr algn="l" indent="0" marL="0">
              <a:buNone/>
            </a:pPr>
            <a:r>
              <a:rPr lang="en-US" sz="1400" dirty="0">
                <a:solidFill>
                  <a:srgbClr val="D0D8E4"/>
                </a:solidFill>
              </a:rPr>
              <a:t>Ap dung cong thuc C.R.E.O moi lan chat voi AI — cang chi tiet, cang tot</a:t>
            </a:r>
            <a:endParaRPr lang="en-US" sz="1400" dirty="0"/>
          </a:p>
        </p:txBody>
      </p:sp>
      <p:sp>
        <p:nvSpPr>
          <p:cNvPr id="12" name="Shape 10"/>
          <p:cNvSpPr/>
          <p:nvPr/>
        </p:nvSpPr>
        <p:spPr>
          <a:xfrm>
            <a:off x="457200" y="4206240"/>
            <a:ext cx="182880" cy="182880"/>
          </a:xfrm>
          <a:prstGeom prst="ellipse">
            <a:avLst/>
          </a:prstGeom>
          <a:solidFill>
            <a:srgbClr val="00C9A7"/>
          </a:solidFill>
          <a:ln w="12700">
            <a:solidFill>
              <a:srgbClr val="00C9A7"/>
            </a:solidFill>
            <a:prstDash val="solid"/>
          </a:ln>
        </p:spPr>
      </p:sp>
      <p:sp>
        <p:nvSpPr>
          <p:cNvPr id="13" name="Text 11"/>
          <p:cNvSpPr/>
          <p:nvPr/>
        </p:nvSpPr>
        <p:spPr>
          <a:xfrm>
            <a:off x="749808" y="4160520"/>
            <a:ext cx="7772400" cy="347472"/>
          </a:xfrm>
          <a:prstGeom prst="rect">
            <a:avLst/>
          </a:prstGeom>
          <a:noFill/>
          <a:ln/>
        </p:spPr>
        <p:txBody>
          <a:bodyPr wrap="square" lIns="0" tIns="0" rIns="0" bIns="0" rtlCol="0" anchor="ctr"/>
          <a:lstStyle/>
          <a:p>
            <a:pPr algn="l" indent="0" marL="0">
              <a:buNone/>
            </a:pPr>
            <a:r>
              <a:rPr lang="en-US" sz="1400" dirty="0">
                <a:solidFill>
                  <a:srgbClr val="D0D8E4"/>
                </a:solidFill>
              </a:rPr>
              <a:t>Uu tien: ChatGPT (logic) — Gemini (nghien cuu) — Claude (viet lach)</a:t>
            </a:r>
            <a:endParaRPr lang="en-US" sz="1400" dirty="0"/>
          </a:p>
        </p:txBody>
      </p:sp>
      <p:sp>
        <p:nvSpPr>
          <p:cNvPr id="14" name="Shape 12"/>
          <p:cNvSpPr/>
          <p:nvPr/>
        </p:nvSpPr>
        <p:spPr>
          <a:xfrm>
            <a:off x="0" y="4773168"/>
            <a:ext cx="9144000" cy="370332"/>
          </a:xfrm>
          <a:prstGeom prst="rect">
            <a:avLst/>
          </a:prstGeom>
          <a:solidFill>
            <a:srgbClr val="1A3050"/>
          </a:solidFill>
          <a:ln w="12700">
            <a:solidFill>
              <a:srgbClr val="1A3050"/>
            </a:solidFill>
            <a:prstDash val="solid"/>
          </a:ln>
        </p:spPr>
      </p:sp>
      <p:sp>
        <p:nvSpPr>
          <p:cNvPr id="15" name="Text 13"/>
          <p:cNvSpPr/>
          <p:nvPr/>
        </p:nvSpPr>
        <p:spPr>
          <a:xfrm>
            <a:off x="457200" y="4773168"/>
            <a:ext cx="8229600" cy="370332"/>
          </a:xfrm>
          <a:prstGeom prst="rect">
            <a:avLst/>
          </a:prstGeom>
          <a:noFill/>
          <a:ln/>
        </p:spPr>
        <p:txBody>
          <a:bodyPr wrap="square" lIns="0" tIns="0" rIns="0" bIns="0" rtlCol="0" anchor="ctr"/>
          <a:lstStyle/>
          <a:p>
            <a:pPr algn="ctr" indent="0" marL="0">
              <a:buNone/>
            </a:pPr>
            <a:r>
              <a:rPr lang="en-US" sz="1300" dirty="0">
                <a:solidFill>
                  <a:srgbClr val="7A9BB5"/>
                </a:solidFill>
              </a:rPr>
              <a:t>Cam on da lang nghe!  —  Moi cau hoi xin de lai o phan Q&amp;A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Trong Công Việc</dc:title>
  <dc:subject>PptxGenJS Presentation</dc:subject>
  <dc:creator>PptxGenJS</dc:creator>
  <cp:lastModifiedBy>PptxGenJS</cp:lastModifiedBy>
  <cp:revision>1</cp:revision>
  <dcterms:created xsi:type="dcterms:W3CDTF">2026-05-11T08:46:27Z</dcterms:created>
  <dcterms:modified xsi:type="dcterms:W3CDTF">2026-05-11T08:46:27Z</dcterms:modified>
</cp:coreProperties>
</file>