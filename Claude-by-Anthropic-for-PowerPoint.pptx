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79" r:id="rId5"/>
    <p:sldId id="264" r:id="rId6"/>
    <p:sldId id="285" r:id="rId7"/>
    <p:sldId id="284" r:id="rId8"/>
    <p:sldId id="286" r:id="rId9"/>
    <p:sldId id="272" r:id="rId10"/>
    <p:sldId id="27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27275A-5004-4488-BB2B-8541C3EB84DB}" v="6" dt="2018-08-08T09:05:58.3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70"/>
    <p:restoredTop sz="94647"/>
  </p:normalViewPr>
  <p:slideViewPr>
    <p:cSldViewPr snapToGrid="0" snapToObjects="1">
      <p:cViewPr varScale="1">
        <p:scale>
          <a:sx n="138" d="100"/>
          <a:sy n="138" d="100"/>
        </p:scale>
        <p:origin x="184" y="1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  <p:sp>
        <p:nvSpPr>
          <p:cNvPr id="901" name="BottomBar"/>
          <p:cNvSpPr/>
          <p:nvPr/>
        </p:nvSpPr>
        <p:spPr>
          <a:xfrm>
            <a:off x="0" y="4800600"/>
            <a:ext cx="9144000" cy="120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2" name="LeftStripe"/>
          <p:cNvSpPr/>
          <p:nvPr/>
        </p:nvSpPr>
        <p:spPr>
          <a:xfrm>
            <a:off x="0" y="0"/>
            <a:ext cx="45720" cy="48006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E8EDF5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eftBlock"/>
          <p:cNvSpPr/>
          <p:nvPr/>
        </p:nvSpPr>
        <p:spPr>
          <a:xfrm>
            <a:off x="0" y="0"/>
            <a:ext cx="548640" cy="48768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opStrip"/>
          <p:cNvSpPr/>
          <p:nvPr/>
        </p:nvSpPr>
        <p:spPr>
          <a:xfrm>
            <a:off x="548640" y="0"/>
            <a:ext cx="859536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Circle1"/>
          <p:cNvSpPr/>
          <p:nvPr/>
        </p:nvSpPr>
        <p:spPr>
          <a:xfrm>
            <a:off x="7086960" y="411480"/>
            <a:ext cx="548640" cy="548640"/>
          </a:xfrm>
          <a:prstGeom prst="ellipse">
            <a:avLst/>
          </a:prstGeom>
          <a:solidFill>
            <a:srgbClr val="2563EB">
              <a:alpha val="30000"/>
            </a:srgbClr>
          </a:solidFill>
          <a:ln w="19050">
            <a:solidFill>
              <a:srgbClr val="2563E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Circle2"/>
          <p:cNvSpPr/>
          <p:nvPr/>
        </p:nvSpPr>
        <p:spPr>
          <a:xfrm>
            <a:off x="7818120" y="182880"/>
            <a:ext cx="731520" cy="731520"/>
          </a:xfrm>
          <a:prstGeom prst="ellipse">
            <a:avLst/>
          </a:prstGeom>
          <a:solidFill>
            <a:srgbClr val="10B981">
              <a:alpha val="20000"/>
            </a:srgbClr>
          </a:solidFill>
          <a:ln w="19050">
            <a:solidFill>
              <a:srgbClr val="10B98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MainTitle"/>
          <p:cNvSpPr/>
          <p:nvPr/>
        </p:nvSpPr>
        <p:spPr>
          <a:xfrm>
            <a:off x="685800" y="685800"/>
            <a:ext cx="7772400" cy="1280160"/>
          </a:xfrm>
          <a:prstGeom prst="rect">
            <a:avLst/>
          </a:prstGeom>
          <a:noFill/>
        </p:spPr>
        <p:txBody>
          <a:bodyPr wrap="square" anchor="ctr" anchorCtr="0"/>
          <a:lstStyle/>
          <a:p>
            <a:pPr>
              <a:buNone/>
            </a:pPr>
            <a:r>
              <a:rPr lang="vi-VN" sz="4200" b="1" dirty="0">
                <a:solidFill>
                  <a:srgbClr val="FFFFFF"/>
                </a:solidFill>
              </a:rPr>
              <a:t>ỨNG DỤNG AI</a:t>
            </a:r>
          </a:p>
          <a:p>
            <a:pPr>
              <a:buNone/>
            </a:pPr>
            <a:r>
              <a:rPr lang="vi-VN" sz="4200" b="1" dirty="0">
                <a:solidFill>
                  <a:srgbClr val="FFFFFF"/>
                </a:solidFill>
              </a:rPr>
              <a:t>VÀO CÔNG VIỆC</a:t>
            </a:r>
          </a:p>
        </p:txBody>
      </p:sp>
      <p:sp>
        <p:nvSpPr>
          <p:cNvPr id="22" name="Divider"/>
          <p:cNvSpPr/>
          <p:nvPr/>
        </p:nvSpPr>
        <p:spPr>
          <a:xfrm>
            <a:off x="685800" y="2057054"/>
            <a:ext cx="27432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Topic0"/>
          <p:cNvSpPr/>
          <p:nvPr/>
        </p:nvSpPr>
        <p:spPr>
          <a:xfrm>
            <a:off x="685800" y="2743200"/>
            <a:ext cx="2057400" cy="274320"/>
          </a:xfrm>
          <a:prstGeom prst="roundRect">
            <a:avLst>
              <a:gd name="adj" fmla="val 20000"/>
            </a:avLst>
          </a:prstGeom>
          <a:solidFill>
            <a:srgbClr val="B91C1C"/>
          </a:solidFill>
          <a:ln w="12700">
            <a:solidFill>
              <a:srgbClr val="EF4444"/>
            </a:solidFill>
          </a:ln>
        </p:spPr>
        <p:txBody>
          <a:bodyPr lIns="91440" rIns="91440" anchor="ctr"/>
          <a:lstStyle/>
          <a:p>
            <a:pPr algn="ctr">
              <a:buNone/>
            </a:pPr>
            <a:r>
              <a:rPr lang="vi-VN" sz="1400" b="1" dirty="0">
                <a:solidFill>
                  <a:srgbClr val="FFFFFF"/>
                </a:solidFill>
              </a:rPr>
              <a:t>Lưu ý khi dùng AI</a:t>
            </a:r>
          </a:p>
        </p:txBody>
      </p:sp>
      <p:sp>
        <p:nvSpPr>
          <p:cNvPr id="31" name="Topic1"/>
          <p:cNvSpPr/>
          <p:nvPr/>
        </p:nvSpPr>
        <p:spPr>
          <a:xfrm>
            <a:off x="3000000" y="2743200"/>
            <a:ext cx="2057400" cy="274320"/>
          </a:xfrm>
          <a:prstGeom prst="roundRect">
            <a:avLst>
              <a:gd name="adj" fmla="val 20000"/>
            </a:avLst>
          </a:prstGeom>
          <a:solidFill>
            <a:srgbClr val="065F46"/>
          </a:solidFill>
          <a:ln w="12700">
            <a:solidFill>
              <a:srgbClr val="10B981"/>
            </a:solidFill>
          </a:ln>
        </p:spPr>
        <p:txBody>
          <a:bodyPr lIns="91440" rIns="91440" anchor="ctr"/>
          <a:lstStyle/>
          <a:p>
            <a:pPr algn="ctr">
              <a:buNone/>
            </a:pPr>
            <a:r>
              <a:rPr lang="vi-VN" sz="1400" b="1" dirty="0">
                <a:solidFill>
                  <a:srgbClr val="FFFFFF"/>
                </a:solidFill>
              </a:rPr>
              <a:t>Các bước bắt đầu</a:t>
            </a:r>
          </a:p>
        </p:txBody>
      </p:sp>
      <p:sp>
        <p:nvSpPr>
          <p:cNvPr id="32" name="Topic2"/>
          <p:cNvSpPr/>
          <p:nvPr/>
        </p:nvSpPr>
        <p:spPr>
          <a:xfrm>
            <a:off x="5400000" y="2743200"/>
            <a:ext cx="2418120" cy="274320"/>
          </a:xfrm>
          <a:prstGeom prst="roundRect">
            <a:avLst>
              <a:gd name="adj" fmla="val 20000"/>
            </a:avLst>
          </a:prstGeom>
          <a:solidFill>
            <a:srgbClr val="92400E"/>
          </a:solidFill>
          <a:ln w="12700">
            <a:solidFill>
              <a:srgbClr val="F59E0B"/>
            </a:solidFill>
          </a:ln>
        </p:spPr>
        <p:txBody>
          <a:bodyPr lIns="91440" rIns="91440" anchor="ctr"/>
          <a:lstStyle/>
          <a:p>
            <a:pPr algn="ctr">
              <a:buNone/>
            </a:pPr>
            <a:r>
              <a:rPr lang="vi-VN" sz="1400" b="1" dirty="0">
                <a:solidFill>
                  <a:srgbClr val="FFFFFF"/>
                </a:solidFill>
              </a:rPr>
              <a:t>Sản phẩm AI hiệu quả</a:t>
            </a:r>
          </a:p>
        </p:txBody>
      </p:sp>
      <p:sp>
        <p:nvSpPr>
          <p:cNvPr id="40" name="BottomInfo"/>
          <p:cNvSpPr/>
          <p:nvPr/>
        </p:nvSpPr>
        <p:spPr>
          <a:xfrm>
            <a:off x="685800" y="3200400"/>
            <a:ext cx="7772400" cy="457200"/>
          </a:xfrm>
          <a:prstGeom prst="rect">
            <a:avLst/>
          </a:prstGeom>
          <a:noFill/>
        </p:spPr>
        <p:txBody>
          <a:bodyPr anchor="ctr"/>
          <a:lstStyle/>
          <a:p>
            <a:pPr>
              <a:buNone/>
            </a:pPr>
            <a:r>
              <a:rPr lang="vi-VN" sz="1400" dirty="0">
                <a:solidFill>
                  <a:srgbClr val="7094BA"/>
                </a:solidFill>
              </a:rPr>
              <a:t>Kingfoodmart  |  Tháng 5/2026</a:t>
            </a:r>
          </a:p>
        </p:txBody>
      </p:sp>
      <p:sp>
        <p:nvSpPr>
          <p:cNvPr id="41" name="BotBar"/>
          <p:cNvSpPr/>
          <p:nvPr/>
        </p:nvSpPr>
        <p:spPr>
          <a:xfrm>
            <a:off x="0" y="4800600"/>
            <a:ext cx="9144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49287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eftBlock"/>
          <p:cNvSpPr/>
          <p:nvPr/>
        </p:nvSpPr>
        <p:spPr>
          <a:xfrm>
            <a:off x="0" y="0"/>
            <a:ext cx="548640" cy="48768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BottomBar"/>
          <p:cNvSpPr/>
          <p:nvPr/>
        </p:nvSpPr>
        <p:spPr>
          <a:xfrm>
            <a:off x="0" y="4800600"/>
            <a:ext cx="9144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SlideLabel"/>
          <p:cNvSpPr/>
          <p:nvPr/>
        </p:nvSpPr>
        <p:spPr>
          <a:xfrm>
            <a:off x="685800" y="182880"/>
            <a:ext cx="4000000" cy="274320"/>
          </a:xfrm>
          <a:prstGeom prst="rect">
            <a:avLst/>
          </a:prstGeom>
          <a:noFill/>
        </p:spPr>
        <p:txBody>
          <a:bodyPr anchor="ctr"/>
          <a:lstStyle/>
          <a:p>
            <a:pPr>
              <a:buNone/>
            </a:pPr>
            <a:r>
              <a:rPr lang="vi-VN" sz="1400" b="1" dirty="0">
                <a:solidFill>
                  <a:srgbClr val="2563EB"/>
                </a:solidFill>
              </a:rPr>
              <a:t>NộI DUNG CHIA SẺ</a:t>
            </a:r>
          </a:p>
        </p:txBody>
      </p:sp>
      <p:sp>
        <p:nvSpPr>
          <p:cNvPr id="13" name="Title"/>
          <p:cNvSpPr/>
          <p:nvPr/>
        </p:nvSpPr>
        <p:spPr>
          <a:xfrm>
            <a:off x="685800" y="411480"/>
            <a:ext cx="7200000" cy="548640"/>
          </a:xfrm>
          <a:prstGeom prst="rect">
            <a:avLst/>
          </a:prstGeom>
          <a:noFill/>
        </p:spPr>
        <p:txBody>
          <a:bodyPr anchor="t"/>
          <a:lstStyle/>
          <a:p>
            <a:pPr>
              <a:buNone/>
            </a:pPr>
            <a:r>
              <a:rPr lang="vi-VN" sz="3200" b="1" dirty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14" name="Divider"/>
          <p:cNvSpPr/>
          <p:nvPr/>
        </p:nvSpPr>
        <p:spPr>
          <a:xfrm>
            <a:off x="685800" y="965520"/>
            <a:ext cx="36576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Num0"/>
          <p:cNvSpPr/>
          <p:nvPr/>
        </p:nvSpPr>
        <p:spPr>
          <a:xfrm>
            <a:off x="685800" y="1143000"/>
            <a:ext cx="320040" cy="3200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21" name="ItemTitle0"/>
          <p:cNvSpPr/>
          <p:nvPr/>
        </p:nvSpPr>
        <p:spPr>
          <a:xfrm>
            <a:off x="1143000" y="1143000"/>
            <a:ext cx="6800000" cy="320040"/>
          </a:xfrm>
          <a:prstGeom prst="rect">
            <a:avLst/>
          </a:prstGeom>
          <a:noFill/>
        </p:spPr>
        <p:txBody>
          <a:bodyPr anchor="ctr"/>
          <a:lstStyle/>
          <a:p>
            <a:pPr>
              <a:buNone/>
            </a:pPr>
            <a:r>
              <a:rPr lang="vi-VN" sz="2200" b="1" dirty="0">
                <a:solidFill>
                  <a:srgbClr val="FFFFFF"/>
                </a:solidFill>
              </a:rPr>
              <a:t>Lưu ý khi sử dụng AI</a:t>
            </a:r>
          </a:p>
        </p:txBody>
      </p:sp>
      <p:sp>
        <p:nvSpPr>
          <p:cNvPr id="22" name="ItemDesc0"/>
          <p:cNvSpPr/>
          <p:nvPr/>
        </p:nvSpPr>
        <p:spPr>
          <a:xfrm>
            <a:off x="1143000" y="1473000"/>
            <a:ext cx="6800000" cy="274320"/>
          </a:xfrm>
          <a:prstGeom prst="rect">
            <a:avLst/>
          </a:prstGeom>
          <a:noFill/>
        </p:spPr>
        <p:txBody>
          <a:bodyPr anchor="t"/>
          <a:lstStyle/>
          <a:p>
            <a:pPr>
              <a:buNone/>
            </a:pPr>
            <a:r>
              <a:rPr lang="vi-VN" sz="1600" dirty="0">
                <a:solidFill>
                  <a:srgbClr val="7094BA"/>
                </a:solidFill>
              </a:rPr>
              <a:t>Bảo mật, hallucination, pháp lý &amp; quản trị</a:t>
            </a:r>
          </a:p>
        </p:txBody>
      </p:sp>
      <p:sp>
        <p:nvSpPr>
          <p:cNvPr id="30" name="Num1"/>
          <p:cNvSpPr/>
          <p:nvPr/>
        </p:nvSpPr>
        <p:spPr>
          <a:xfrm>
            <a:off x="685800" y="2400840"/>
            <a:ext cx="320040" cy="3200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31" name="ItemTitle1"/>
          <p:cNvSpPr/>
          <p:nvPr/>
        </p:nvSpPr>
        <p:spPr>
          <a:xfrm>
            <a:off x="1143000" y="2400840"/>
            <a:ext cx="6800000" cy="320040"/>
          </a:xfrm>
          <a:prstGeom prst="rect">
            <a:avLst/>
          </a:prstGeom>
          <a:noFill/>
        </p:spPr>
        <p:txBody>
          <a:bodyPr anchor="ctr"/>
          <a:lstStyle/>
          <a:p>
            <a:pPr>
              <a:buNone/>
            </a:pPr>
            <a:r>
              <a:rPr lang="vi-VN" sz="2200" b="1" dirty="0">
                <a:solidFill>
                  <a:srgbClr val="FFFFFF"/>
                </a:solidFill>
              </a:rPr>
              <a:t>Các bước bắt đầu với AI</a:t>
            </a:r>
          </a:p>
        </p:txBody>
      </p:sp>
      <p:sp>
        <p:nvSpPr>
          <p:cNvPr id="32" name="ItemDesc1"/>
          <p:cNvSpPr/>
          <p:nvPr/>
        </p:nvSpPr>
        <p:spPr>
          <a:xfrm>
            <a:off x="1143000" y="2730840"/>
            <a:ext cx="6800000" cy="274320"/>
          </a:xfrm>
          <a:prstGeom prst="rect">
            <a:avLst/>
          </a:prstGeom>
          <a:noFill/>
        </p:spPr>
        <p:txBody>
          <a:bodyPr anchor="t"/>
          <a:lstStyle/>
          <a:p>
            <a:pPr>
              <a:buNone/>
            </a:pPr>
            <a:r>
              <a:rPr lang="vi-VN" sz="1600" dirty="0">
                <a:solidFill>
                  <a:srgbClr val="7094BA"/>
                </a:solidFill>
              </a:rPr>
              <a:t>Quy trình 4 giai đoạn &amp; kỹ năng viết prompt hiệu quả</a:t>
            </a:r>
          </a:p>
        </p:txBody>
      </p:sp>
      <p:sp>
        <p:nvSpPr>
          <p:cNvPr id="40" name="Num2"/>
          <p:cNvSpPr/>
          <p:nvPr/>
        </p:nvSpPr>
        <p:spPr>
          <a:xfrm>
            <a:off x="685800" y="3658680"/>
            <a:ext cx="320040" cy="3200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41" name="ItemTitle2"/>
          <p:cNvSpPr/>
          <p:nvPr/>
        </p:nvSpPr>
        <p:spPr>
          <a:xfrm>
            <a:off x="1143000" y="3658680"/>
            <a:ext cx="6800000" cy="320040"/>
          </a:xfrm>
          <a:prstGeom prst="rect">
            <a:avLst/>
          </a:prstGeom>
          <a:noFill/>
        </p:spPr>
        <p:txBody>
          <a:bodyPr anchor="ctr"/>
          <a:lstStyle/>
          <a:p>
            <a:pPr>
              <a:buNone/>
            </a:pPr>
            <a:r>
              <a:rPr lang="vi-VN" sz="2200" b="1" dirty="0">
                <a:solidFill>
                  <a:srgbClr val="FFFFFF"/>
                </a:solidFill>
              </a:rPr>
              <a:t>Sản phẩm AI hàng đầu</a:t>
            </a:r>
          </a:p>
        </p:txBody>
      </p:sp>
      <p:sp>
        <p:nvSpPr>
          <p:cNvPr id="42" name="ItemDesc2"/>
          <p:cNvSpPr/>
          <p:nvPr/>
        </p:nvSpPr>
        <p:spPr>
          <a:xfrm>
            <a:off x="1143000" y="3988680"/>
            <a:ext cx="6800000" cy="274320"/>
          </a:xfrm>
          <a:prstGeom prst="rect">
            <a:avLst/>
          </a:prstGeom>
          <a:noFill/>
        </p:spPr>
        <p:txBody>
          <a:bodyPr anchor="t"/>
          <a:lstStyle/>
          <a:p>
            <a:pPr>
              <a:buNone/>
            </a:pPr>
            <a:r>
              <a:rPr lang="vi-VN" sz="1600" dirty="0">
                <a:solidFill>
                  <a:srgbClr val="7094BA"/>
                </a:solidFill>
              </a:rPr>
              <a:t>OpenAI, Anthropic, Google, Microsoft — nên chọn gì?</a:t>
            </a:r>
          </a:p>
        </p:txBody>
      </p:sp>
    </p:spTree>
    <p:extLst>
      <p:ext uri="{BB962C8B-B14F-4D97-AF65-F5344CB8AC3E}">
        <p14:creationId xmlns:p14="http://schemas.microsoft.com/office/powerpoint/2010/main" val="3373124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eftBlock"/>
          <p:cNvSpPr/>
          <p:nvPr/>
        </p:nvSpPr>
        <p:spPr>
          <a:xfrm>
            <a:off x="0" y="0"/>
            <a:ext cx="548640" cy="48768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BottomBar"/>
          <p:cNvSpPr/>
          <p:nvPr/>
        </p:nvSpPr>
        <p:spPr>
          <a:xfrm>
            <a:off x="0" y="4800600"/>
            <a:ext cx="9144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SectionLabel"/>
          <p:cNvSpPr/>
          <p:nvPr/>
        </p:nvSpPr>
        <p:spPr>
          <a:xfrm>
            <a:off x="685800" y="152400"/>
            <a:ext cx="800000" cy="228600"/>
          </a:xfrm>
          <a:prstGeom prst="rect">
            <a:avLst/>
          </a:prstGeom>
          <a:solidFill>
            <a:srgbClr val="B91C1C"/>
          </a:solidFill>
          <a:ln w="12700">
            <a:solidFill>
              <a:srgbClr val="EF4444"/>
            </a:solidFill>
          </a:ln>
        </p:spPr>
        <p:txBody>
          <a:bodyPr wrap="none" lIns="91440" anchor="ctr"/>
          <a:lstStyle/>
          <a:p>
            <a:pPr>
              <a:buNone/>
            </a:pPr>
            <a:r>
              <a:rPr lang="en-US" sz="1000" b="1" dirty="0">
                <a:solidFill>
                  <a:srgbClr val="FFFFFF"/>
                </a:solidFill>
              </a:rPr>
              <a:t>01 / LUẠI Ý</a:t>
            </a:r>
          </a:p>
        </p:txBody>
      </p:sp>
      <p:sp>
        <p:nvSpPr>
          <p:cNvPr id="13" name="Title"/>
          <p:cNvSpPr/>
          <p:nvPr/>
        </p:nvSpPr>
        <p:spPr>
          <a:xfrm>
            <a:off x="685800" y="365760"/>
            <a:ext cx="7772400" cy="480060"/>
          </a:xfrm>
          <a:prstGeom prst="rect">
            <a:avLst/>
          </a:prstGeom>
          <a:noFill/>
        </p:spPr>
        <p:txBody>
          <a:bodyPr anchor="t"/>
          <a:lstStyle/>
          <a:p>
            <a:pPr>
              <a:buNone/>
            </a:pPr>
            <a:r>
              <a:rPr lang="vi-VN" sz="2800" b="1" dirty="0">
                <a:solidFill>
                  <a:srgbClr val="FFFFFF"/>
                </a:solidFill>
              </a:rPr>
              <a:t>Lưu ý khi sử dụng AI</a:t>
            </a:r>
          </a:p>
        </p:txBody>
      </p:sp>
      <p:sp>
        <p:nvSpPr>
          <p:cNvPr id="14" name="StatBar"/>
          <p:cNvSpPr/>
          <p:nvPr/>
        </p:nvSpPr>
        <p:spPr>
          <a:xfrm>
            <a:off x="685799" y="813816"/>
            <a:ext cx="11001896" cy="2667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txBody>
          <a:bodyPr lIns="91440" anchor="ctr"/>
          <a:lstStyle/>
          <a:p>
            <a:pPr>
              <a:buNone/>
            </a:pPr>
            <a:r>
              <a:rPr lang="vi-VN" sz="1400" dirty="0">
                <a:solidFill>
                  <a:srgbClr val="F59E0B"/>
                </a:solidFill>
              </a:rPr>
              <a:t>🚨 </a:t>
            </a:r>
            <a:r>
              <a:rPr lang="vi-VN" sz="1400" b="1" dirty="0">
                <a:solidFill>
                  <a:srgbClr val="FFFFFF"/>
                </a:solidFill>
              </a:rPr>
              <a:t>64% người dùng vô tình chia sẻ thông tin nhạy cảm với AI</a:t>
            </a:r>
            <a:r>
              <a:rPr lang="vi-VN" sz="1400" dirty="0">
                <a:solidFill>
                  <a:srgbClr val="7094BA"/>
                </a:solidFill>
              </a:rPr>
              <a:t>  (Cisco, 2025)  •  88% tổ chức dùng AI nhưng thiếu kiểm soát</a:t>
            </a:r>
          </a:p>
        </p:txBody>
      </p:sp>
      <p:sp>
        <p:nvSpPr>
          <p:cNvPr id="30" name="Card0"/>
          <p:cNvSpPr/>
          <p:nvPr/>
        </p:nvSpPr>
        <p:spPr>
          <a:xfrm>
            <a:off x="685800" y="1180056"/>
            <a:ext cx="2438400" cy="1143000"/>
          </a:xfrm>
          <a:prstGeom prst="roundRect">
            <a:avLst>
              <a:gd name="adj" fmla="val 10000"/>
            </a:avLst>
          </a:prstGeom>
          <a:solidFill>
            <a:srgbClr val="132847"/>
          </a:solidFill>
          <a:ln w="12700">
            <a:solidFill>
              <a:srgbClr val="EF4444">
                <a:alpha val="40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CardTop0"/>
          <p:cNvSpPr/>
          <p:nvPr/>
        </p:nvSpPr>
        <p:spPr>
          <a:xfrm>
            <a:off x="685800" y="1180056"/>
            <a:ext cx="2438400" cy="5715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CardTitle0"/>
          <p:cNvSpPr/>
          <p:nvPr/>
        </p:nvSpPr>
        <p:spPr>
          <a:xfrm>
            <a:off x="777240" y="1294356"/>
            <a:ext cx="2255520" cy="320040"/>
          </a:xfrm>
          <a:prstGeom prst="rect">
            <a:avLst/>
          </a:prstGeom>
          <a:noFill/>
        </p:spPr>
        <p:txBody>
          <a:bodyPr anchor="t"/>
          <a:lstStyle/>
          <a:p>
            <a:pPr>
              <a:buNone/>
            </a:pPr>
            <a:r>
              <a:rPr lang="vi-VN" sz="1500" b="1" dirty="0">
                <a:solidFill>
                  <a:srgbClr val="EF4444"/>
                </a:solidFill>
              </a:rPr>
              <a:t>Bảo mật dữ liệu</a:t>
            </a:r>
          </a:p>
        </p:txBody>
      </p:sp>
      <p:sp>
        <p:nvSpPr>
          <p:cNvPr id="33" name="CardBody0"/>
          <p:cNvSpPr/>
          <p:nvPr/>
        </p:nvSpPr>
        <p:spPr>
          <a:xfrm>
            <a:off x="777240" y="1614396"/>
            <a:ext cx="2255520" cy="5715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vi-VN" sz="1400" dirty="0">
                <a:solidFill>
                  <a:srgbClr val="C5D3E8"/>
                </a:solidFill>
              </a:rPr>
              <a:t>Không nhập dữ liệu nội bộ vào AI bên thứ 3 chưa được phê duyệt</a:t>
            </a:r>
          </a:p>
        </p:txBody>
      </p:sp>
      <p:sp>
        <p:nvSpPr>
          <p:cNvPr id="34" name="Card1"/>
          <p:cNvSpPr/>
          <p:nvPr/>
        </p:nvSpPr>
        <p:spPr>
          <a:xfrm>
            <a:off x="3215640" y="1180056"/>
            <a:ext cx="2438400" cy="1143000"/>
          </a:xfrm>
          <a:prstGeom prst="roundRect">
            <a:avLst>
              <a:gd name="adj" fmla="val 10000"/>
            </a:avLst>
          </a:prstGeom>
          <a:solidFill>
            <a:srgbClr val="132847"/>
          </a:solidFill>
          <a:ln w="12700">
            <a:solidFill>
              <a:srgbClr val="F59E0B">
                <a:alpha val="40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CardTop1"/>
          <p:cNvSpPr/>
          <p:nvPr/>
        </p:nvSpPr>
        <p:spPr>
          <a:xfrm>
            <a:off x="3215640" y="1180056"/>
            <a:ext cx="2438400" cy="571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6" name="CardTitle1"/>
          <p:cNvSpPr/>
          <p:nvPr/>
        </p:nvSpPr>
        <p:spPr>
          <a:xfrm>
            <a:off x="3307080" y="1294356"/>
            <a:ext cx="2255520" cy="320040"/>
          </a:xfrm>
          <a:prstGeom prst="rect">
            <a:avLst/>
          </a:prstGeom>
          <a:noFill/>
        </p:spPr>
        <p:txBody>
          <a:bodyPr anchor="t"/>
          <a:lstStyle/>
          <a:p>
            <a:pPr>
              <a:buNone/>
            </a:pPr>
            <a:r>
              <a:rPr lang="vi-VN" sz="1500" b="1" dirty="0">
                <a:solidFill>
                  <a:srgbClr val="F59E0B"/>
                </a:solidFill>
              </a:rPr>
              <a:t>Hallucination</a:t>
            </a:r>
          </a:p>
        </p:txBody>
      </p:sp>
      <p:sp>
        <p:nvSpPr>
          <p:cNvPr id="37" name="CardBody1"/>
          <p:cNvSpPr/>
          <p:nvPr/>
        </p:nvSpPr>
        <p:spPr>
          <a:xfrm>
            <a:off x="3307080" y="1614396"/>
            <a:ext cx="2255520" cy="5715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vi-VN" sz="1400" dirty="0">
                <a:solidFill>
                  <a:srgbClr val="C5D3E8"/>
                </a:solidFill>
              </a:rPr>
              <a:t>AI có thể tạo thông tin sai nhưng trình bày rất tự tin. Luôn kiểm tra lại</a:t>
            </a:r>
          </a:p>
        </p:txBody>
      </p:sp>
      <p:sp>
        <p:nvSpPr>
          <p:cNvPr id="38" name="Card2"/>
          <p:cNvSpPr/>
          <p:nvPr/>
        </p:nvSpPr>
        <p:spPr>
          <a:xfrm>
            <a:off x="5745480" y="1180056"/>
            <a:ext cx="2438400" cy="1143000"/>
          </a:xfrm>
          <a:prstGeom prst="roundRect">
            <a:avLst>
              <a:gd name="adj" fmla="val 10000"/>
            </a:avLst>
          </a:prstGeom>
          <a:solidFill>
            <a:srgbClr val="132847"/>
          </a:solidFill>
          <a:ln w="12700">
            <a:solidFill>
              <a:srgbClr val="8B5CF6">
                <a:alpha val="40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CardTop2"/>
          <p:cNvSpPr/>
          <p:nvPr/>
        </p:nvSpPr>
        <p:spPr>
          <a:xfrm>
            <a:off x="5745480" y="1180056"/>
            <a:ext cx="2438400" cy="5715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CardTitle2"/>
          <p:cNvSpPr/>
          <p:nvPr/>
        </p:nvSpPr>
        <p:spPr>
          <a:xfrm>
            <a:off x="5836920" y="1294356"/>
            <a:ext cx="2255520" cy="320040"/>
          </a:xfrm>
          <a:prstGeom prst="rect">
            <a:avLst/>
          </a:prstGeom>
          <a:noFill/>
        </p:spPr>
        <p:txBody>
          <a:bodyPr anchor="t"/>
          <a:lstStyle/>
          <a:p>
            <a:pPr>
              <a:buNone/>
            </a:pPr>
            <a:r>
              <a:rPr lang="vi-VN" sz="1500" b="1" dirty="0">
                <a:solidFill>
                  <a:srgbClr val="8B5CF6"/>
                </a:solidFill>
              </a:rPr>
              <a:t>Thiên kiến (Bias)</a:t>
            </a:r>
          </a:p>
        </p:txBody>
      </p:sp>
      <p:sp>
        <p:nvSpPr>
          <p:cNvPr id="41" name="CardBody2"/>
          <p:cNvSpPr/>
          <p:nvPr/>
        </p:nvSpPr>
        <p:spPr>
          <a:xfrm>
            <a:off x="5836920" y="1614396"/>
            <a:ext cx="2255520" cy="85152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vi-VN" sz="1400" dirty="0">
                <a:solidFill>
                  <a:srgbClr val="C5D3E8"/>
                </a:solidFill>
              </a:rPr>
              <a:t>AI kế thừa thiên kiến từ dữ liệu huấn luyện. Kết quả phụ thuộc dữ liệu đầu vào</a:t>
            </a:r>
          </a:p>
        </p:txBody>
      </p:sp>
      <p:sp>
        <p:nvSpPr>
          <p:cNvPr id="42" name="Card3"/>
          <p:cNvSpPr/>
          <p:nvPr/>
        </p:nvSpPr>
        <p:spPr>
          <a:xfrm>
            <a:off x="1360000" y="3429600"/>
            <a:ext cx="2438400" cy="1143000"/>
          </a:xfrm>
          <a:prstGeom prst="roundRect">
            <a:avLst>
              <a:gd name="adj" fmla="val 10000"/>
            </a:avLst>
          </a:prstGeom>
          <a:solidFill>
            <a:srgbClr val="132847"/>
          </a:solidFill>
          <a:ln w="12700">
            <a:solidFill>
              <a:srgbClr val="06B6D4">
                <a:alpha val="40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3" name="CardTop3"/>
          <p:cNvSpPr/>
          <p:nvPr/>
        </p:nvSpPr>
        <p:spPr>
          <a:xfrm>
            <a:off x="1360000" y="3429600"/>
            <a:ext cx="2438400" cy="571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4" name="CardTitle3"/>
          <p:cNvSpPr/>
          <p:nvPr/>
        </p:nvSpPr>
        <p:spPr>
          <a:xfrm>
            <a:off x="1451440" y="3543900"/>
            <a:ext cx="2255520" cy="320040"/>
          </a:xfrm>
          <a:prstGeom prst="rect">
            <a:avLst/>
          </a:prstGeom>
          <a:noFill/>
        </p:spPr>
        <p:txBody>
          <a:bodyPr anchor="t"/>
          <a:lstStyle/>
          <a:p>
            <a:pPr>
              <a:buNone/>
            </a:pPr>
            <a:r>
              <a:rPr lang="vi-VN" sz="1500" b="1" dirty="0">
                <a:solidFill>
                  <a:srgbClr val="06B6D4"/>
                </a:solidFill>
              </a:rPr>
              <a:t>Phụ thuộc &amp; Kỹ năng</a:t>
            </a:r>
          </a:p>
        </p:txBody>
      </p:sp>
      <p:sp>
        <p:nvSpPr>
          <p:cNvPr id="45" name="CardBody3"/>
          <p:cNvSpPr/>
          <p:nvPr/>
        </p:nvSpPr>
        <p:spPr>
          <a:xfrm>
            <a:off x="1451440" y="3863940"/>
            <a:ext cx="2255520" cy="5715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vi-VN" sz="1400" dirty="0">
                <a:solidFill>
                  <a:srgbClr val="C5D3E8"/>
                </a:solidFill>
              </a:rPr>
              <a:t>Dùng AI để tăng cường năng lực, không phải thay thế tư duy</a:t>
            </a:r>
          </a:p>
        </p:txBody>
      </p:sp>
      <p:sp>
        <p:nvSpPr>
          <p:cNvPr id="46" name="Card4"/>
          <p:cNvSpPr/>
          <p:nvPr/>
        </p:nvSpPr>
        <p:spPr>
          <a:xfrm>
            <a:off x="3889839" y="3429600"/>
            <a:ext cx="2529841" cy="1143000"/>
          </a:xfrm>
          <a:prstGeom prst="roundRect">
            <a:avLst>
              <a:gd name="adj" fmla="val 10000"/>
            </a:avLst>
          </a:prstGeom>
          <a:solidFill>
            <a:srgbClr val="132847"/>
          </a:solidFill>
          <a:ln w="12700">
            <a:solidFill>
              <a:srgbClr val="10B981">
                <a:alpha val="40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7" name="CardTop4"/>
          <p:cNvSpPr/>
          <p:nvPr/>
        </p:nvSpPr>
        <p:spPr>
          <a:xfrm>
            <a:off x="3889840" y="3429600"/>
            <a:ext cx="2438400" cy="571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8" name="CardTitle4"/>
          <p:cNvSpPr/>
          <p:nvPr/>
        </p:nvSpPr>
        <p:spPr>
          <a:xfrm>
            <a:off x="3981280" y="3543900"/>
            <a:ext cx="2255520" cy="320040"/>
          </a:xfrm>
          <a:prstGeom prst="rect">
            <a:avLst/>
          </a:prstGeom>
          <a:noFill/>
        </p:spPr>
        <p:txBody>
          <a:bodyPr anchor="t"/>
          <a:lstStyle/>
          <a:p>
            <a:pPr>
              <a:buNone/>
            </a:pPr>
            <a:r>
              <a:rPr lang="vi-VN" sz="1500" b="1" dirty="0">
                <a:solidFill>
                  <a:srgbClr val="10B981"/>
                </a:solidFill>
              </a:rPr>
              <a:t>Pháp lý &amp; Tuân thủ</a:t>
            </a:r>
          </a:p>
        </p:txBody>
      </p:sp>
      <p:sp>
        <p:nvSpPr>
          <p:cNvPr id="49" name="CardBody4"/>
          <p:cNvSpPr/>
          <p:nvPr/>
        </p:nvSpPr>
        <p:spPr>
          <a:xfrm>
            <a:off x="3981280" y="3863940"/>
            <a:ext cx="2255520" cy="5715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vi-VN" sz="1400" dirty="0">
                <a:solidFill>
                  <a:srgbClr val="C5D3E8"/>
                </a:solidFill>
              </a:rPr>
              <a:t>VN có quy định AI từ 1/3/2026. Quyền SHTT nội dung AI vẫn tranh cãi</a:t>
            </a:r>
          </a:p>
        </p:txBody>
      </p:sp>
      <p:sp>
        <p:nvSpPr>
          <p:cNvPr id="60" name="GoldenRule"/>
          <p:cNvSpPr/>
          <p:nvPr/>
        </p:nvSpPr>
        <p:spPr>
          <a:xfrm>
            <a:off x="685800" y="2438400"/>
            <a:ext cx="7772400" cy="685800"/>
          </a:xfrm>
          <a:prstGeom prst="rect">
            <a:avLst/>
          </a:prstGeom>
          <a:solidFill>
            <a:srgbClr val="1E3A5F"/>
          </a:solidFill>
          <a:ln w="25400">
            <a:solidFill>
              <a:srgbClr val="F59E0B"/>
            </a:solidFill>
          </a:ln>
        </p:spPr>
        <p:txBody>
          <a:bodyPr lIns="182880" anchor="ctr"/>
          <a:lstStyle/>
          <a:p>
            <a:pPr>
              <a:buNone/>
            </a:pPr>
            <a:r>
              <a:rPr lang="vi-VN" sz="1600" b="1" dirty="0">
                <a:solidFill>
                  <a:srgbClr val="F59E0B"/>
                </a:solidFill>
              </a:rPr>
              <a:t>★ QUY TẮC VÀNG:  </a:t>
            </a:r>
            <a:r>
              <a:rPr lang="vi-VN" sz="1600" b="1" dirty="0">
                <a:solidFill>
                  <a:srgbClr val="FFFFFF"/>
                </a:solidFill>
              </a:rPr>
              <a:t>Luôn kiểm tra lại thông tin quan trọng từ nguồn gốc  &amp;  AI hỗ trợ, con người quyết định</a:t>
            </a:r>
          </a:p>
        </p:txBody>
      </p:sp>
    </p:spTree>
    <p:extLst>
      <p:ext uri="{BB962C8B-B14F-4D97-AF65-F5344CB8AC3E}">
        <p14:creationId xmlns:p14="http://schemas.microsoft.com/office/powerpoint/2010/main" val="1742519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eftBlock"/>
          <p:cNvSpPr/>
          <p:nvPr/>
        </p:nvSpPr>
        <p:spPr>
          <a:xfrm>
            <a:off x="0" y="0"/>
            <a:ext cx="548640" cy="48768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BottomBar"/>
          <p:cNvSpPr/>
          <p:nvPr/>
        </p:nvSpPr>
        <p:spPr>
          <a:xfrm>
            <a:off x="0" y="4800600"/>
            <a:ext cx="9144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SectionLabel"/>
          <p:cNvSpPr/>
          <p:nvPr/>
        </p:nvSpPr>
        <p:spPr>
          <a:xfrm>
            <a:off x="685800" y="152400"/>
            <a:ext cx="900000" cy="228600"/>
          </a:xfrm>
          <a:prstGeom prst="rect">
            <a:avLst/>
          </a:prstGeom>
          <a:solidFill>
            <a:srgbClr val="065F46"/>
          </a:solidFill>
          <a:ln w="12700">
            <a:solidFill>
              <a:srgbClr val="10B981"/>
            </a:solidFill>
          </a:ln>
        </p:spPr>
        <p:txBody>
          <a:bodyPr wrap="none" lIns="91440" anchor="ctr"/>
          <a:lstStyle/>
          <a:p>
            <a:pPr>
              <a:buNone/>
            </a:pPr>
            <a:r>
              <a:rPr lang="en-US" sz="1000" b="1" dirty="0">
                <a:solidFill>
                  <a:srgbClr val="FFFFFF"/>
                </a:solidFill>
              </a:rPr>
              <a:t>02 / BẮT ĐẦU</a:t>
            </a:r>
          </a:p>
        </p:txBody>
      </p:sp>
      <p:sp>
        <p:nvSpPr>
          <p:cNvPr id="13" name="Title"/>
          <p:cNvSpPr/>
          <p:nvPr/>
        </p:nvSpPr>
        <p:spPr>
          <a:xfrm>
            <a:off x="685800" y="365760"/>
            <a:ext cx="7772400" cy="480060"/>
          </a:xfrm>
          <a:prstGeom prst="rect">
            <a:avLst/>
          </a:prstGeom>
          <a:noFill/>
        </p:spPr>
        <p:txBody>
          <a:bodyPr anchor="t"/>
          <a:lstStyle/>
          <a:p>
            <a:pPr>
              <a:buNone/>
            </a:pPr>
            <a:r>
              <a:rPr lang="vi-VN" sz="2800" b="1" dirty="0">
                <a:solidFill>
                  <a:srgbClr val="FFFFFF"/>
                </a:solidFill>
              </a:rPr>
              <a:t>Các bước bắt đầu với AI</a:t>
            </a:r>
          </a:p>
        </p:txBody>
      </p:sp>
      <p:sp>
        <p:nvSpPr>
          <p:cNvPr id="20" name="Stage0"/>
          <p:cNvSpPr/>
          <p:nvPr/>
        </p:nvSpPr>
        <p:spPr>
          <a:xfrm>
            <a:off x="685800" y="1005840"/>
            <a:ext cx="1905000" cy="1143000"/>
          </a:xfrm>
          <a:prstGeom prst="rect">
            <a:avLst/>
          </a:prstGeom>
          <a:solidFill>
            <a:srgbClr val="13284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StageBar0"/>
          <p:cNvSpPr/>
          <p:nvPr/>
        </p:nvSpPr>
        <p:spPr>
          <a:xfrm>
            <a:off x="685800" y="1005840"/>
            <a:ext cx="57150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StageNum0"/>
          <p:cNvSpPr/>
          <p:nvPr/>
        </p:nvSpPr>
        <p:spPr>
          <a:xfrm>
            <a:off x="800100" y="1097280"/>
            <a:ext cx="400000" cy="320040"/>
          </a:xfrm>
          <a:prstGeom prst="rect">
            <a:avLst/>
          </a:prstGeom>
          <a:noFill/>
        </p:spPr>
        <p:txBody>
          <a:bodyPr anchor="t"/>
          <a:lstStyle/>
          <a:p>
            <a:pPr>
              <a:buNone/>
            </a:pPr>
            <a:r>
              <a:rPr lang="en-US" sz="3600" b="1" dirty="0">
                <a:solidFill>
                  <a:srgbClr val="2563EB">
                    <a:alpha val="40000"/>
                  </a:srgbClr>
                </a:solidFill>
              </a:rPr>
              <a:t>1</a:t>
            </a:r>
          </a:p>
        </p:txBody>
      </p:sp>
      <p:sp>
        <p:nvSpPr>
          <p:cNvPr id="23" name="StageLbl0"/>
          <p:cNvSpPr/>
          <p:nvPr/>
        </p:nvSpPr>
        <p:spPr>
          <a:xfrm>
            <a:off x="800100" y="1417320"/>
            <a:ext cx="1722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vi-VN" sz="1800" b="1" dirty="0">
                <a:solidFill>
                  <a:srgbClr val="2563EB"/>
                </a:solidFill>
              </a:rPr>
              <a:t>Thử nghiệm</a:t>
            </a:r>
          </a:p>
          <a:p>
            <a:pPr>
              <a:spcBef>
                <a:spcPts val="100"/>
              </a:spcBef>
              <a:buNone/>
            </a:pPr>
            <a:r>
              <a:rPr lang="vi-VN" sz="1200" dirty="0">
                <a:solidFill>
                  <a:srgbClr val="F59E0B"/>
                </a:solidFill>
              </a:rPr>
              <a:t>Tuần 1–2</a:t>
            </a:r>
          </a:p>
        </p:txBody>
      </p:sp>
      <p:sp>
        <p:nvSpPr>
          <p:cNvPr id="24" name="StageDetail0"/>
          <p:cNvSpPr/>
          <p:nvPr/>
        </p:nvSpPr>
        <p:spPr>
          <a:xfrm>
            <a:off x="800100" y="1874520"/>
            <a:ext cx="17221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vi-VN" sz="1000" dirty="0">
                <a:solidFill>
                  <a:srgbClr val="7094BA"/>
                </a:solidFill>
              </a:rPr>
              <a:t>Chọn 1 use case cụ thể. 2–3 người thử. Không áp lực.</a:t>
            </a:r>
          </a:p>
        </p:txBody>
      </p:sp>
      <p:sp>
        <p:nvSpPr>
          <p:cNvPr id="49" name="Arrow0"/>
          <p:cNvSpPr/>
          <p:nvPr/>
        </p:nvSpPr>
        <p:spPr>
          <a:xfrm>
            <a:off x="2636520" y="1501140"/>
            <a:ext cx="137160" cy="152400"/>
          </a:xfrm>
          <a:prstGeom prst="rightArrow">
            <a:avLst/>
          </a:prstGeom>
          <a:solidFill>
            <a:srgbClr val="2563EB">
              <a:alpha val="6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Stage1"/>
          <p:cNvSpPr/>
          <p:nvPr/>
        </p:nvSpPr>
        <p:spPr>
          <a:xfrm>
            <a:off x="2819400" y="1005840"/>
            <a:ext cx="1905000" cy="1143000"/>
          </a:xfrm>
          <a:prstGeom prst="rect">
            <a:avLst/>
          </a:prstGeom>
          <a:solidFill>
            <a:srgbClr val="13284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StageBar1"/>
          <p:cNvSpPr/>
          <p:nvPr/>
        </p:nvSpPr>
        <p:spPr>
          <a:xfrm>
            <a:off x="2819400" y="1005840"/>
            <a:ext cx="57150" cy="1143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StageNum1"/>
          <p:cNvSpPr/>
          <p:nvPr/>
        </p:nvSpPr>
        <p:spPr>
          <a:xfrm>
            <a:off x="2933700" y="1097280"/>
            <a:ext cx="400000" cy="320040"/>
          </a:xfrm>
          <a:prstGeom prst="rect">
            <a:avLst/>
          </a:prstGeom>
          <a:noFill/>
        </p:spPr>
        <p:txBody>
          <a:bodyPr anchor="t"/>
          <a:lstStyle/>
          <a:p>
            <a:pPr>
              <a:buNone/>
            </a:pPr>
            <a:r>
              <a:rPr lang="en-US" sz="3600" b="1" dirty="0">
                <a:solidFill>
                  <a:srgbClr val="10B981">
                    <a:alpha val="40000"/>
                  </a:srgbClr>
                </a:solidFill>
              </a:rPr>
              <a:t>2</a:t>
            </a:r>
          </a:p>
        </p:txBody>
      </p:sp>
      <p:sp>
        <p:nvSpPr>
          <p:cNvPr id="28" name="StageLbl1"/>
          <p:cNvSpPr/>
          <p:nvPr/>
        </p:nvSpPr>
        <p:spPr>
          <a:xfrm>
            <a:off x="2933700" y="1417320"/>
            <a:ext cx="1722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vi-VN" sz="1800" b="1" dirty="0">
                <a:solidFill>
                  <a:srgbClr val="10B981"/>
                </a:solidFill>
              </a:rPr>
              <a:t>Chuẩn hóa</a:t>
            </a:r>
          </a:p>
          <a:p>
            <a:pPr>
              <a:spcBef>
                <a:spcPts val="100"/>
              </a:spcBef>
              <a:buNone/>
            </a:pPr>
            <a:r>
              <a:rPr lang="vi-VN" sz="1200" dirty="0">
                <a:solidFill>
                  <a:srgbClr val="F59E0B"/>
                </a:solidFill>
              </a:rPr>
              <a:t>Tháng 1</a:t>
            </a:r>
          </a:p>
        </p:txBody>
      </p:sp>
      <p:sp>
        <p:nvSpPr>
          <p:cNvPr id="29" name="StageDetail1"/>
          <p:cNvSpPr/>
          <p:nvPr/>
        </p:nvSpPr>
        <p:spPr>
          <a:xfrm>
            <a:off x="2933700" y="1874520"/>
            <a:ext cx="17221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vi-VN" sz="1000" dirty="0">
                <a:solidFill>
                  <a:srgbClr val="7094BA"/>
                </a:solidFill>
              </a:rPr>
              <a:t>Viết hướng dẫn, chia sẻ kết quả, đào tạo team.</a:t>
            </a:r>
          </a:p>
        </p:txBody>
      </p:sp>
      <p:sp>
        <p:nvSpPr>
          <p:cNvPr id="50" name="Arrow1"/>
          <p:cNvSpPr/>
          <p:nvPr/>
        </p:nvSpPr>
        <p:spPr>
          <a:xfrm>
            <a:off x="4770120" y="1501140"/>
            <a:ext cx="137160" cy="152400"/>
          </a:xfrm>
          <a:prstGeom prst="rightArrow">
            <a:avLst/>
          </a:prstGeom>
          <a:solidFill>
            <a:srgbClr val="2563EB">
              <a:alpha val="6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Stage2"/>
          <p:cNvSpPr/>
          <p:nvPr/>
        </p:nvSpPr>
        <p:spPr>
          <a:xfrm>
            <a:off x="4953000" y="1005840"/>
            <a:ext cx="1905000" cy="1143000"/>
          </a:xfrm>
          <a:prstGeom prst="rect">
            <a:avLst/>
          </a:prstGeom>
          <a:solidFill>
            <a:srgbClr val="13284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StageBar2"/>
          <p:cNvSpPr/>
          <p:nvPr/>
        </p:nvSpPr>
        <p:spPr>
          <a:xfrm>
            <a:off x="4953000" y="1005840"/>
            <a:ext cx="57150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StageNum2"/>
          <p:cNvSpPr/>
          <p:nvPr/>
        </p:nvSpPr>
        <p:spPr>
          <a:xfrm>
            <a:off x="5067300" y="1097280"/>
            <a:ext cx="400000" cy="320040"/>
          </a:xfrm>
          <a:prstGeom prst="rect">
            <a:avLst/>
          </a:prstGeom>
          <a:noFill/>
        </p:spPr>
        <p:txBody>
          <a:bodyPr anchor="t"/>
          <a:lstStyle/>
          <a:p>
            <a:pPr>
              <a:buNone/>
            </a:pPr>
            <a:r>
              <a:rPr lang="en-US" sz="3600" b="1" dirty="0">
                <a:solidFill>
                  <a:srgbClr val="F59E0B">
                    <a:alpha val="40000"/>
                  </a:srgbClr>
                </a:solidFill>
              </a:rPr>
              <a:t>3</a:t>
            </a:r>
          </a:p>
        </p:txBody>
      </p:sp>
      <p:sp>
        <p:nvSpPr>
          <p:cNvPr id="33" name="StageLbl2"/>
          <p:cNvSpPr/>
          <p:nvPr/>
        </p:nvSpPr>
        <p:spPr>
          <a:xfrm>
            <a:off x="5067300" y="1417320"/>
            <a:ext cx="1722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vi-VN" sz="1800" b="1" dirty="0">
                <a:solidFill>
                  <a:srgbClr val="F59E0B"/>
                </a:solidFill>
              </a:rPr>
              <a:t>Mở rộng</a:t>
            </a:r>
          </a:p>
          <a:p>
            <a:pPr>
              <a:spcBef>
                <a:spcPts val="100"/>
              </a:spcBef>
              <a:buNone/>
            </a:pPr>
            <a:r>
              <a:rPr lang="vi-VN" sz="1200" dirty="0">
                <a:solidFill>
                  <a:srgbClr val="F59E0B"/>
                </a:solidFill>
              </a:rPr>
              <a:t>Tháng 2–3</a:t>
            </a:r>
          </a:p>
        </p:txBody>
      </p:sp>
      <p:sp>
        <p:nvSpPr>
          <p:cNvPr id="34" name="StageDetail2"/>
          <p:cNvSpPr/>
          <p:nvPr/>
        </p:nvSpPr>
        <p:spPr>
          <a:xfrm>
            <a:off x="5067300" y="1874520"/>
            <a:ext cx="17221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vi-VN" sz="1000" dirty="0">
                <a:solidFill>
                  <a:srgbClr val="7094BA"/>
                </a:solidFill>
              </a:rPr>
              <a:t>Áp dụng thêm use cases, đo KPI tiết kiệm thời gian.</a:t>
            </a:r>
          </a:p>
        </p:txBody>
      </p:sp>
      <p:sp>
        <p:nvSpPr>
          <p:cNvPr id="51" name="Arrow2"/>
          <p:cNvSpPr/>
          <p:nvPr/>
        </p:nvSpPr>
        <p:spPr>
          <a:xfrm>
            <a:off x="6903720" y="1501140"/>
            <a:ext cx="137160" cy="152400"/>
          </a:xfrm>
          <a:prstGeom prst="rightArrow">
            <a:avLst/>
          </a:prstGeom>
          <a:solidFill>
            <a:srgbClr val="2563EB">
              <a:alpha val="6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" name="Stage3"/>
          <p:cNvSpPr/>
          <p:nvPr/>
        </p:nvSpPr>
        <p:spPr>
          <a:xfrm>
            <a:off x="7086600" y="1005840"/>
            <a:ext cx="1905000" cy="1143000"/>
          </a:xfrm>
          <a:prstGeom prst="rect">
            <a:avLst/>
          </a:prstGeom>
          <a:solidFill>
            <a:srgbClr val="13284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6" name="StageBar3"/>
          <p:cNvSpPr/>
          <p:nvPr/>
        </p:nvSpPr>
        <p:spPr>
          <a:xfrm>
            <a:off x="7086600" y="1005840"/>
            <a:ext cx="57150" cy="1143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7" name="StageNum3"/>
          <p:cNvSpPr/>
          <p:nvPr/>
        </p:nvSpPr>
        <p:spPr>
          <a:xfrm>
            <a:off x="7200900" y="1097280"/>
            <a:ext cx="400000" cy="320040"/>
          </a:xfrm>
          <a:prstGeom prst="rect">
            <a:avLst/>
          </a:prstGeom>
          <a:noFill/>
        </p:spPr>
        <p:txBody>
          <a:bodyPr anchor="t"/>
          <a:lstStyle/>
          <a:p>
            <a:pPr>
              <a:buNone/>
            </a:pPr>
            <a:r>
              <a:rPr lang="en-US" sz="3600" b="1" dirty="0">
                <a:solidFill>
                  <a:srgbClr val="8B5CF6">
                    <a:alpha val="40000"/>
                  </a:srgbClr>
                </a:solidFill>
              </a:rPr>
              <a:t>4</a:t>
            </a:r>
          </a:p>
        </p:txBody>
      </p:sp>
      <p:sp>
        <p:nvSpPr>
          <p:cNvPr id="38" name="StageLbl3"/>
          <p:cNvSpPr/>
          <p:nvPr/>
        </p:nvSpPr>
        <p:spPr>
          <a:xfrm>
            <a:off x="7200900" y="1417320"/>
            <a:ext cx="1722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vi-VN" sz="1800" b="1" dirty="0">
                <a:solidFill>
                  <a:srgbClr val="8B5CF6"/>
                </a:solidFill>
              </a:rPr>
              <a:t>Tối ưu</a:t>
            </a:r>
          </a:p>
          <a:p>
            <a:pPr>
              <a:spcBef>
                <a:spcPts val="100"/>
              </a:spcBef>
              <a:buNone/>
            </a:pPr>
            <a:r>
              <a:rPr lang="vi-VN" sz="1200" dirty="0">
                <a:solidFill>
                  <a:srgbClr val="F59E0B"/>
                </a:solidFill>
              </a:rPr>
              <a:t>Tháng 4+</a:t>
            </a:r>
          </a:p>
        </p:txBody>
      </p:sp>
      <p:sp>
        <p:nvSpPr>
          <p:cNvPr id="39" name="StageDetail3"/>
          <p:cNvSpPr/>
          <p:nvPr/>
        </p:nvSpPr>
        <p:spPr>
          <a:xfrm>
            <a:off x="7200900" y="1874520"/>
            <a:ext cx="17221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vi-VN" sz="1000" dirty="0">
                <a:solidFill>
                  <a:srgbClr val="7094BA"/>
                </a:solidFill>
              </a:rPr>
              <a:t>Tích hợp sâu hơn, khám phá tự động hóa, đánh giá ROI.</a:t>
            </a:r>
          </a:p>
        </p:txBody>
      </p:sp>
      <p:sp>
        <p:nvSpPr>
          <p:cNvPr id="60" name="ChecklistHeader"/>
          <p:cNvSpPr/>
          <p:nvPr/>
        </p:nvSpPr>
        <p:spPr>
          <a:xfrm>
            <a:off x="685800" y="2438400"/>
            <a:ext cx="7772400" cy="274320"/>
          </a:xfrm>
          <a:prstGeom prst="rect">
            <a:avLst/>
          </a:prstGeom>
          <a:noFill/>
        </p:spPr>
        <p:txBody>
          <a:bodyPr anchor="ctr"/>
          <a:lstStyle/>
          <a:p>
            <a:pPr>
              <a:buNone/>
            </a:pPr>
            <a:r>
              <a:rPr lang="vi-VN" sz="1800" b="1" dirty="0">
                <a:solidFill>
                  <a:srgbClr val="FFFFFF"/>
                </a:solidFill>
              </a:rPr>
              <a:t>✅ Checklist Tuần Đầu Tiên</a:t>
            </a:r>
          </a:p>
        </p:txBody>
      </p:sp>
      <p:sp>
        <p:nvSpPr>
          <p:cNvPr id="70" name="Check0"/>
          <p:cNvSpPr/>
          <p:nvPr/>
        </p:nvSpPr>
        <p:spPr>
          <a:xfrm>
            <a:off x="685800" y="2743200"/>
            <a:ext cx="3886200" cy="411480"/>
          </a:xfrm>
          <a:prstGeom prst="rect">
            <a:avLst/>
          </a:prstGeom>
          <a:noFill/>
        </p:spPr>
        <p:txBody>
          <a:bodyPr anchor="ctr"/>
          <a:lstStyle/>
          <a:p>
            <a:pPr>
              <a:buNone/>
            </a:pPr>
            <a:r>
              <a:rPr lang="vi-VN" sz="1400" dirty="0">
                <a:solidFill>
                  <a:srgbClr val="10B981"/>
                </a:solidFill>
              </a:rPr>
              <a:t>☐ </a:t>
            </a:r>
            <a:r>
              <a:rPr lang="vi-VN" sz="1400" dirty="0">
                <a:solidFill>
                  <a:srgbClr val="C5D3E8"/>
                </a:solidFill>
              </a:rPr>
              <a:t>Tạo tài khoản ChatGPT hoặc Claude (miễn phí)</a:t>
            </a:r>
          </a:p>
        </p:txBody>
      </p:sp>
      <p:sp>
        <p:nvSpPr>
          <p:cNvPr id="71" name="Check1"/>
          <p:cNvSpPr/>
          <p:nvPr/>
        </p:nvSpPr>
        <p:spPr>
          <a:xfrm>
            <a:off x="685800" y="3291840"/>
            <a:ext cx="3886200" cy="411480"/>
          </a:xfrm>
          <a:prstGeom prst="rect">
            <a:avLst/>
          </a:prstGeom>
          <a:noFill/>
        </p:spPr>
        <p:txBody>
          <a:bodyPr anchor="ctr"/>
          <a:lstStyle/>
          <a:p>
            <a:pPr>
              <a:buNone/>
            </a:pPr>
            <a:r>
              <a:rPr lang="vi-VN" sz="1400" dirty="0">
                <a:solidFill>
                  <a:srgbClr val="10B981"/>
                </a:solidFill>
              </a:rPr>
              <a:t>☐ </a:t>
            </a:r>
            <a:r>
              <a:rPr lang="vi-VN" sz="1400" dirty="0">
                <a:solidFill>
                  <a:srgbClr val="C5D3E8"/>
                </a:solidFill>
              </a:rPr>
              <a:t>Thử viết 1 email bằng AI — so sánh với viết tay</a:t>
            </a:r>
          </a:p>
        </p:txBody>
      </p:sp>
      <p:sp>
        <p:nvSpPr>
          <p:cNvPr id="72" name="Check2"/>
          <p:cNvSpPr/>
          <p:nvPr/>
        </p:nvSpPr>
        <p:spPr>
          <a:xfrm>
            <a:off x="685800" y="3840480"/>
            <a:ext cx="3886200" cy="411480"/>
          </a:xfrm>
          <a:prstGeom prst="rect">
            <a:avLst/>
          </a:prstGeom>
          <a:noFill/>
        </p:spPr>
        <p:txBody>
          <a:bodyPr anchor="ctr"/>
          <a:lstStyle/>
          <a:p>
            <a:pPr>
              <a:buNone/>
            </a:pPr>
            <a:r>
              <a:rPr lang="vi-VN" sz="1400" dirty="0">
                <a:solidFill>
                  <a:srgbClr val="10B981"/>
                </a:solidFill>
              </a:rPr>
              <a:t>☐ </a:t>
            </a:r>
            <a:r>
              <a:rPr lang="vi-VN" sz="1400" dirty="0">
                <a:solidFill>
                  <a:srgbClr val="C5D3E8"/>
                </a:solidFill>
              </a:rPr>
              <a:t>Thử tóm tắt 1 tài liệu dài bằng AI</a:t>
            </a:r>
          </a:p>
        </p:txBody>
      </p:sp>
      <p:sp>
        <p:nvSpPr>
          <p:cNvPr id="73" name="Check3"/>
          <p:cNvSpPr/>
          <p:nvPr/>
        </p:nvSpPr>
        <p:spPr>
          <a:xfrm>
            <a:off x="4800600" y="2743200"/>
            <a:ext cx="3886200" cy="411480"/>
          </a:xfrm>
          <a:prstGeom prst="rect">
            <a:avLst/>
          </a:prstGeom>
          <a:noFill/>
        </p:spPr>
        <p:txBody>
          <a:bodyPr anchor="ctr"/>
          <a:lstStyle/>
          <a:p>
            <a:pPr>
              <a:buNone/>
            </a:pPr>
            <a:r>
              <a:rPr lang="vi-VN" sz="1400" dirty="0">
                <a:solidFill>
                  <a:srgbClr val="10B981"/>
                </a:solidFill>
              </a:rPr>
              <a:t>☐ </a:t>
            </a:r>
            <a:r>
              <a:rPr lang="vi-VN" sz="1400" dirty="0">
                <a:solidFill>
                  <a:srgbClr val="C5D3E8"/>
                </a:solidFill>
              </a:rPr>
              <a:t>Xác định 1 quy trình tốn nhiều thời gian nhất → thử AI</a:t>
            </a:r>
          </a:p>
        </p:txBody>
      </p:sp>
      <p:sp>
        <p:nvSpPr>
          <p:cNvPr id="74" name="Check4"/>
          <p:cNvSpPr/>
          <p:nvPr/>
        </p:nvSpPr>
        <p:spPr>
          <a:xfrm>
            <a:off x="4800600" y="3291840"/>
            <a:ext cx="3886200" cy="411480"/>
          </a:xfrm>
          <a:prstGeom prst="rect">
            <a:avLst/>
          </a:prstGeom>
          <a:noFill/>
        </p:spPr>
        <p:txBody>
          <a:bodyPr anchor="ctr"/>
          <a:lstStyle/>
          <a:p>
            <a:pPr>
              <a:buNone/>
            </a:pPr>
            <a:r>
              <a:rPr lang="vi-VN" sz="1400" dirty="0">
                <a:solidFill>
                  <a:srgbClr val="10B981"/>
                </a:solidFill>
              </a:rPr>
              <a:t>☐ </a:t>
            </a:r>
            <a:r>
              <a:rPr lang="vi-VN" sz="1400" dirty="0">
                <a:solidFill>
                  <a:srgbClr val="C5D3E8"/>
                </a:solidFill>
              </a:rPr>
              <a:t>Chia sẻ kết quả với team &amp; thu thập phản hồi</a:t>
            </a:r>
          </a:p>
        </p:txBody>
      </p:sp>
    </p:spTree>
    <p:extLst>
      <p:ext uri="{BB962C8B-B14F-4D97-AF65-F5344CB8AC3E}">
        <p14:creationId xmlns:p14="http://schemas.microsoft.com/office/powerpoint/2010/main" val="4263543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eft"/>
          <p:cNvSpPr/>
          <p:nvPr/>
        </p:nvSpPr>
        <p:spPr>
          <a:xfrm>
            <a:off x="0" y="0"/>
            <a:ext cx="548640" cy="48768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Bot"/>
          <p:cNvSpPr/>
          <p:nvPr/>
        </p:nvSpPr>
        <p:spPr>
          <a:xfrm>
            <a:off x="0" y="4800600"/>
            <a:ext cx="9144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Lbl"/>
          <p:cNvSpPr/>
          <p:nvPr/>
        </p:nvSpPr>
        <p:spPr>
          <a:xfrm>
            <a:off x="685800" y="152400"/>
            <a:ext cx="950000" cy="228600"/>
          </a:xfrm>
          <a:prstGeom prst="rect">
            <a:avLst/>
          </a:prstGeom>
          <a:solidFill>
            <a:srgbClr val="92400E"/>
          </a:solidFill>
          <a:ln w="12700">
            <a:solidFill>
              <a:srgbClr val="F59E0B"/>
            </a:solidFill>
          </a:ln>
        </p:spPr>
        <p:txBody>
          <a:bodyPr wrap="none" lIns="91440" anchor="ctr"/>
          <a:lstStyle/>
          <a:p>
            <a:pPr>
              <a:buNone/>
            </a:pPr>
            <a:r>
              <a:rPr lang="en-US" sz="1000" b="1" dirty="0">
                <a:solidFill>
                  <a:srgbClr val="FFFFFF"/>
                </a:solidFill>
              </a:rPr>
              <a:t>03 / CÔNG CỤ</a:t>
            </a:r>
          </a:p>
        </p:txBody>
      </p:sp>
      <p:sp>
        <p:nvSpPr>
          <p:cNvPr id="13" name="Title"/>
          <p:cNvSpPr/>
          <p:nvPr/>
        </p:nvSpPr>
        <p:spPr>
          <a:xfrm>
            <a:off x="685800" y="365760"/>
            <a:ext cx="7772400" cy="480060"/>
          </a:xfrm>
          <a:prstGeom prst="rect">
            <a:avLst/>
          </a:prstGeom>
          <a:noFill/>
        </p:spPr>
        <p:txBody>
          <a:bodyPr anchor="t"/>
          <a:lstStyle/>
          <a:p>
            <a:pPr>
              <a:buNone/>
            </a:pPr>
            <a:r>
              <a:rPr lang="vi-VN" sz="2800" b="1" dirty="0">
                <a:solidFill>
                  <a:srgbClr val="FFFFFF"/>
                </a:solidFill>
              </a:rPr>
              <a:t>Sản phẩm AI hàng đầu — 4 Nhà Lớn</a:t>
            </a:r>
          </a:p>
        </p:txBody>
      </p:sp>
      <p:sp>
        <p:nvSpPr>
          <p:cNvPr id="20" name="VendorCard0"/>
          <p:cNvSpPr/>
          <p:nvPr/>
        </p:nvSpPr>
        <p:spPr>
          <a:xfrm>
            <a:off x="685800" y="913400"/>
            <a:ext cx="2057400" cy="3657600"/>
          </a:xfrm>
          <a:prstGeom prst="rect">
            <a:avLst/>
          </a:prstGeom>
          <a:solidFill>
            <a:srgbClr val="13284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VendorHdr0"/>
          <p:cNvSpPr/>
          <p:nvPr/>
        </p:nvSpPr>
        <p:spPr>
          <a:xfrm>
            <a:off x="685800" y="913400"/>
            <a:ext cx="2057400" cy="3429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txBody>
          <a:bodyPr lIns="91440" anchor="ctr"/>
          <a:lstStyle/>
          <a:p>
            <a:pPr>
              <a:buNone/>
            </a:pPr>
            <a:r>
              <a:rPr lang="vi-VN" sz="1800" b="1" dirty="0">
                <a:solidFill>
                  <a:srgbClr val="FFFFFF"/>
                </a:solidFill>
              </a:rPr>
              <a:t>🔵 OpenAI</a:t>
            </a:r>
          </a:p>
        </p:txBody>
      </p:sp>
      <p:sp>
        <p:nvSpPr>
          <p:cNvPr id="22" name="Prod0_0"/>
          <p:cNvSpPr/>
          <p:nvPr/>
        </p:nvSpPr>
        <p:spPr>
          <a:xfrm>
            <a:off x="777240" y="1293400"/>
            <a:ext cx="1874520" cy="5715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vi-VN" sz="1400" b="1" dirty="0">
                <a:solidFill>
                  <a:srgbClr val="FFFFFF"/>
                </a:solidFill>
              </a:rPr>
              <a:t>ChatGPT</a:t>
            </a:r>
          </a:p>
          <a:p>
            <a:pPr>
              <a:buNone/>
            </a:pPr>
            <a:r>
              <a:rPr lang="vi-VN" sz="1200" dirty="0">
                <a:solidFill>
                  <a:srgbClr val="7094BA"/>
                </a:solidFill>
              </a:rPr>
              <a:t>Viết, hỏi đáp, phân tích</a:t>
            </a:r>
          </a:p>
        </p:txBody>
      </p:sp>
      <p:sp>
        <p:nvSpPr>
          <p:cNvPr id="72" name="Prod0_1"/>
          <p:cNvSpPr/>
          <p:nvPr/>
        </p:nvSpPr>
        <p:spPr>
          <a:xfrm>
            <a:off x="777240" y="1979200"/>
            <a:ext cx="1874520" cy="5715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vi-VN" sz="1400" b="1" dirty="0">
                <a:solidFill>
                  <a:srgbClr val="FFFFFF"/>
                </a:solidFill>
              </a:rPr>
              <a:t>Deep Research</a:t>
            </a:r>
          </a:p>
          <a:p>
            <a:pPr>
              <a:buNone/>
            </a:pPr>
            <a:r>
              <a:rPr lang="vi-VN" sz="1200" dirty="0">
                <a:solidFill>
                  <a:srgbClr val="7094BA"/>
                </a:solidFill>
              </a:rPr>
              <a:t>Nghiên cứu chuyên sâu 5-30 phút</a:t>
            </a:r>
          </a:p>
        </p:txBody>
      </p:sp>
      <p:sp>
        <p:nvSpPr>
          <p:cNvPr id="122" name="Prod0_2"/>
          <p:cNvSpPr/>
          <p:nvPr/>
        </p:nvSpPr>
        <p:spPr>
          <a:xfrm>
            <a:off x="777240" y="2665000"/>
            <a:ext cx="1874520" cy="5715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vi-VN" sz="1400" b="1" dirty="0">
                <a:solidFill>
                  <a:srgbClr val="FFFFFF"/>
                </a:solidFill>
              </a:rPr>
              <a:t>Canvas</a:t>
            </a:r>
          </a:p>
          <a:p>
            <a:pPr>
              <a:buNone/>
            </a:pPr>
            <a:r>
              <a:rPr lang="vi-VN" sz="1200" dirty="0">
                <a:solidFill>
                  <a:srgbClr val="7094BA"/>
                </a:solidFill>
              </a:rPr>
              <a:t>Soạn thảo văn bản làm việc</a:t>
            </a:r>
          </a:p>
        </p:txBody>
      </p:sp>
      <p:sp>
        <p:nvSpPr>
          <p:cNvPr id="172" name="Prod0_3"/>
          <p:cNvSpPr/>
          <p:nvPr/>
        </p:nvSpPr>
        <p:spPr>
          <a:xfrm>
            <a:off x="777240" y="3350800"/>
            <a:ext cx="1874520" cy="5715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vi-VN" sz="1400" b="1" dirty="0">
                <a:solidFill>
                  <a:srgbClr val="FFFFFF"/>
                </a:solidFill>
              </a:rPr>
              <a:t>DALL-E / Image</a:t>
            </a:r>
          </a:p>
          <a:p>
            <a:pPr>
              <a:buNone/>
            </a:pPr>
            <a:r>
              <a:rPr lang="vi-VN" sz="1200" dirty="0">
                <a:solidFill>
                  <a:srgbClr val="7094BA"/>
                </a:solidFill>
              </a:rPr>
              <a:t>Tạo ảnh từ mô tả</a:t>
            </a:r>
          </a:p>
        </p:txBody>
      </p:sp>
      <p:sp>
        <p:nvSpPr>
          <p:cNvPr id="29" name="Rec0"/>
          <p:cNvSpPr/>
          <p:nvPr/>
        </p:nvSpPr>
        <p:spPr>
          <a:xfrm>
            <a:off x="731520" y="4205240"/>
            <a:ext cx="1965960" cy="266700"/>
          </a:xfrm>
          <a:prstGeom prst="roundRect">
            <a:avLst>
              <a:gd name="adj" fmla="val 20000"/>
            </a:avLst>
          </a:prstGeom>
          <a:solidFill>
            <a:srgbClr val="065F46"/>
          </a:solidFill>
          <a:ln w="12700">
            <a:solidFill>
              <a:srgbClr val="10B981">
                <a:alpha val="60000"/>
              </a:srgbClr>
            </a:solidFill>
          </a:ln>
        </p:spPr>
        <p:txBody>
          <a:bodyPr lIns="91440" anchor="ctr"/>
          <a:lstStyle/>
          <a:p>
            <a:pPr algn="ctr">
              <a:buNone/>
            </a:pPr>
            <a:r>
              <a:rPr lang="vi-VN" sz="1200" b="1" dirty="0">
                <a:solidFill>
                  <a:srgbClr val="FFFFFF"/>
                </a:solidFill>
              </a:rPr>
              <a:t>ChatGPT Plus $20/tháng</a:t>
            </a:r>
          </a:p>
        </p:txBody>
      </p:sp>
      <p:sp>
        <p:nvSpPr>
          <p:cNvPr id="30" name="VendorCard1"/>
          <p:cNvSpPr/>
          <p:nvPr/>
        </p:nvSpPr>
        <p:spPr>
          <a:xfrm>
            <a:off x="2834640" y="913400"/>
            <a:ext cx="2057400" cy="3657600"/>
          </a:xfrm>
          <a:prstGeom prst="rect">
            <a:avLst/>
          </a:prstGeom>
          <a:solidFill>
            <a:srgbClr val="13284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VendorHdr1"/>
          <p:cNvSpPr/>
          <p:nvPr/>
        </p:nvSpPr>
        <p:spPr>
          <a:xfrm>
            <a:off x="2834640" y="913400"/>
            <a:ext cx="2057400" cy="34290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txBody>
          <a:bodyPr lIns="91440" anchor="ctr"/>
          <a:lstStyle/>
          <a:p>
            <a:pPr>
              <a:buNone/>
            </a:pPr>
            <a:r>
              <a:rPr lang="vi-VN" sz="1800" b="1" dirty="0">
                <a:solidFill>
                  <a:srgbClr val="FFFFFF"/>
                </a:solidFill>
              </a:rPr>
              <a:t>🟠 Anthropic</a:t>
            </a:r>
          </a:p>
        </p:txBody>
      </p:sp>
      <p:sp>
        <p:nvSpPr>
          <p:cNvPr id="32" name="Prod1_0"/>
          <p:cNvSpPr/>
          <p:nvPr/>
        </p:nvSpPr>
        <p:spPr>
          <a:xfrm>
            <a:off x="2926080" y="1293400"/>
            <a:ext cx="1874520" cy="5715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vi-VN" sz="1400" b="1" dirty="0">
                <a:solidFill>
                  <a:srgbClr val="FFFFFF"/>
                </a:solidFill>
              </a:rPr>
              <a:t>Claude.ai</a:t>
            </a:r>
          </a:p>
          <a:p>
            <a:pPr>
              <a:buNone/>
            </a:pPr>
            <a:r>
              <a:rPr lang="vi-VN" sz="1200" dirty="0">
                <a:solidFill>
                  <a:srgbClr val="7094BA"/>
                </a:solidFill>
              </a:rPr>
              <a:t>Phân tích tài liệu dài 200K từ</a:t>
            </a:r>
          </a:p>
        </p:txBody>
      </p:sp>
      <p:sp>
        <p:nvSpPr>
          <p:cNvPr id="82" name="Prod1_1"/>
          <p:cNvSpPr/>
          <p:nvPr/>
        </p:nvSpPr>
        <p:spPr>
          <a:xfrm>
            <a:off x="2926080" y="1979200"/>
            <a:ext cx="1874520" cy="5715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vi-VN" sz="1400" b="1" dirty="0">
                <a:solidFill>
                  <a:srgbClr val="FFFFFF"/>
                </a:solidFill>
              </a:rPr>
              <a:t>Claude Cowork</a:t>
            </a:r>
          </a:p>
          <a:p>
            <a:pPr>
              <a:buNone/>
            </a:pPr>
            <a:r>
              <a:rPr lang="vi-VN" sz="1200" dirty="0">
                <a:solidFill>
                  <a:srgbClr val="7094BA"/>
                </a:solidFill>
              </a:rPr>
              <a:t>Agent điều khiển máy tính</a:t>
            </a:r>
          </a:p>
        </p:txBody>
      </p:sp>
      <p:sp>
        <p:nvSpPr>
          <p:cNvPr id="132" name="Prod1_2"/>
          <p:cNvSpPr/>
          <p:nvPr/>
        </p:nvSpPr>
        <p:spPr>
          <a:xfrm>
            <a:off x="2926080" y="2665000"/>
            <a:ext cx="1874520" cy="5715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vi-VN" sz="1400" b="1" dirty="0">
                <a:solidFill>
                  <a:srgbClr val="FFFFFF"/>
                </a:solidFill>
              </a:rPr>
              <a:t>Claude for Excel</a:t>
            </a:r>
          </a:p>
          <a:p>
            <a:pPr>
              <a:buNone/>
            </a:pPr>
            <a:r>
              <a:rPr lang="vi-VN" sz="1200" dirty="0">
                <a:solidFill>
                  <a:srgbClr val="7094BA"/>
                </a:solidFill>
              </a:rPr>
              <a:t>Phân tích dữ liệu trong Excel</a:t>
            </a:r>
          </a:p>
        </p:txBody>
      </p:sp>
      <p:sp>
        <p:nvSpPr>
          <p:cNvPr id="182" name="Prod1_3"/>
          <p:cNvSpPr/>
          <p:nvPr/>
        </p:nvSpPr>
        <p:spPr>
          <a:xfrm>
            <a:off x="2926080" y="3350800"/>
            <a:ext cx="1874520" cy="5715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vi-VN" sz="1400" b="1" dirty="0">
                <a:solidFill>
                  <a:srgbClr val="FFFFFF"/>
                </a:solidFill>
              </a:rPr>
              <a:t>Claude for PPT</a:t>
            </a:r>
          </a:p>
          <a:p>
            <a:pPr>
              <a:buNone/>
            </a:pPr>
            <a:r>
              <a:rPr lang="vi-VN" sz="1200" dirty="0">
                <a:solidFill>
                  <a:srgbClr val="7094BA"/>
                </a:solidFill>
              </a:rPr>
              <a:t>Tạo slide (bạn đang dùng!)</a:t>
            </a:r>
          </a:p>
        </p:txBody>
      </p:sp>
      <p:sp>
        <p:nvSpPr>
          <p:cNvPr id="39" name="Rec1"/>
          <p:cNvSpPr/>
          <p:nvPr/>
        </p:nvSpPr>
        <p:spPr>
          <a:xfrm>
            <a:off x="2880360" y="4205240"/>
            <a:ext cx="1965960" cy="266700"/>
          </a:xfrm>
          <a:prstGeom prst="roundRect">
            <a:avLst>
              <a:gd name="adj" fmla="val 20000"/>
            </a:avLst>
          </a:prstGeom>
          <a:solidFill>
            <a:srgbClr val="92400E"/>
          </a:solidFill>
          <a:ln w="12700">
            <a:solidFill>
              <a:srgbClr val="F59E0B">
                <a:alpha val="60000"/>
              </a:srgbClr>
            </a:solidFill>
          </a:ln>
        </p:spPr>
        <p:txBody>
          <a:bodyPr lIns="91440" anchor="ctr"/>
          <a:lstStyle/>
          <a:p>
            <a:pPr algn="ctr">
              <a:buNone/>
            </a:pPr>
            <a:r>
              <a:rPr lang="vi-VN" sz="1200" b="1" dirty="0">
                <a:solidFill>
                  <a:srgbClr val="FFFFFF"/>
                </a:solidFill>
              </a:rPr>
              <a:t>Claude Pro $20/tháng</a:t>
            </a:r>
          </a:p>
        </p:txBody>
      </p:sp>
      <p:sp>
        <p:nvSpPr>
          <p:cNvPr id="40" name="VendorCard2"/>
          <p:cNvSpPr/>
          <p:nvPr/>
        </p:nvSpPr>
        <p:spPr>
          <a:xfrm>
            <a:off x="4983480" y="913400"/>
            <a:ext cx="2057400" cy="3657600"/>
          </a:xfrm>
          <a:prstGeom prst="rect">
            <a:avLst/>
          </a:prstGeom>
          <a:solidFill>
            <a:srgbClr val="13284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VendorHdr2"/>
          <p:cNvSpPr/>
          <p:nvPr/>
        </p:nvSpPr>
        <p:spPr>
          <a:xfrm>
            <a:off x="4983480" y="913400"/>
            <a:ext cx="2057400" cy="3429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lIns="91440" anchor="ctr"/>
          <a:lstStyle/>
          <a:p>
            <a:pPr>
              <a:buNone/>
            </a:pPr>
            <a:r>
              <a:rPr lang="vi-VN" sz="1800" b="1" dirty="0">
                <a:solidFill>
                  <a:srgbClr val="FFFFFF"/>
                </a:solidFill>
              </a:rPr>
              <a:t>🔴 Google</a:t>
            </a:r>
          </a:p>
        </p:txBody>
      </p:sp>
      <p:sp>
        <p:nvSpPr>
          <p:cNvPr id="42" name="Prod2_0"/>
          <p:cNvSpPr/>
          <p:nvPr/>
        </p:nvSpPr>
        <p:spPr>
          <a:xfrm>
            <a:off x="5074920" y="1293400"/>
            <a:ext cx="1874520" cy="5715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vi-VN" sz="1400" b="1" dirty="0">
                <a:solidFill>
                  <a:srgbClr val="FFFFFF"/>
                </a:solidFill>
              </a:rPr>
              <a:t>Gemini App</a:t>
            </a:r>
          </a:p>
          <a:p>
            <a:pPr>
              <a:buNone/>
            </a:pPr>
            <a:r>
              <a:rPr lang="vi-VN" sz="1200" dirty="0">
                <a:solidFill>
                  <a:srgbClr val="7094BA"/>
                </a:solidFill>
              </a:rPr>
              <a:t>Tích hợp Gmail, Drive, Calendar</a:t>
            </a:r>
          </a:p>
        </p:txBody>
      </p:sp>
      <p:sp>
        <p:nvSpPr>
          <p:cNvPr id="92" name="Prod2_1"/>
          <p:cNvSpPr/>
          <p:nvPr/>
        </p:nvSpPr>
        <p:spPr>
          <a:xfrm>
            <a:off x="5074920" y="1979200"/>
            <a:ext cx="1874520" cy="5715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vi-VN" sz="1400" b="1" dirty="0">
                <a:solidFill>
                  <a:srgbClr val="FFFFFF"/>
                </a:solidFill>
              </a:rPr>
              <a:t>NotebookLM</a:t>
            </a:r>
          </a:p>
          <a:p>
            <a:pPr>
              <a:buNone/>
            </a:pPr>
            <a:r>
              <a:rPr lang="vi-VN" sz="1200" dirty="0">
                <a:solidFill>
                  <a:srgbClr val="7094BA"/>
                </a:solidFill>
              </a:rPr>
              <a:t>Hỏi đáp từ tài liệu nội bộ</a:t>
            </a:r>
          </a:p>
        </p:txBody>
      </p:sp>
      <p:sp>
        <p:nvSpPr>
          <p:cNvPr id="142" name="Prod2_2"/>
          <p:cNvSpPr/>
          <p:nvPr/>
        </p:nvSpPr>
        <p:spPr>
          <a:xfrm>
            <a:off x="5074920" y="2665000"/>
            <a:ext cx="1874520" cy="5715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vi-VN" sz="1400" b="1" dirty="0">
                <a:solidFill>
                  <a:srgbClr val="FFFFFF"/>
                </a:solidFill>
              </a:rPr>
              <a:t>Gemini in Workspace</a:t>
            </a:r>
          </a:p>
          <a:p>
            <a:pPr>
              <a:buNone/>
            </a:pPr>
            <a:r>
              <a:rPr lang="vi-VN" sz="1200" dirty="0">
                <a:solidFill>
                  <a:srgbClr val="7094BA"/>
                </a:solidFill>
              </a:rPr>
              <a:t>AI trong Docs, Sheets, Slides</a:t>
            </a:r>
          </a:p>
        </p:txBody>
      </p:sp>
      <p:sp>
        <p:nvSpPr>
          <p:cNvPr id="192" name="Prod2_3"/>
          <p:cNvSpPr/>
          <p:nvPr/>
        </p:nvSpPr>
        <p:spPr>
          <a:xfrm>
            <a:off x="5074920" y="3350800"/>
            <a:ext cx="1874520" cy="5715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vi-VN" sz="1400" b="1" dirty="0">
                <a:solidFill>
                  <a:srgbClr val="FFFFFF"/>
                </a:solidFill>
              </a:rPr>
              <a:t>Deep Research</a:t>
            </a:r>
          </a:p>
          <a:p>
            <a:pPr>
              <a:buNone/>
            </a:pPr>
            <a:r>
              <a:rPr lang="vi-VN" sz="1200" dirty="0">
                <a:solidFill>
                  <a:srgbClr val="7094BA"/>
                </a:solidFill>
              </a:rPr>
              <a:t>Nghiên cứu thị trường miễn phí</a:t>
            </a:r>
          </a:p>
        </p:txBody>
      </p:sp>
      <p:sp>
        <p:nvSpPr>
          <p:cNvPr id="49" name="Rec2"/>
          <p:cNvSpPr/>
          <p:nvPr/>
        </p:nvSpPr>
        <p:spPr>
          <a:xfrm>
            <a:off x="5029200" y="4205240"/>
            <a:ext cx="1965960" cy="266700"/>
          </a:xfrm>
          <a:prstGeom prst="roundRect">
            <a:avLst>
              <a:gd name="adj" fmla="val 20000"/>
            </a:avLst>
          </a:prstGeom>
          <a:solidFill>
            <a:srgbClr val="B91C1C"/>
          </a:solidFill>
          <a:ln w="12700">
            <a:solidFill>
              <a:srgbClr val="EF4444">
                <a:alpha val="60000"/>
              </a:srgbClr>
            </a:solidFill>
          </a:ln>
        </p:spPr>
        <p:txBody>
          <a:bodyPr lIns="91440" anchor="ctr"/>
          <a:lstStyle/>
          <a:p>
            <a:pPr algn="ctr">
              <a:buNone/>
            </a:pPr>
            <a:r>
              <a:rPr lang="vi-VN" sz="1200" b="1" dirty="0">
                <a:solidFill>
                  <a:srgbClr val="FFFFFF"/>
                </a:solidFill>
              </a:rPr>
              <a:t>Google AI Pro $19.99/tháng</a:t>
            </a:r>
          </a:p>
        </p:txBody>
      </p:sp>
      <p:sp>
        <p:nvSpPr>
          <p:cNvPr id="50" name="VendorCard3"/>
          <p:cNvSpPr/>
          <p:nvPr/>
        </p:nvSpPr>
        <p:spPr>
          <a:xfrm>
            <a:off x="7132320" y="913400"/>
            <a:ext cx="2057400" cy="3657600"/>
          </a:xfrm>
          <a:prstGeom prst="rect">
            <a:avLst/>
          </a:prstGeom>
          <a:solidFill>
            <a:srgbClr val="13284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" name="VendorHdr3"/>
          <p:cNvSpPr/>
          <p:nvPr/>
        </p:nvSpPr>
        <p:spPr>
          <a:xfrm>
            <a:off x="7132320" y="913400"/>
            <a:ext cx="2057400" cy="3429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lIns="91440" anchor="ctr"/>
          <a:lstStyle/>
          <a:p>
            <a:pPr>
              <a:buNone/>
            </a:pPr>
            <a:r>
              <a:rPr lang="vi-VN" sz="1800" b="1" dirty="0">
                <a:solidFill>
                  <a:srgbClr val="FFFFFF"/>
                </a:solidFill>
              </a:rPr>
              <a:t>🟢 Microsoft</a:t>
            </a:r>
          </a:p>
        </p:txBody>
      </p:sp>
      <p:sp>
        <p:nvSpPr>
          <p:cNvPr id="52" name="Prod3_0"/>
          <p:cNvSpPr/>
          <p:nvPr/>
        </p:nvSpPr>
        <p:spPr>
          <a:xfrm>
            <a:off x="7223760" y="1293400"/>
            <a:ext cx="1874520" cy="5715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vi-VN" sz="1400" b="1" dirty="0">
                <a:solidFill>
                  <a:srgbClr val="FFFFFF"/>
                </a:solidFill>
              </a:rPr>
              <a:t>Copilot in Word</a:t>
            </a:r>
          </a:p>
          <a:p>
            <a:pPr>
              <a:buNone/>
            </a:pPr>
            <a:r>
              <a:rPr lang="vi-VN" sz="1200" dirty="0">
                <a:solidFill>
                  <a:srgbClr val="7094BA"/>
                </a:solidFill>
              </a:rPr>
              <a:t>Viết, tóm tắt hợp đồng</a:t>
            </a:r>
          </a:p>
        </p:txBody>
      </p:sp>
      <p:sp>
        <p:nvSpPr>
          <p:cNvPr id="102" name="Prod3_1"/>
          <p:cNvSpPr/>
          <p:nvPr/>
        </p:nvSpPr>
        <p:spPr>
          <a:xfrm>
            <a:off x="7223760" y="1979200"/>
            <a:ext cx="1874520" cy="5715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vi-VN" sz="1400" b="1" dirty="0">
                <a:solidFill>
                  <a:srgbClr val="FFFFFF"/>
                </a:solidFill>
              </a:rPr>
              <a:t>Copilot in Excel</a:t>
            </a:r>
          </a:p>
          <a:p>
            <a:pPr>
              <a:buNone/>
            </a:pPr>
            <a:r>
              <a:rPr lang="vi-VN" sz="1200" dirty="0">
                <a:solidFill>
                  <a:srgbClr val="7094BA"/>
                </a:solidFill>
              </a:rPr>
              <a:t>Phân tích KPI, dự báo</a:t>
            </a:r>
          </a:p>
        </p:txBody>
      </p:sp>
      <p:sp>
        <p:nvSpPr>
          <p:cNvPr id="152" name="Prod3_2"/>
          <p:cNvSpPr/>
          <p:nvPr/>
        </p:nvSpPr>
        <p:spPr>
          <a:xfrm>
            <a:off x="7223760" y="2665000"/>
            <a:ext cx="1874520" cy="5715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vi-VN" sz="1400" b="1" dirty="0">
                <a:solidFill>
                  <a:srgbClr val="FFFFFF"/>
                </a:solidFill>
              </a:rPr>
              <a:t>Copilot in Teams</a:t>
            </a:r>
          </a:p>
          <a:p>
            <a:pPr>
              <a:buNone/>
            </a:pPr>
            <a:r>
              <a:rPr lang="vi-VN" sz="1200" dirty="0">
                <a:solidFill>
                  <a:srgbClr val="7094BA"/>
                </a:solidFill>
              </a:rPr>
              <a:t>Ghi chú hỏp tự động</a:t>
            </a:r>
          </a:p>
        </p:txBody>
      </p:sp>
      <p:sp>
        <p:nvSpPr>
          <p:cNvPr id="202" name="Prod3_3"/>
          <p:cNvSpPr/>
          <p:nvPr/>
        </p:nvSpPr>
        <p:spPr>
          <a:xfrm>
            <a:off x="7223760" y="3350800"/>
            <a:ext cx="1874520" cy="5715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vi-VN" sz="1400" b="1" dirty="0">
                <a:solidFill>
                  <a:srgbClr val="FFFFFF"/>
                </a:solidFill>
              </a:rPr>
              <a:t>Copilot Studio</a:t>
            </a:r>
          </a:p>
          <a:p>
            <a:pPr>
              <a:buNone/>
            </a:pPr>
            <a:r>
              <a:rPr lang="vi-VN" sz="1200" dirty="0">
                <a:solidFill>
                  <a:srgbClr val="7094BA"/>
                </a:solidFill>
              </a:rPr>
              <a:t>Xây chatbot nội bộ</a:t>
            </a:r>
          </a:p>
        </p:txBody>
      </p:sp>
      <p:sp>
        <p:nvSpPr>
          <p:cNvPr id="59" name="Rec3"/>
          <p:cNvSpPr/>
          <p:nvPr/>
        </p:nvSpPr>
        <p:spPr>
          <a:xfrm>
            <a:off x="7178040" y="4205240"/>
            <a:ext cx="1965960" cy="266700"/>
          </a:xfrm>
          <a:prstGeom prst="roundRect">
            <a:avLst>
              <a:gd name="adj" fmla="val 20000"/>
            </a:avLst>
          </a:prstGeom>
          <a:solidFill>
            <a:srgbClr val="1E40AF"/>
          </a:solidFill>
          <a:ln w="12700">
            <a:solidFill>
              <a:srgbClr val="2563EB">
                <a:alpha val="60000"/>
              </a:srgbClr>
            </a:solidFill>
          </a:ln>
        </p:spPr>
        <p:txBody>
          <a:bodyPr lIns="91440" anchor="ctr"/>
          <a:lstStyle/>
          <a:p>
            <a:pPr algn="ctr">
              <a:buNone/>
            </a:pPr>
            <a:r>
              <a:rPr lang="vi-VN" sz="1200" b="1" dirty="0">
                <a:solidFill>
                  <a:srgbClr val="FFFFFF"/>
                </a:solidFill>
              </a:rPr>
              <a:t>M365 Copilot $30/user/tháng</a:t>
            </a:r>
          </a:p>
        </p:txBody>
      </p:sp>
    </p:spTree>
    <p:extLst>
      <p:ext uri="{BB962C8B-B14F-4D97-AF65-F5344CB8AC3E}">
        <p14:creationId xmlns:p14="http://schemas.microsoft.com/office/powerpoint/2010/main" val="1101835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eft"/>
          <p:cNvSpPr/>
          <p:nvPr/>
        </p:nvSpPr>
        <p:spPr>
          <a:xfrm>
            <a:off x="0" y="0"/>
            <a:ext cx="548640" cy="48768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Bot"/>
          <p:cNvSpPr/>
          <p:nvPr/>
        </p:nvSpPr>
        <p:spPr>
          <a:xfrm>
            <a:off x="0" y="4800600"/>
            <a:ext cx="9144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Title"/>
          <p:cNvSpPr/>
          <p:nvPr/>
        </p:nvSpPr>
        <p:spPr>
          <a:xfrm>
            <a:off x="685800" y="182880"/>
            <a:ext cx="7772400" cy="548640"/>
          </a:xfrm>
          <a:prstGeom prst="rect">
            <a:avLst/>
          </a:prstGeom>
          <a:noFill/>
        </p:spPr>
        <p:txBody>
          <a:bodyPr anchor="ctr"/>
          <a:lstStyle/>
          <a:p>
            <a:pPr>
              <a:buNone/>
            </a:pPr>
            <a:r>
              <a:rPr lang="vi-VN" sz="2800" b="1" dirty="0">
                <a:solidFill>
                  <a:srgbClr val="FFFFFF"/>
                </a:solidFill>
              </a:rPr>
              <a:t>Kỹ năng viết Prompt hiệu quả</a:t>
            </a:r>
          </a:p>
        </p:txBody>
      </p:sp>
      <p:sp>
        <p:nvSpPr>
          <p:cNvPr id="20" name="BadBg"/>
          <p:cNvSpPr/>
          <p:nvPr/>
        </p:nvSpPr>
        <p:spPr>
          <a:xfrm>
            <a:off x="685800" y="822960"/>
            <a:ext cx="3886200" cy="1143000"/>
          </a:xfrm>
          <a:prstGeom prst="rect">
            <a:avLst/>
          </a:prstGeom>
          <a:solidFill>
            <a:srgbClr val="2E0F0F"/>
          </a:solidFill>
          <a:ln w="19050">
            <a:solidFill>
              <a:srgbClr val="EF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BadLabel"/>
          <p:cNvSpPr/>
          <p:nvPr/>
        </p:nvSpPr>
        <p:spPr>
          <a:xfrm>
            <a:off x="685800" y="822960"/>
            <a:ext cx="3886200" cy="2667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lIns="91440" anchor="ctr"/>
          <a:lstStyle/>
          <a:p>
            <a:pPr>
              <a:buNone/>
            </a:pPr>
            <a:r>
              <a:rPr lang="vi-VN" sz="1600" b="1" dirty="0">
                <a:solidFill>
                  <a:srgbClr val="FFFFFF"/>
                </a:solidFill>
              </a:rPr>
              <a:t>❌ Prompt yếu</a:t>
            </a:r>
          </a:p>
        </p:txBody>
      </p:sp>
      <p:sp>
        <p:nvSpPr>
          <p:cNvPr id="22" name="BadText"/>
          <p:cNvSpPr/>
          <p:nvPr/>
        </p:nvSpPr>
        <p:spPr>
          <a:xfrm>
            <a:off x="731520" y="1128960"/>
            <a:ext cx="3794400" cy="74844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Char char="➤"/>
            </a:pPr>
            <a:r>
              <a:rPr lang="vi-VN" sz="1400" dirty="0">
                <a:solidFill>
                  <a:srgbClr val="FFAAAA"/>
                </a:solidFill>
              </a:rPr>
              <a:t>Viết email cho khách hàng</a:t>
            </a:r>
          </a:p>
          <a:p>
            <a:pPr>
              <a:spcBef>
                <a:spcPts val="200"/>
              </a:spcBef>
              <a:buChar char="➤"/>
            </a:pPr>
            <a:r>
              <a:rPr lang="vi-VN" sz="1400" dirty="0">
                <a:solidFill>
                  <a:srgbClr val="FFAAAA"/>
                </a:solidFill>
              </a:rPr>
              <a:t>Tóm tắt báo cáo này</a:t>
            </a:r>
          </a:p>
          <a:p>
            <a:pPr>
              <a:spcBef>
                <a:spcPts val="300"/>
              </a:spcBef>
              <a:buNone/>
            </a:pPr>
            <a:r>
              <a:rPr lang="vi-VN" sz="1200" i="1" dirty="0">
                <a:solidFill>
                  <a:srgbClr val="CC6666"/>
                </a:solidFill>
              </a:rPr>
              <a:t>→ Thiếu bối cảnh, kết quả chung chung</a:t>
            </a:r>
          </a:p>
        </p:txBody>
      </p:sp>
      <p:sp>
        <p:nvSpPr>
          <p:cNvPr id="25" name="GoodBg"/>
          <p:cNvSpPr/>
          <p:nvPr/>
        </p:nvSpPr>
        <p:spPr>
          <a:xfrm>
            <a:off x="685800" y="2104200"/>
            <a:ext cx="3886200" cy="1828800"/>
          </a:xfrm>
          <a:prstGeom prst="rect">
            <a:avLst/>
          </a:prstGeom>
          <a:solidFill>
            <a:srgbClr val="0D2E1F"/>
          </a:solidFill>
          <a:ln w="19050">
            <a:solidFill>
              <a:srgbClr val="10B98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GoodLabel"/>
          <p:cNvSpPr/>
          <p:nvPr/>
        </p:nvSpPr>
        <p:spPr>
          <a:xfrm>
            <a:off x="685800" y="2104200"/>
            <a:ext cx="3886200" cy="2667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lIns="91440" anchor="ctr"/>
          <a:lstStyle/>
          <a:p>
            <a:pPr>
              <a:buNone/>
            </a:pPr>
            <a:r>
              <a:rPr lang="vi-VN" sz="1600" b="1" dirty="0">
                <a:solidFill>
                  <a:srgbClr val="FFFFFF"/>
                </a:solidFill>
              </a:rPr>
              <a:t>✅ Prompt tốt</a:t>
            </a:r>
          </a:p>
        </p:txBody>
      </p:sp>
      <p:sp>
        <p:nvSpPr>
          <p:cNvPr id="27" name="GoodText"/>
          <p:cNvSpPr/>
          <p:nvPr/>
        </p:nvSpPr>
        <p:spPr>
          <a:xfrm>
            <a:off x="731520" y="2419200"/>
            <a:ext cx="3794400" cy="144828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vi-VN" sz="1300" dirty="0">
                <a:solidFill>
                  <a:srgbClr val="AAFFCC"/>
                </a:solidFill>
              </a:rPr>
              <a:t>"Viết email xin lỗi khách hàng tên Minh về đơn hàng #1234 bị giao trễ 2 ngày. Đề xuất hoàn tiền 20% đơn hàng tiếp theo. Giọng điệu chân thành, chuyên nghiệp. Dộ dài 100–150 từ."</a:t>
            </a:r>
          </a:p>
          <a:p>
            <a:pPr>
              <a:spcBef>
                <a:spcPts val="400"/>
              </a:spcBef>
              <a:buNone/>
            </a:pPr>
            <a:r>
              <a:rPr lang="vi-VN" sz="1200" i="1" dirty="0">
                <a:solidFill>
                  <a:srgbClr val="66CC88"/>
                </a:solidFill>
              </a:rPr>
              <a:t>→ Rõ bối cảnh, đối tượng, giọng điệu, giới hạn</a:t>
            </a:r>
          </a:p>
        </p:txBody>
      </p:sp>
      <p:sp>
        <p:nvSpPr>
          <p:cNvPr id="50" name="Letter0"/>
          <p:cNvSpPr/>
          <p:nvPr/>
        </p:nvSpPr>
        <p:spPr>
          <a:xfrm>
            <a:off x="4800600" y="822960"/>
            <a:ext cx="320040" cy="84525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51" name="CscfContent0"/>
          <p:cNvSpPr/>
          <p:nvPr/>
        </p:nvSpPr>
        <p:spPr>
          <a:xfrm>
            <a:off x="5166360" y="861060"/>
            <a:ext cx="3291840" cy="769056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vi-VN" sz="1600" b="1" dirty="0">
                <a:solidFill>
                  <a:srgbClr val="2563EB"/>
                </a:solidFill>
              </a:rPr>
              <a:t>Context — </a:t>
            </a:r>
            <a:r>
              <a:rPr lang="vi-VN" sz="1600" dirty="0">
                <a:solidFill>
                  <a:srgbClr val="FFFFFF"/>
                </a:solidFill>
              </a:rPr>
              <a:t>Bối cảnh: Bạn là ai, đang trong tình huống nào?</a:t>
            </a:r>
          </a:p>
          <a:p>
            <a:pPr>
              <a:spcBef>
                <a:spcPts val="150"/>
              </a:spcBef>
              <a:buNone/>
            </a:pPr>
            <a:r>
              <a:rPr lang="vi-VN" sz="1300" i="1" dirty="0">
                <a:solidFill>
                  <a:srgbClr val="7094BA"/>
                </a:solidFill>
              </a:rPr>
              <a:t>"Tôi là quản lý chuỗi siêu thị thực phẩm tại VN"</a:t>
            </a:r>
          </a:p>
        </p:txBody>
      </p:sp>
      <p:sp>
        <p:nvSpPr>
          <p:cNvPr id="55" name="Letter1"/>
          <p:cNvSpPr/>
          <p:nvPr/>
        </p:nvSpPr>
        <p:spPr>
          <a:xfrm>
            <a:off x="4800600" y="1713936"/>
            <a:ext cx="320040" cy="84525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56" name="CscfContent1"/>
          <p:cNvSpPr/>
          <p:nvPr/>
        </p:nvSpPr>
        <p:spPr>
          <a:xfrm>
            <a:off x="5166360" y="1752036"/>
            <a:ext cx="3291840" cy="769056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vi-VN" sz="1600" b="1" dirty="0">
                <a:solidFill>
                  <a:srgbClr val="10B981"/>
                </a:solidFill>
              </a:rPr>
              <a:t>Specifics — </a:t>
            </a:r>
            <a:r>
              <a:rPr lang="vi-VN" sz="1600" dirty="0">
                <a:solidFill>
                  <a:srgbClr val="FFFFFF"/>
                </a:solidFill>
              </a:rPr>
              <a:t>Chi tiết: Đối tượng, tone, độ dài, format</a:t>
            </a:r>
          </a:p>
          <a:p>
            <a:pPr>
              <a:spcBef>
                <a:spcPts val="150"/>
              </a:spcBef>
              <a:buNone/>
            </a:pPr>
            <a:r>
              <a:rPr lang="vi-VN" sz="1300" i="1" dirty="0">
                <a:solidFill>
                  <a:srgbClr val="7094BA"/>
                </a:solidFill>
              </a:rPr>
              <a:t>"Viết cho KH 30-45 tuổi, giọng thân thiện, 150 từ"</a:t>
            </a:r>
          </a:p>
        </p:txBody>
      </p:sp>
      <p:sp>
        <p:nvSpPr>
          <p:cNvPr id="60" name="Letter2"/>
          <p:cNvSpPr/>
          <p:nvPr/>
        </p:nvSpPr>
        <p:spPr>
          <a:xfrm>
            <a:off x="4800600" y="2604912"/>
            <a:ext cx="320040" cy="84525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61" name="CscfContent2"/>
          <p:cNvSpPr/>
          <p:nvPr/>
        </p:nvSpPr>
        <p:spPr>
          <a:xfrm>
            <a:off x="5166360" y="2643012"/>
            <a:ext cx="3291840" cy="769056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vi-VN" sz="1600" b="1" dirty="0">
                <a:solidFill>
                  <a:srgbClr val="F59E0B"/>
                </a:solidFill>
              </a:rPr>
              <a:t>Constraints — </a:t>
            </a:r>
            <a:r>
              <a:rPr lang="vi-VN" sz="1600" dirty="0">
                <a:solidFill>
                  <a:srgbClr val="FFFFFF"/>
                </a:solidFill>
              </a:rPr>
              <a:t>Ràng buộc: AI không được làm gì?</a:t>
            </a:r>
          </a:p>
          <a:p>
            <a:pPr>
              <a:spcBef>
                <a:spcPts val="150"/>
              </a:spcBef>
              <a:buNone/>
            </a:pPr>
            <a:r>
              <a:rPr lang="vi-VN" sz="1300" i="1" dirty="0">
                <a:solidFill>
                  <a:srgbClr val="7094BA"/>
                </a:solidFill>
              </a:rPr>
              <a:t>"Không đề cập giảm giá, không dùng từ kỹ thuật"</a:t>
            </a:r>
          </a:p>
        </p:txBody>
      </p:sp>
      <p:sp>
        <p:nvSpPr>
          <p:cNvPr id="65" name="Letter3"/>
          <p:cNvSpPr/>
          <p:nvPr/>
        </p:nvSpPr>
        <p:spPr>
          <a:xfrm>
            <a:off x="4800600" y="3495888"/>
            <a:ext cx="320040" cy="84525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66" name="CscfContent3"/>
          <p:cNvSpPr/>
          <p:nvPr/>
        </p:nvSpPr>
        <p:spPr>
          <a:xfrm>
            <a:off x="5166360" y="3533988"/>
            <a:ext cx="3291840" cy="769056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vi-VN" sz="1600" b="1" dirty="0">
                <a:solidFill>
                  <a:srgbClr val="8B5CF6"/>
                </a:solidFill>
              </a:rPr>
              <a:t>Format — </a:t>
            </a:r>
            <a:r>
              <a:rPr lang="vi-VN" sz="1600" dirty="0">
                <a:solidFill>
                  <a:srgbClr val="FFFFFF"/>
                </a:solidFill>
              </a:rPr>
              <a:t>Dịnh dạng: Kết quả muốn ở dạng gì?</a:t>
            </a:r>
          </a:p>
          <a:p>
            <a:pPr>
              <a:spcBef>
                <a:spcPts val="150"/>
              </a:spcBef>
              <a:buNone/>
            </a:pPr>
            <a:r>
              <a:rPr lang="vi-VN" sz="1300" i="1" dirty="0">
                <a:solidFill>
                  <a:srgbClr val="7094BA"/>
                </a:solidFill>
              </a:rPr>
              <a:t>"Bullet points, 5 điểm, tiêu đề in đậm"</a:t>
            </a:r>
          </a:p>
        </p:txBody>
      </p:sp>
      <p:sp>
        <p:nvSpPr>
          <p:cNvPr id="70" name="CSCFHeader"/>
          <p:cNvSpPr/>
          <p:nvPr/>
        </p:nvSpPr>
        <p:spPr>
          <a:xfrm>
            <a:off x="4800600" y="640080"/>
            <a:ext cx="3657600" cy="274320"/>
          </a:xfrm>
          <a:prstGeom prst="rect">
            <a:avLst/>
          </a:prstGeom>
          <a:noFill/>
        </p:spPr>
        <p:txBody>
          <a:bodyPr anchor="ctr"/>
          <a:lstStyle/>
          <a:p>
            <a:pPr>
              <a:buNone/>
            </a:pPr>
            <a:r>
              <a:rPr lang="vi-VN" sz="1800" b="1" dirty="0">
                <a:solidFill>
                  <a:srgbClr val="FFFFFF"/>
                </a:solidFill>
              </a:rPr>
              <a:t>Công thức CSCF</a:t>
            </a:r>
          </a:p>
        </p:txBody>
      </p:sp>
      <p:sp>
        <p:nvSpPr>
          <p:cNvPr id="75" name="VDivider"/>
          <p:cNvSpPr/>
          <p:nvPr/>
        </p:nvSpPr>
        <p:spPr>
          <a:xfrm>
            <a:off x="4686840" y="640080"/>
            <a:ext cx="38100" cy="39819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51142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eft"/>
          <p:cNvSpPr/>
          <p:nvPr/>
        </p:nvSpPr>
        <p:spPr>
          <a:xfrm>
            <a:off x="0" y="0"/>
            <a:ext cx="548640" cy="48768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Bot"/>
          <p:cNvSpPr/>
          <p:nvPr/>
        </p:nvSpPr>
        <p:spPr>
          <a:xfrm>
            <a:off x="0" y="4800600"/>
            <a:ext cx="9144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Title"/>
          <p:cNvSpPr/>
          <p:nvPr/>
        </p:nvSpPr>
        <p:spPr>
          <a:xfrm>
            <a:off x="685800" y="152400"/>
            <a:ext cx="7772400" cy="548640"/>
          </a:xfrm>
          <a:prstGeom prst="rect">
            <a:avLst/>
          </a:prstGeom>
          <a:noFill/>
        </p:spPr>
        <p:txBody>
          <a:bodyPr anchor="ctr"/>
          <a:lstStyle/>
          <a:p>
            <a:pPr>
              <a:buNone/>
            </a:pPr>
            <a:r>
              <a:rPr lang="vi-VN" sz="2800" b="1" dirty="0">
                <a:solidFill>
                  <a:srgbClr val="FFFFFF"/>
                </a:solidFill>
              </a:rPr>
              <a:t>Lộ trình chuẩn bị cho Tương lai</a:t>
            </a:r>
          </a:p>
        </p:txBody>
      </p:sp>
      <p:sp>
        <p:nvSpPr>
          <p:cNvPr id="20" name="TCard0"/>
          <p:cNvSpPr/>
          <p:nvPr/>
        </p:nvSpPr>
        <p:spPr>
          <a:xfrm>
            <a:off x="685800" y="820000"/>
            <a:ext cx="1981200" cy="1371600"/>
          </a:xfrm>
          <a:prstGeom prst="rect">
            <a:avLst/>
          </a:prstGeom>
          <a:solidFill>
            <a:srgbClr val="13284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TTop0"/>
          <p:cNvSpPr/>
          <p:nvPr/>
        </p:nvSpPr>
        <p:spPr>
          <a:xfrm>
            <a:off x="685800" y="820000"/>
            <a:ext cx="19812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TTime0"/>
          <p:cNvSpPr/>
          <p:nvPr/>
        </p:nvSpPr>
        <p:spPr>
          <a:xfrm>
            <a:off x="777240" y="957160"/>
            <a:ext cx="1798320" cy="320040"/>
          </a:xfrm>
          <a:prstGeom prst="rect">
            <a:avLst/>
          </a:prstGeom>
          <a:noFill/>
        </p:spPr>
        <p:txBody>
          <a:bodyPr anchor="t"/>
          <a:lstStyle/>
          <a:p>
            <a:pPr>
              <a:buNone/>
            </a:pPr>
            <a:r>
              <a:rPr lang="vi-VN" sz="1800" b="1" dirty="0">
                <a:solidFill>
                  <a:srgbClr val="2563EB"/>
                </a:solidFill>
              </a:rPr>
              <a:t>Ngay bây giờ</a:t>
            </a:r>
          </a:p>
        </p:txBody>
      </p:sp>
      <p:sp>
        <p:nvSpPr>
          <p:cNvPr id="23" name="TDesc0"/>
          <p:cNvSpPr/>
          <p:nvPr/>
        </p:nvSpPr>
        <p:spPr>
          <a:xfrm>
            <a:off x="777240" y="1322920"/>
            <a:ext cx="1798320" cy="8000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vi-VN" sz="1400" dirty="0">
                <a:solidFill>
                  <a:srgbClr val="C5D3E8"/>
                </a:solidFill>
              </a:rPr>
              <a:t>Xây dựng AI literacy cho toàn bộ team — hiểu AI là gì, dùng được việc gì</a:t>
            </a:r>
          </a:p>
        </p:txBody>
      </p:sp>
      <p:sp>
        <p:nvSpPr>
          <p:cNvPr id="25" name="TCard1"/>
          <p:cNvSpPr/>
          <p:nvPr/>
        </p:nvSpPr>
        <p:spPr>
          <a:xfrm>
            <a:off x="2743200" y="820000"/>
            <a:ext cx="1981200" cy="1371600"/>
          </a:xfrm>
          <a:prstGeom prst="rect">
            <a:avLst/>
          </a:prstGeom>
          <a:solidFill>
            <a:srgbClr val="13284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TTop1"/>
          <p:cNvSpPr/>
          <p:nvPr/>
        </p:nvSpPr>
        <p:spPr>
          <a:xfrm>
            <a:off x="2743200" y="820000"/>
            <a:ext cx="1981200" cy="76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TTime1"/>
          <p:cNvSpPr/>
          <p:nvPr/>
        </p:nvSpPr>
        <p:spPr>
          <a:xfrm>
            <a:off x="2834640" y="957160"/>
            <a:ext cx="1798320" cy="320040"/>
          </a:xfrm>
          <a:prstGeom prst="rect">
            <a:avLst/>
          </a:prstGeom>
          <a:noFill/>
        </p:spPr>
        <p:txBody>
          <a:bodyPr anchor="t"/>
          <a:lstStyle/>
          <a:p>
            <a:pPr>
              <a:buNone/>
            </a:pPr>
            <a:r>
              <a:rPr lang="vi-VN" sz="1800" b="1" dirty="0">
                <a:solidFill>
                  <a:srgbClr val="10B981"/>
                </a:solidFill>
              </a:rPr>
              <a:t>6 tháng</a:t>
            </a:r>
          </a:p>
        </p:txBody>
      </p:sp>
      <p:sp>
        <p:nvSpPr>
          <p:cNvPr id="28" name="TDesc1"/>
          <p:cNvSpPr/>
          <p:nvPr/>
        </p:nvSpPr>
        <p:spPr>
          <a:xfrm>
            <a:off x="2834640" y="1322920"/>
            <a:ext cx="1798320" cy="8000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vi-VN" sz="1400" dirty="0">
                <a:solidFill>
                  <a:srgbClr val="C5D3E8"/>
                </a:solidFill>
              </a:rPr>
              <a:t>Chuẩn hóa 3–5 quy trình có AI tham gia, đo ROI cụ thể</a:t>
            </a:r>
          </a:p>
        </p:txBody>
      </p:sp>
      <p:sp>
        <p:nvSpPr>
          <p:cNvPr id="30" name="TCard2"/>
          <p:cNvSpPr/>
          <p:nvPr/>
        </p:nvSpPr>
        <p:spPr>
          <a:xfrm>
            <a:off x="4800600" y="820000"/>
            <a:ext cx="1981200" cy="1371600"/>
          </a:xfrm>
          <a:prstGeom prst="rect">
            <a:avLst/>
          </a:prstGeom>
          <a:solidFill>
            <a:srgbClr val="13284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op2"/>
          <p:cNvSpPr/>
          <p:nvPr/>
        </p:nvSpPr>
        <p:spPr>
          <a:xfrm>
            <a:off x="4800600" y="820000"/>
            <a:ext cx="1981200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TTime2"/>
          <p:cNvSpPr/>
          <p:nvPr/>
        </p:nvSpPr>
        <p:spPr>
          <a:xfrm>
            <a:off x="4892040" y="957160"/>
            <a:ext cx="1798320" cy="320040"/>
          </a:xfrm>
          <a:prstGeom prst="rect">
            <a:avLst/>
          </a:prstGeom>
          <a:noFill/>
        </p:spPr>
        <p:txBody>
          <a:bodyPr anchor="t"/>
          <a:lstStyle/>
          <a:p>
            <a:pPr>
              <a:buNone/>
            </a:pPr>
            <a:r>
              <a:rPr lang="vi-VN" sz="1800" b="1" dirty="0">
                <a:solidFill>
                  <a:srgbClr val="F59E0B"/>
                </a:solidFill>
              </a:rPr>
              <a:t>1–2 năm</a:t>
            </a:r>
          </a:p>
        </p:txBody>
      </p:sp>
      <p:sp>
        <p:nvSpPr>
          <p:cNvPr id="33" name="TDesc2"/>
          <p:cNvSpPr/>
          <p:nvPr/>
        </p:nvSpPr>
        <p:spPr>
          <a:xfrm>
            <a:off x="4892040" y="1322920"/>
            <a:ext cx="1798320" cy="8000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vi-VN" sz="1400" dirty="0">
                <a:solidFill>
                  <a:srgbClr val="C5D3E8"/>
                </a:solidFill>
              </a:rPr>
              <a:t>Tích hợp AI vào hệ thống quản lý (ERP, CRM, POS)</a:t>
            </a:r>
          </a:p>
        </p:txBody>
      </p:sp>
      <p:sp>
        <p:nvSpPr>
          <p:cNvPr id="35" name="TCard3"/>
          <p:cNvSpPr/>
          <p:nvPr/>
        </p:nvSpPr>
        <p:spPr>
          <a:xfrm>
            <a:off x="6858000" y="820000"/>
            <a:ext cx="1981200" cy="1371600"/>
          </a:xfrm>
          <a:prstGeom prst="rect">
            <a:avLst/>
          </a:prstGeom>
          <a:solidFill>
            <a:srgbClr val="13284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6" name="TTop3"/>
          <p:cNvSpPr/>
          <p:nvPr/>
        </p:nvSpPr>
        <p:spPr>
          <a:xfrm>
            <a:off x="6858000" y="820000"/>
            <a:ext cx="1981200" cy="76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7" name="TTime3"/>
          <p:cNvSpPr/>
          <p:nvPr/>
        </p:nvSpPr>
        <p:spPr>
          <a:xfrm>
            <a:off x="6949440" y="957160"/>
            <a:ext cx="1798320" cy="320040"/>
          </a:xfrm>
          <a:prstGeom prst="rect">
            <a:avLst/>
          </a:prstGeom>
          <a:noFill/>
        </p:spPr>
        <p:txBody>
          <a:bodyPr anchor="t"/>
          <a:lstStyle/>
          <a:p>
            <a:pPr>
              <a:buNone/>
            </a:pPr>
            <a:r>
              <a:rPr lang="vi-VN" sz="1800" b="1" dirty="0">
                <a:solidFill>
                  <a:srgbClr val="8B5CF6"/>
                </a:solidFill>
              </a:rPr>
              <a:t>5–10 năm</a:t>
            </a:r>
          </a:p>
        </p:txBody>
      </p:sp>
      <p:sp>
        <p:nvSpPr>
          <p:cNvPr id="38" name="TDesc3"/>
          <p:cNvSpPr/>
          <p:nvPr/>
        </p:nvSpPr>
        <p:spPr>
          <a:xfrm>
            <a:off x="6949440" y="1322920"/>
            <a:ext cx="1798320" cy="8000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vi-VN" sz="1400" dirty="0">
                <a:solidFill>
                  <a:srgbClr val="C5D3E8"/>
                </a:solidFill>
              </a:rPr>
              <a:t>AI là tiêu chuẩn — DN không có AI sẽ mất lợi thế cạnh tranh</a:t>
            </a:r>
          </a:p>
        </p:txBody>
      </p:sp>
      <p:sp>
        <p:nvSpPr>
          <p:cNvPr id="60" name="QuoteBg"/>
          <p:cNvSpPr/>
          <p:nvPr/>
        </p:nvSpPr>
        <p:spPr>
          <a:xfrm>
            <a:off x="685800" y="2438400"/>
            <a:ext cx="7772400" cy="823080"/>
          </a:xfrm>
          <a:prstGeom prst="rect">
            <a:avLst/>
          </a:prstGeom>
          <a:solidFill>
            <a:srgbClr val="0A1929"/>
          </a:solidFill>
          <a:ln w="25400">
            <a:solidFill>
              <a:srgbClr val="2563EB"/>
            </a:solidFill>
          </a:ln>
        </p:spPr>
        <p:txBody>
          <a:bodyPr lIns="182880" anchor="ctr"/>
          <a:lstStyle/>
          <a:p>
            <a:pPr algn="ctr">
              <a:buNone/>
            </a:pPr>
            <a:r>
              <a:rPr lang="vi-VN" sz="2200" b="1" i="1" dirty="0">
                <a:solidFill>
                  <a:srgbClr val="FFFFFF"/>
                </a:solidFill>
              </a:rPr>
              <a:t>"AI không thay thế con người —</a:t>
            </a:r>
          </a:p>
          <a:p>
            <a:pPr algn="ctr">
              <a:buNone/>
            </a:pPr>
            <a:r>
              <a:rPr lang="vi-VN" sz="2200" b="1" i="1" dirty="0">
                <a:solidFill>
                  <a:srgbClr val="7CB9FF"/>
                </a:solidFill>
              </a:rPr>
              <a:t>AI thay thế những người không biết dùng AI."</a:t>
            </a:r>
          </a:p>
        </p:txBody>
      </p:sp>
      <p:sp>
        <p:nvSpPr>
          <p:cNvPr id="70" name="Stat0"/>
          <p:cNvSpPr/>
          <p:nvPr/>
        </p:nvSpPr>
        <p:spPr>
          <a:xfrm>
            <a:off x="685800" y="3429600"/>
            <a:ext cx="2438400" cy="1143000"/>
          </a:xfrm>
          <a:prstGeom prst="rect">
            <a:avLst/>
          </a:prstGeom>
          <a:solidFill>
            <a:srgbClr val="0A1929"/>
          </a:solidFill>
          <a:ln w="12700">
            <a:solidFill>
              <a:srgbClr val="10B981">
                <a:alpha val="40000"/>
              </a:srgbClr>
            </a:solidFill>
          </a:ln>
        </p:spPr>
        <p:txBody>
          <a:bodyPr lIns="91440" anchor="ctr"/>
          <a:lstStyle/>
          <a:p>
            <a:pPr algn="ctr">
              <a:buNone/>
            </a:pPr>
            <a:r>
              <a:rPr lang="vi-VN" sz="4000" b="1" dirty="0">
                <a:solidFill>
                  <a:srgbClr val="10B981"/>
                </a:solidFill>
              </a:rPr>
              <a:t>170M</a:t>
            </a:r>
          </a:p>
          <a:p>
            <a:pPr algn="ctr">
              <a:buNone/>
            </a:pPr>
            <a:r>
              <a:rPr lang="vi-VN" sz="1300" dirty="0">
                <a:solidFill>
                  <a:srgbClr val="7094BA"/>
                </a:solidFill>
              </a:rPr>
              <a:t>việc làm mới tạo ra vào 2030</a:t>
            </a:r>
          </a:p>
        </p:txBody>
      </p:sp>
      <p:sp>
        <p:nvSpPr>
          <p:cNvPr id="71" name="Stat1"/>
          <p:cNvSpPr/>
          <p:nvPr/>
        </p:nvSpPr>
        <p:spPr>
          <a:xfrm>
            <a:off x="3276600" y="3429600"/>
            <a:ext cx="2438400" cy="1143000"/>
          </a:xfrm>
          <a:prstGeom prst="rect">
            <a:avLst/>
          </a:prstGeom>
          <a:solidFill>
            <a:srgbClr val="0A1929"/>
          </a:solidFill>
          <a:ln w="12700">
            <a:solidFill>
              <a:srgbClr val="F59E0B">
                <a:alpha val="40000"/>
              </a:srgbClr>
            </a:solidFill>
          </a:ln>
        </p:spPr>
        <p:txBody>
          <a:bodyPr lIns="91440" anchor="ctr"/>
          <a:lstStyle/>
          <a:p>
            <a:pPr algn="ctr">
              <a:buNone/>
            </a:pPr>
            <a:r>
              <a:rPr lang="vi-VN" sz="4000" b="1" dirty="0">
                <a:solidFill>
                  <a:srgbClr val="F59E0B"/>
                </a:solidFill>
              </a:rPr>
              <a:t>39%</a:t>
            </a:r>
          </a:p>
          <a:p>
            <a:pPr algn="ctr">
              <a:buNone/>
            </a:pPr>
            <a:r>
              <a:rPr lang="vi-VN" sz="1300" dirty="0">
                <a:solidFill>
                  <a:srgbClr val="7094BA"/>
                </a:solidFill>
              </a:rPr>
              <a:t>kỹ năng cốt lõi sẽ thay đổi</a:t>
            </a:r>
          </a:p>
        </p:txBody>
      </p:sp>
      <p:sp>
        <p:nvSpPr>
          <p:cNvPr id="72" name="Stat2"/>
          <p:cNvSpPr/>
          <p:nvPr/>
        </p:nvSpPr>
        <p:spPr>
          <a:xfrm>
            <a:off x="5867400" y="3429600"/>
            <a:ext cx="2438400" cy="1143000"/>
          </a:xfrm>
          <a:prstGeom prst="rect">
            <a:avLst/>
          </a:prstGeom>
          <a:solidFill>
            <a:srgbClr val="0A1929"/>
          </a:solidFill>
          <a:ln w="12700">
            <a:solidFill>
              <a:srgbClr val="EF4444">
                <a:alpha val="40000"/>
              </a:srgbClr>
            </a:solidFill>
          </a:ln>
        </p:spPr>
        <p:txBody>
          <a:bodyPr lIns="91440" anchor="ctr"/>
          <a:lstStyle/>
          <a:p>
            <a:pPr algn="ctr">
              <a:buNone/>
            </a:pPr>
            <a:r>
              <a:rPr lang="vi-VN" sz="4000" b="1" dirty="0">
                <a:solidFill>
                  <a:srgbClr val="EF4444"/>
                </a:solidFill>
              </a:rPr>
              <a:t>55%</a:t>
            </a:r>
          </a:p>
          <a:p>
            <a:pPr algn="ctr">
              <a:buNone/>
            </a:pPr>
            <a:r>
              <a:rPr lang="vi-VN" sz="1300" dirty="0">
                <a:solidFill>
                  <a:srgbClr val="7094BA"/>
                </a:solidFill>
              </a:rPr>
              <a:t>việc làm chịu tác động từ AI</a:t>
            </a:r>
          </a:p>
        </p:txBody>
      </p:sp>
      <p:sp>
        <p:nvSpPr>
          <p:cNvPr id="80" name="Source"/>
          <p:cNvSpPr/>
          <p:nvPr/>
        </p:nvSpPr>
        <p:spPr>
          <a:xfrm>
            <a:off x="685800" y="4572000"/>
            <a:ext cx="7772400" cy="190500"/>
          </a:xfrm>
          <a:prstGeom prst="rect">
            <a:avLst/>
          </a:prstGeom>
          <a:noFill/>
        </p:spPr>
        <p:txBody>
          <a:bodyPr anchor="ctr"/>
          <a:lstStyle/>
          <a:p>
            <a:pPr algn="ctr">
              <a:buNone/>
            </a:pPr>
            <a:r>
              <a:rPr lang="vi-VN" sz="1200" i="1" dirty="0">
                <a:solidFill>
                  <a:srgbClr val="4A6080"/>
                </a:solidFill>
              </a:rPr>
              <a:t>Nguồn: World Economic Forum &amp; McKinsey Global Institute, 2025</a:t>
            </a:r>
          </a:p>
        </p:txBody>
      </p:sp>
    </p:spTree>
    <p:extLst>
      <p:ext uri="{BB962C8B-B14F-4D97-AF65-F5344CB8AC3E}">
        <p14:creationId xmlns:p14="http://schemas.microsoft.com/office/powerpoint/2010/main" val="2465379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8539946656]">
  <a:themeElements>
    <a:clrScheme name="Office">
      <a:dk1>
        <a:srgbClr val="0F1E35"/>
      </a:dk1>
      <a:lt1>
        <a:srgbClr val="F8F9FB"/>
      </a:lt1>
      <a:dk2>
        <a:srgbClr val="1B3A6B"/>
      </a:dk2>
      <a:lt2>
        <a:srgbClr val="E8EDF5"/>
      </a:lt2>
      <a:accent1>
        <a:srgbClr val="2563EB"/>
      </a:accent1>
      <a:accent2>
        <a:srgbClr val="10B981"/>
      </a:accent2>
      <a:accent3>
        <a:srgbClr val="F59E0B"/>
      </a:accent3>
      <a:accent4>
        <a:srgbClr val="EF4444"/>
      </a:accent4>
      <a:accent5>
        <a:srgbClr val="8B5CF6"/>
      </a:accent5>
      <a:accent6>
        <a:srgbClr val="06B6D4"/>
      </a:accent6>
      <a:hlink>
        <a:srgbClr val="0563C1"/>
      </a:hlink>
      <a:folHlink>
        <a:srgbClr val="954F72"/>
      </a:folHlink>
    </a:clrScheme>
    <a:fontScheme name="Office">
      <a:majorFont>
        <a:latin typeface="Calibri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a37dc51-c7b4-4ef1-bcc5-30382bde92ef}">
  <we:reference id="WA200010001" version="1.0.0.1" store="en-US" storeType="OMEX"/>
  <we:alternateReferences/>
  <we:properties>
    <we:property name="Microsoft.Office.CampaignId" value="&quot;none&quot;"/>
    <we:property name="claude.fileId" value="&quot;7b7a6549-fc22-42ff-92aa-833475307977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Props1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1556</TotalTime>
  <Words>917</Words>
  <Application>Microsoft Macintosh PowerPoint</Application>
  <PresentationFormat>Widescreen</PresentationFormat>
  <Paragraphs>136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 [1778539946656]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Văn Đức Tài</cp:lastModifiedBy>
  <cp:revision>4</cp:revision>
  <dcterms:created xsi:type="dcterms:W3CDTF">2018-06-07T21:39:02Z</dcterms:created>
  <dcterms:modified xsi:type="dcterms:W3CDTF">2026-05-11T23:28:22Z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